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c2996a286b4a3e" /><Relationship Type="http://schemas.openxmlformats.org/officeDocument/2006/relationships/extended-properties" Target="/docProps/app.xml" Id="R4b53124d9e5149fe" /><Relationship Type="http://schemas.openxmlformats.org/officeDocument/2006/relationships/officeDocument" Target="/ppt/presentation.xml" Id="R4242d5b18ab846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fce94d7f445a4"/>
  </p:sldMasterIdLst>
  <p:notesMasterIdLst>
    <p:notesMasterId xmlns:r="http://schemas.openxmlformats.org/officeDocument/2006/relationships" r:id="Rbc65bfc22b2a4ef8"/>
  </p:notesMasterIdLst>
  <p:sldIdLst>
    <p:sldId xmlns:r="http://schemas.openxmlformats.org/officeDocument/2006/relationships" id="256" r:id="R416ac9063ceb4849"/>
    <p:sldId xmlns:r="http://schemas.openxmlformats.org/officeDocument/2006/relationships" id="257" r:id="R01282bf7ad4243d8"/>
    <p:sldId xmlns:r="http://schemas.openxmlformats.org/officeDocument/2006/relationships" id="258" r:id="R57fc1f8cd4c443dc"/>
    <p:sldId xmlns:r="http://schemas.openxmlformats.org/officeDocument/2006/relationships" id="259" r:id="R719fb6ab96a44bc2"/>
    <p:sldId xmlns:r="http://schemas.openxmlformats.org/officeDocument/2006/relationships" id="260" r:id="R2464fab804f24ce4"/>
    <p:sldId xmlns:r="http://schemas.openxmlformats.org/officeDocument/2006/relationships" id="261" r:id="R621ec4cc1eba4a44"/>
    <p:sldId xmlns:r="http://schemas.openxmlformats.org/officeDocument/2006/relationships" id="262" r:id="R71ad0803bb6b4eda"/>
    <p:sldId xmlns:r="http://schemas.openxmlformats.org/officeDocument/2006/relationships" id="263" r:id="Rbad10f3a623e4949"/>
    <p:sldId xmlns:r="http://schemas.openxmlformats.org/officeDocument/2006/relationships" id="264" r:id="Rf358c5947291401c"/>
    <p:sldId xmlns:r="http://schemas.openxmlformats.org/officeDocument/2006/relationships" id="265" r:id="R570a9af309634b74"/>
    <p:sldId xmlns:r="http://schemas.openxmlformats.org/officeDocument/2006/relationships" id="266" r:id="Re5833d72171c48fa"/>
    <p:sldId xmlns:r="http://schemas.openxmlformats.org/officeDocument/2006/relationships" id="267" r:id="R45b31bd95d3f4b16"/>
    <p:sldId xmlns:r="http://schemas.openxmlformats.org/officeDocument/2006/relationships" id="268" r:id="Re38b66699f2b4299"/>
    <p:sldId xmlns:r="http://schemas.openxmlformats.org/officeDocument/2006/relationships" id="269" r:id="Rd767874fe44842c9"/>
    <p:sldId xmlns:r="http://schemas.openxmlformats.org/officeDocument/2006/relationships" id="270" r:id="Rf30469a7d2e448dd"/>
    <p:sldId xmlns:r="http://schemas.openxmlformats.org/officeDocument/2006/relationships" id="271" r:id="R563f2584b3f94de8"/>
    <p:sldId xmlns:r="http://schemas.openxmlformats.org/officeDocument/2006/relationships" id="272" r:id="Rb75413a0aa8d4e08"/>
    <p:sldId xmlns:r="http://schemas.openxmlformats.org/officeDocument/2006/relationships" id="273" r:id="R57dc084e19934ce8"/>
  </p:sldIdLst>
  <p:sldSz cx="10160000" cy="5715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ef89bf6aec463d" /><Relationship Type="http://schemas.openxmlformats.org/officeDocument/2006/relationships/slideMaster" Target="/ppt/slideMasters/slideMaster1.xml" Id="R697fce94d7f445a4" /><Relationship Type="http://schemas.openxmlformats.org/officeDocument/2006/relationships/notesMaster" Target="/ppt/notesMasters/notesMaster1.xml" Id="Rbc65bfc22b2a4ef8" /><Relationship Type="http://schemas.openxmlformats.org/officeDocument/2006/relationships/presProps" Target="/ppt/presProps.xml" Id="Rdf6df1f304cb4c93" /><Relationship Type="http://schemas.openxmlformats.org/officeDocument/2006/relationships/tableStyles" Target="/ppt/tableStyles.xml" Id="Rfa9a558c698949db" /><Relationship Type="http://schemas.openxmlformats.org/officeDocument/2006/relationships/slide" Target="/ppt/slides/slide1.xml" Id="R416ac9063ceb4849" /><Relationship Type="http://schemas.openxmlformats.org/officeDocument/2006/relationships/slide" Target="/ppt/slides/slide2.xml" Id="R01282bf7ad4243d8" /><Relationship Type="http://schemas.openxmlformats.org/officeDocument/2006/relationships/slide" Target="/ppt/slides/slide3.xml" Id="R57fc1f8cd4c443dc" /><Relationship Type="http://schemas.openxmlformats.org/officeDocument/2006/relationships/slide" Target="/ppt/slides/slide4.xml" Id="R719fb6ab96a44bc2" /><Relationship Type="http://schemas.openxmlformats.org/officeDocument/2006/relationships/slide" Target="/ppt/slides/slide5.xml" Id="R2464fab804f24ce4" /><Relationship Type="http://schemas.openxmlformats.org/officeDocument/2006/relationships/slide" Target="/ppt/slides/slide6.xml" Id="R621ec4cc1eba4a44" /><Relationship Type="http://schemas.openxmlformats.org/officeDocument/2006/relationships/slide" Target="/ppt/slides/slide7.xml" Id="R71ad0803bb6b4eda" /><Relationship Type="http://schemas.openxmlformats.org/officeDocument/2006/relationships/slide" Target="/ppt/slides/slide8.xml" Id="Rbad10f3a623e4949" /><Relationship Type="http://schemas.openxmlformats.org/officeDocument/2006/relationships/slide" Target="/ppt/slides/slide9.xml" Id="Rf358c5947291401c" /><Relationship Type="http://schemas.openxmlformats.org/officeDocument/2006/relationships/slide" Target="/ppt/slides/slide10.xml" Id="R570a9af309634b74" /><Relationship Type="http://schemas.openxmlformats.org/officeDocument/2006/relationships/slide" Target="/ppt/slides/slide11.xml" Id="Re5833d72171c48fa" /><Relationship Type="http://schemas.openxmlformats.org/officeDocument/2006/relationships/slide" Target="/ppt/slides/slide12.xml" Id="R45b31bd95d3f4b16" /><Relationship Type="http://schemas.openxmlformats.org/officeDocument/2006/relationships/slide" Target="/ppt/slides/slide13.xml" Id="Re38b66699f2b4299" /><Relationship Type="http://schemas.openxmlformats.org/officeDocument/2006/relationships/slide" Target="/ppt/slides/slide14.xml" Id="Rd767874fe44842c9" /><Relationship Type="http://schemas.openxmlformats.org/officeDocument/2006/relationships/slide" Target="/ppt/slides/slide15.xml" Id="Rf30469a7d2e448dd" /><Relationship Type="http://schemas.openxmlformats.org/officeDocument/2006/relationships/slide" Target="/ppt/slides/slide16.xml" Id="R563f2584b3f94de8" /><Relationship Type="http://schemas.openxmlformats.org/officeDocument/2006/relationships/slide" Target="/ppt/slides/slide17.xml" Id="Rb75413a0aa8d4e08" /><Relationship Type="http://schemas.openxmlformats.org/officeDocument/2006/relationships/slide" Target="/ppt/slides/slide18.xml" Id="R57dc084e1993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630695202240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a9d8a9a481433a" /><Relationship Type="http://schemas.openxmlformats.org/officeDocument/2006/relationships/notesMaster" Target="/ppt/notesMasters/notesMaster1.xml" Id="R56d5c4fec2d549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6b487b6bf3496c" /><Relationship Type="http://schemas.openxmlformats.org/officeDocument/2006/relationships/notesMaster" Target="/ppt/notesMasters/notesMaster1.xml" Id="R810d53ffcc1544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34323dda904f06" /><Relationship Type="http://schemas.openxmlformats.org/officeDocument/2006/relationships/notesMaster" Target="/ppt/notesMasters/notesMaster1.xml" Id="R8228e3bf29fe41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fe5a9a77a64e8d" /><Relationship Type="http://schemas.openxmlformats.org/officeDocument/2006/relationships/notesMaster" Target="/ppt/notesMasters/notesMaster1.xml" Id="Rf383264788b54c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090a425ff14181" /><Relationship Type="http://schemas.openxmlformats.org/officeDocument/2006/relationships/notesMaster" Target="/ppt/notesMasters/notesMaster1.xml" Id="R83bab36dbffa4a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d8bc5476fd41c8" /><Relationship Type="http://schemas.openxmlformats.org/officeDocument/2006/relationships/notesMaster" Target="/ppt/notesMasters/notesMaster1.xml" Id="R2c307b1bc1d046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46423a63284736" /><Relationship Type="http://schemas.openxmlformats.org/officeDocument/2006/relationships/notesMaster" Target="/ppt/notesMasters/notesMaster1.xml" Id="R594bc26f358c42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e07b32de3246e8" /><Relationship Type="http://schemas.openxmlformats.org/officeDocument/2006/relationships/notesMaster" Target="/ppt/notesMasters/notesMaster1.xml" Id="R3862669d479d45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20c66a7a0d4058" /><Relationship Type="http://schemas.openxmlformats.org/officeDocument/2006/relationships/notesMaster" Target="/ppt/notesMasters/notesMaster1.xml" Id="Ra0a320bbe21442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438e12f70d434e" /><Relationship Type="http://schemas.openxmlformats.org/officeDocument/2006/relationships/notesMaster" Target="/ppt/notesMasters/notesMaster1.xml" Id="R44bf8364f57645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68f64628c94f62" /><Relationship Type="http://schemas.openxmlformats.org/officeDocument/2006/relationships/notesMaster" Target="/ppt/notesMasters/notesMaster1.xml" Id="Rf8c58054613445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ee54a0538049dd" /><Relationship Type="http://schemas.openxmlformats.org/officeDocument/2006/relationships/notesMaster" Target="/ppt/notesMasters/notesMaster1.xml" Id="Ra29f2528fab645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65f07ef32b42c3" /><Relationship Type="http://schemas.openxmlformats.org/officeDocument/2006/relationships/notesMaster" Target="/ppt/notesMasters/notesMaster1.xml" Id="Rdd57a88d71e34a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9931f7122b4cf8" /><Relationship Type="http://schemas.openxmlformats.org/officeDocument/2006/relationships/notesMaster" Target="/ppt/notesMasters/notesMaster1.xml" Id="R3974b706d5a747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ba8a2c78044fe2" /><Relationship Type="http://schemas.openxmlformats.org/officeDocument/2006/relationships/notesMaster" Target="/ppt/notesMasters/notesMaster1.xml" Id="R11bfde2879cc41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424766f1614f86" /><Relationship Type="http://schemas.openxmlformats.org/officeDocument/2006/relationships/notesMaster" Target="/ppt/notesMasters/notesMaster1.xml" Id="Rb92348ba1bd24b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2f9a987e844c6d" /><Relationship Type="http://schemas.openxmlformats.org/officeDocument/2006/relationships/notesMaster" Target="/ppt/notesMasters/notesMaster1.xml" Id="R286732854f9c4a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acca4d2ffa64196" /><Relationship Type="http://schemas.openxmlformats.org/officeDocument/2006/relationships/notesMaster" Target="/ppt/notesMasters/notesMaster1.xml" Id="Re0bd3fc98bed4c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CVSS </a:t>
            </a:r>
            <a:r>
              <a:t>tells</a:t>
            </a:r>
            <a:r>
              <a:t> </a:t>
            </a:r>
            <a:r>
              <a:t>us</a:t>
            </a:r>
            <a:r>
              <a:t>:</a:t>
            </a:r>
          </a:p>
          <a:p xmlns:a="http://schemas.openxmlformats.org/drawingml/2006/main">
            <a:r>
              <a:t>"How bad </a:t>
            </a:r>
            <a:r>
              <a:t>could</a:t>
            </a:r>
            <a:r>
              <a:t> </a:t>
            </a:r>
            <a:r>
              <a:t>this</a:t>
            </a:r>
            <a:r>
              <a:t> </a:t>
            </a:r>
            <a:r>
              <a:t>vulnerability</a:t>
            </a:r>
            <a:r>
              <a:t> </a:t>
            </a:r>
            <a:r>
              <a:t>be</a:t>
            </a:r>
            <a:r>
              <a:t>?"</a:t>
            </a:r>
          </a:p>
          <a:p xmlns:a="http://schemas.openxmlformats.org/drawingml/2006/main">
            <a:r>
              <a:t>It does </a:t>
            </a:r>
            <a:r>
              <a:rPr b="1"/>
              <a:t>not</a:t>
            </a:r>
            <a:r>
              <a:t> </a:t>
            </a:r>
            <a:r>
              <a:t>tell</a:t>
            </a:r>
            <a:r>
              <a:t> </a:t>
            </a:r>
            <a:r>
              <a:t>us</a:t>
            </a:r>
            <a:r>
              <a:t>:</a:t>
            </a:r>
          </a:p>
          <a:p xmlns:a="http://schemas.openxmlformats.org/drawingml/2006/main">
            <a:r>
              <a:t>"How bad is </a:t>
            </a:r>
            <a:r>
              <a:t>it</a:t>
            </a:r>
            <a:r>
              <a:t> </a:t>
            </a:r>
            <a:r>
              <a:t>for</a:t>
            </a:r>
            <a:r>
              <a:t> </a:t>
            </a:r>
            <a:r>
              <a:rPr i="1"/>
              <a:t>my</a:t>
            </a:r>
            <a:r>
              <a:t> device?"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 traditional IT systems we think mainly about software vulnerabilities.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But smart connected devices are different. They include multiple hardware components, secure elements, and third-party modules.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Some vulnerabilities exist in hardware, and many critical assets are managed directly by hardware components.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 without a model that includes hardware, vulnerability management for devices is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Today most vulnerability management processes are based mainly on severity scores like CVSS.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And CVSS is absolutely useful — it gives us a standard way to measure how dangerous a vulnerability </a:t>
            </a:r>
            <a:r>
              <a:rPr sz="1100" b="0" i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could</a:t>
            </a: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 be.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The problem is that severity does not tell us how dangerous a vulnerability is for </a:t>
            </a:r>
            <a:r>
              <a:rPr i="1"/>
              <a:t>our specific device</a:t>
            </a:r>
            <a:r>
              <a:t>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We are measuring vulnerabilities correctly, but we are prioritizing them incorrectly.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85750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Smart connected devices have different risks than IT systems</a:t>
            </a:r>
          </a:p>
          <a:p xmlns:a="http://schemas.openxmlformats.org/drawingml/2006/main">
            <a:pPr marL="549275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Most scoring systems were created for IT environments.</a:t>
            </a:r>
            <a:br/>
            <a:r>
              <a:t>But smart connected devices have firmware, hardware dependencies, and very different attack surfaces.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Left side:</a:t>
            </a:r>
          </a:p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200 vulnerabilities</a:t>
            </a:r>
            <a:br/>
            <a:r>
              <a:t>panic</a:t>
            </a:r>
            <a:br/>
            <a:r>
              <a:t>random fixing</a:t>
            </a:r>
            <a:br/>
            <a:r>
              <a:t>delayed release</a:t>
            </a:r>
          </a:p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Right side:</a:t>
            </a:r>
          </a:p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Context analysis</a:t>
            </a:r>
            <a:br/>
            <a:r>
              <a:t>real risk identified</a:t>
            </a:r>
            <a:br/>
            <a:r>
              <a:t>focused remediation</a:t>
            </a:r>
            <a:br/>
            <a:r>
              <a:t>faster certification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6723d5f9447bf" /><Relationship Type="http://schemas.openxmlformats.org/officeDocument/2006/relationships/image" Target="/ppt/media/image.png" Id="R228bd02f2ee94d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1a2f856164621" /><Relationship Type="http://schemas.openxmlformats.org/officeDocument/2006/relationships/image" Target="/ppt/media/image2.png" Id="Ra045842112f546b8" /><Relationship Type="http://schemas.openxmlformats.org/officeDocument/2006/relationships/image" Target="/ppt/media/image3.png" Id="R0a871ca7bdbf42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50796a666484d" /><Relationship Type="http://schemas.openxmlformats.org/officeDocument/2006/relationships/image" Target="/ppt/media/image4.png" Id="R3515dc7c29e24d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071ffecf842e9" /><Relationship Type="http://schemas.openxmlformats.org/officeDocument/2006/relationships/image" Target="/ppt/media/image4.png" Id="Rffc6d483e19544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e4e56c3b64e4e" /><Relationship Type="http://schemas.openxmlformats.org/officeDocument/2006/relationships/image" Target="/ppt/media/image2.png" Id="Rc03d6a4c2f4146b7" /><Relationship Type="http://schemas.openxmlformats.org/officeDocument/2006/relationships/image" Target="/ppt/media/image3.png" Id="R39a2d48630a246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b663bc41c4543" /><Relationship Type="http://schemas.openxmlformats.org/officeDocument/2006/relationships/image" Target="/ppt/media/image5.png" Id="Ra58c02fd428348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fee650b814646" /><Relationship Type="http://schemas.openxmlformats.org/officeDocument/2006/relationships/image" Target="/ppt/media/image5.png" Id="R28bffa2962da4ae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f5bad7aff451c" /><Relationship Type="http://schemas.openxmlformats.org/officeDocument/2006/relationships/image" Target="/ppt/media/image6.png" Id="R39d7edfa5684489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ac7e2f1e4483a" /><Relationship Type="http://schemas.openxmlformats.org/officeDocument/2006/relationships/image" Target="/ppt/media/image6.png" Id="R055355e98d884f41" /></Relationships>
</file>

<file path=ppt/slideLayouts/slideLayout1.xml><?xml version="1.0" encoding="utf-8"?>
<p:sldLayout xmlns:p="http://schemas.openxmlformats.org/presentationml/2006/main" matchingName="First/Last" type="title">
  <p:cSld name="TITL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33">
            <a:extLst xmlns:a="http://schemas.openxmlformats.org/drawingml/2006/main">
              <a:ext uri="{FF2B5EF4-FFF2-40B4-BE49-F238E27FC236}">
                <a16:creationId xmlns:a16="http://schemas.microsoft.com/office/drawing/2014/main" id="{34912226-AFB2-4AF8-A982-EE1D00B828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1760" y="3718216"/>
            <a:ext cx="993140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" name="Google Shape;11;p33">
            <a:extLst xmlns:a="http://schemas.openxmlformats.org/drawingml/2006/main">
              <a:ext uri="{FF2B5EF4-FFF2-40B4-BE49-F238E27FC236}">
                <a16:creationId xmlns:a16="http://schemas.microsoft.com/office/drawing/2014/main" id="{726D5D76-C91C-4581-8B23-1BDD333864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1760" y="4125939"/>
            <a:ext cx="9931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600" b="1" i="0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250"/>
            </a:lvl2pPr>
            <a:lvl3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125"/>
            </a:lvl3pPr>
            <a:lvl4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4pPr>
            <a:lvl5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5pPr>
            <a:lvl6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6pPr>
            <a:lvl7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7pPr>
            <a:lvl8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8pPr>
            <a:lvl9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pic>
        <p:nvPicPr>
          <p:cNvPr id="12" name="Google Shape;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8bd02f2ee94d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76344" y="5017740"/>
            <a:ext cx="1820900" cy="4861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Content">
  <p:cSld name="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4">
            <a:extLst xmlns:a="http://schemas.openxmlformats.org/drawingml/2006/main">
              <a:ext uri="{FF2B5EF4-FFF2-40B4-BE49-F238E27FC236}">
                <a16:creationId xmlns:a16="http://schemas.microsoft.com/office/drawing/2014/main" id="{588DCA2B-DD5A-489F-B15B-6C5076B4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16000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AB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Google Shape;15;p34">
            <a:extLst xmlns:a="http://schemas.openxmlformats.org/drawingml/2006/main">
              <a:ext uri="{FF2B5EF4-FFF2-40B4-BE49-F238E27FC236}">
                <a16:creationId xmlns:a16="http://schemas.microsoft.com/office/drawing/2014/main" id="{1B16FB58-D9FB-4522-889E-534E981444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  <a:defRPr sz="2400" b="0"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800" b="0" i="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40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6" name="Google Shape;16;p34">
            <a:extLst xmlns:a="http://schemas.openxmlformats.org/drawingml/2006/main">
              <a:ext uri="{FF2B5EF4-FFF2-40B4-BE49-F238E27FC236}">
                <a16:creationId xmlns:a16="http://schemas.microsoft.com/office/drawing/2014/main" id="{EB06AEBF-F102-40AB-89FD-332108A39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4">
            <a:extLst xmlns:a="http://schemas.openxmlformats.org/drawingml/2006/main">
              <a:ext uri="{FF2B5EF4-FFF2-40B4-BE49-F238E27FC236}">
                <a16:creationId xmlns:a16="http://schemas.microsoft.com/office/drawing/2014/main" id="{67CB6D57-56DF-4415-BB1E-82630828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18" name="Google Shape;18;p34">
            <a:extLst xmlns:a="http://schemas.openxmlformats.org/drawingml/2006/main">
              <a:ext uri="{FF2B5EF4-FFF2-40B4-BE49-F238E27FC236}">
                <a16:creationId xmlns:a16="http://schemas.microsoft.com/office/drawing/2014/main" id="{2CB57257-476B-443A-BCE2-1F101C403D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19" name="Google Shape;19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45842112f546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" name="Google Shape;20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871ca7bdbf42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665" y="5084040"/>
            <a:ext cx="1656184" cy="52958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Section">
  <p:cSld name="Section">
    <p:bg>
      <p:bgPr>
        <a:solidFill xmlns:a="http://schemas.openxmlformats.org/drawingml/2006/main">
          <a:srgbClr val="41BAB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35">
            <a:extLst xmlns:a="http://schemas.openxmlformats.org/drawingml/2006/main">
              <a:ext uri="{FF2B5EF4-FFF2-40B4-BE49-F238E27FC236}">
                <a16:creationId xmlns:a16="http://schemas.microsoft.com/office/drawing/2014/main" id="{93B9BB04-0BF6-488B-9DF7-FF750D325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35">
            <a:extLst xmlns:a="http://schemas.openxmlformats.org/drawingml/2006/main">
              <a:ext uri="{FF2B5EF4-FFF2-40B4-BE49-F238E27FC236}">
                <a16:creationId xmlns:a16="http://schemas.microsoft.com/office/drawing/2014/main" id="{F60B23AA-A484-4898-BB09-AC9ED8EC39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24" name="Google Shape;24;p3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15dc7c29e24d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3456" y="5076942"/>
            <a:ext cx="1669161" cy="5384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OT Section">
  <p:cSld name="IOT Section">
    <p:bg>
      <p:bgPr>
        <a:solidFill xmlns:a="http://schemas.openxmlformats.org/drawingml/2006/main">
          <a:srgbClr val="3C3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36">
            <a:extLst xmlns:a="http://schemas.openxmlformats.org/drawingml/2006/main">
              <a:ext uri="{FF2B5EF4-FFF2-40B4-BE49-F238E27FC236}">
                <a16:creationId xmlns:a16="http://schemas.microsoft.com/office/drawing/2014/main" id="{59C4E349-DB66-42C1-8824-FA58FDC33D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36">
            <a:extLst xmlns:a="http://schemas.openxmlformats.org/drawingml/2006/main">
              <a:ext uri="{FF2B5EF4-FFF2-40B4-BE49-F238E27FC236}">
                <a16:creationId xmlns:a16="http://schemas.microsoft.com/office/drawing/2014/main" id="{193A7C33-6008-4FA5-A23F-534A00C92D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28" name="Google Shape;28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c6d483e19544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3456" y="5076942"/>
            <a:ext cx="1669161" cy="5384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Empty">
  <p:cSld name="Empty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37">
            <a:extLst xmlns:a="http://schemas.openxmlformats.org/drawingml/2006/main">
              <a:ext uri="{FF2B5EF4-FFF2-40B4-BE49-F238E27FC236}">
                <a16:creationId xmlns:a16="http://schemas.microsoft.com/office/drawing/2014/main" id="{D0897A4F-87D7-44D5-8DB9-7F8E15DA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16000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AB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37">
            <a:extLst xmlns:a="http://schemas.openxmlformats.org/drawingml/2006/main">
              <a:ext uri="{FF2B5EF4-FFF2-40B4-BE49-F238E27FC236}">
                <a16:creationId xmlns:a16="http://schemas.microsoft.com/office/drawing/2014/main" id="{E9AD88D0-75A0-4A0E-B8D5-939F98F67D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sp>
        <p:nvSpPr>
          <p:cNvPr id="32" name="Google Shape;32;p37">
            <a:extLst xmlns:a="http://schemas.openxmlformats.org/drawingml/2006/main">
              <a:ext uri="{FF2B5EF4-FFF2-40B4-BE49-F238E27FC236}">
                <a16:creationId xmlns:a16="http://schemas.microsoft.com/office/drawing/2014/main" id="{07F6E540-54BE-4C8E-A8C0-DF7EAE5B3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0375" y="131950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37">
            <a:extLst xmlns:a="http://schemas.openxmlformats.org/drawingml/2006/main">
              <a:ext uri="{FF2B5EF4-FFF2-40B4-BE49-F238E27FC236}">
                <a16:creationId xmlns:a16="http://schemas.microsoft.com/office/drawing/2014/main" id="{785D5FF3-2E11-412F-A3FB-B5A131D2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pic>
        <p:nvPicPr>
          <p:cNvPr id="34" name="Google Shape;34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3d6a4c2f4146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" name="Google Shape;35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a2d48630a246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665" y="5084040"/>
            <a:ext cx="1656184" cy="52958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Claim Red!">
  <p:cSld name="Claim Red!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38">
            <a:extLst xmlns:a="http://schemas.openxmlformats.org/drawingml/2006/main">
              <a:ext uri="{FF2B5EF4-FFF2-40B4-BE49-F238E27FC236}">
                <a16:creationId xmlns:a16="http://schemas.microsoft.com/office/drawing/2014/main" id="{F225510D-2F5B-42A9-96F3-1C844C52B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38">
            <a:extLst xmlns:a="http://schemas.openxmlformats.org/drawingml/2006/main">
              <a:ext uri="{FF2B5EF4-FFF2-40B4-BE49-F238E27FC236}">
                <a16:creationId xmlns:a16="http://schemas.microsoft.com/office/drawing/2014/main" id="{8AC6AE9A-B7C0-431B-83DB-29F0CB4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39" name="Google Shape;39;p38">
            <a:extLst xmlns:a="http://schemas.openxmlformats.org/drawingml/2006/main">
              <a:ext uri="{FF2B5EF4-FFF2-40B4-BE49-F238E27FC236}">
                <a16:creationId xmlns:a16="http://schemas.microsoft.com/office/drawing/2014/main" id="{2F862C8E-A47D-4461-AD13-FD5FB0CE18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40" name="Google Shape;40;p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8c02fd428348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Claim Green!">
  <p:cSld name="Claim Green!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39">
            <a:extLst xmlns:a="http://schemas.openxmlformats.org/drawingml/2006/main">
              <a:ext uri="{FF2B5EF4-FFF2-40B4-BE49-F238E27FC236}">
                <a16:creationId xmlns:a16="http://schemas.microsoft.com/office/drawing/2014/main" id="{63C71FCB-744B-42BE-88C8-A1D35A08D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39">
            <a:extLst xmlns:a="http://schemas.openxmlformats.org/drawingml/2006/main">
              <a:ext uri="{FF2B5EF4-FFF2-40B4-BE49-F238E27FC236}">
                <a16:creationId xmlns:a16="http://schemas.microsoft.com/office/drawing/2014/main" id="{E4274C19-7C55-4CCE-8CA8-14618444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4" name="Google Shape;44;p39">
            <a:extLst xmlns:a="http://schemas.openxmlformats.org/drawingml/2006/main">
              <a:ext uri="{FF2B5EF4-FFF2-40B4-BE49-F238E27FC236}">
                <a16:creationId xmlns:a16="http://schemas.microsoft.com/office/drawing/2014/main" id="{D16423BC-404A-43E7-B910-8BC215F4D9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45" name="Google Shape;45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bffa2962da4a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Claim Yellow!">
  <p:cSld name="Claim Yellow!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40">
            <a:extLst xmlns:a="http://schemas.openxmlformats.org/drawingml/2006/main">
              <a:ext uri="{FF2B5EF4-FFF2-40B4-BE49-F238E27FC236}">
                <a16:creationId xmlns:a16="http://schemas.microsoft.com/office/drawing/2014/main" id="{B6A09ECF-FD26-463B-B9F9-E0BB49D0B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40">
            <a:extLst xmlns:a="http://schemas.openxmlformats.org/drawingml/2006/main">
              <a:ext uri="{FF2B5EF4-FFF2-40B4-BE49-F238E27FC236}">
                <a16:creationId xmlns:a16="http://schemas.microsoft.com/office/drawing/2014/main" id="{F010A678-6632-41B1-8BC4-535B533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9" name="Google Shape;49;p40">
            <a:extLst xmlns:a="http://schemas.openxmlformats.org/drawingml/2006/main">
              <a:ext uri="{FF2B5EF4-FFF2-40B4-BE49-F238E27FC236}">
                <a16:creationId xmlns:a16="http://schemas.microsoft.com/office/drawing/2014/main" id="{5415075A-C516-4258-880A-BCD021F57E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50" name="Google Shape;50;p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d7edfa568448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4554" y="507600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Claim Grey!">
  <p:cSld name="Claim Grey!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41">
            <a:extLst xmlns:a="http://schemas.openxmlformats.org/drawingml/2006/main">
              <a:ext uri="{FF2B5EF4-FFF2-40B4-BE49-F238E27FC236}">
                <a16:creationId xmlns:a16="http://schemas.microsoft.com/office/drawing/2014/main" id="{C0C6C357-F754-4BA8-A1DA-FA76624A0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41">
            <a:extLst xmlns:a="http://schemas.openxmlformats.org/drawingml/2006/main">
              <a:ext uri="{FF2B5EF4-FFF2-40B4-BE49-F238E27FC236}">
                <a16:creationId xmlns:a16="http://schemas.microsoft.com/office/drawing/2014/main" id="{397CD1DB-201C-4BCE-BCDF-B52569F4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2023 Security Pattern s.r.l.</a:t>
            </a:r>
          </a:p>
        </p:txBody>
      </p:sp>
      <p:sp>
        <p:nvSpPr>
          <p:cNvPr id="54" name="Google Shape;54;p41">
            <a:extLst xmlns:a="http://schemas.openxmlformats.org/drawingml/2006/main">
              <a:ext uri="{FF2B5EF4-FFF2-40B4-BE49-F238E27FC236}">
                <a16:creationId xmlns:a16="http://schemas.microsoft.com/office/drawing/2014/main" id="{FD84C83E-5120-4454-86B2-B08709CAB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55" name="Google Shape;55;p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5355e98d884f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4554" y="507600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e6999a10f54d07" /><Relationship Type="http://schemas.openxmlformats.org/officeDocument/2006/relationships/slideLayout" Target="/ppt/slideLayouts/slideLayout1.xml" Id="Rd18e68942f98436b" /><Relationship Type="http://schemas.openxmlformats.org/officeDocument/2006/relationships/slideLayout" Target="/ppt/slideLayouts/slideLayout2.xml" Id="R856910f67f474d8d" /><Relationship Type="http://schemas.openxmlformats.org/officeDocument/2006/relationships/slideLayout" Target="/ppt/slideLayouts/slideLayout3.xml" Id="R2085f808fc5b4d29" /><Relationship Type="http://schemas.openxmlformats.org/officeDocument/2006/relationships/slideLayout" Target="/ppt/slideLayouts/slideLayout4.xml" Id="R6b2f26e8e5ec4b32" /><Relationship Type="http://schemas.openxmlformats.org/officeDocument/2006/relationships/slideLayout" Target="/ppt/slideLayouts/slideLayout5.xml" Id="Ra170d0602c494c03" /><Relationship Type="http://schemas.openxmlformats.org/officeDocument/2006/relationships/slideLayout" Target="/ppt/slideLayouts/slideLayout6.xml" Id="R24dc5ffa9cdd4a42" /><Relationship Type="http://schemas.openxmlformats.org/officeDocument/2006/relationships/slideLayout" Target="/ppt/slideLayouts/slideLayout7.xml" Id="R1f13e5a823764459" /><Relationship Type="http://schemas.openxmlformats.org/officeDocument/2006/relationships/slideLayout" Target="/ppt/slideLayouts/slideLayout8.xml" Id="R45692ba2175f4a8b" /><Relationship Type="http://schemas.openxmlformats.org/officeDocument/2006/relationships/slideLayout" Target="/ppt/slideLayouts/slideLayout9.xml" Id="R8eba51fbd8dc4e3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 Shape;7;p32">
            <a:extLst xmlns:a="http://schemas.openxmlformats.org/drawingml/2006/main">
              <a:ext uri="{FF2B5EF4-FFF2-40B4-BE49-F238E27FC236}">
                <a16:creationId xmlns:a16="http://schemas.microsoft.com/office/drawing/2014/main" id="{8A584AA8-D0A0-47F3-8E81-3BA3AB21F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9587" y="515938"/>
            <a:ext cx="5810251" cy="1104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5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8" name="Google Shape;8;p32">
            <a:extLst xmlns:a="http://schemas.openxmlformats.org/drawingml/2006/main">
              <a:ext uri="{FF2B5EF4-FFF2-40B4-BE49-F238E27FC236}">
                <a16:creationId xmlns:a16="http://schemas.microsoft.com/office/drawing/2014/main" id="{D09A4027-9426-4EA1-B4EB-0F2041B33B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350" y="1848394"/>
            <a:ext cx="8446407" cy="3480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55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●"/>
              <a:defRPr sz="2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indent="-33445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6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3246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333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4pPr>
            <a:lvl5pPr marL="22860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5pPr>
            <a:lvl6pPr marL="27432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8e68942f98436b"/>
    <p:sldLayoutId xmlns:r="http://schemas.openxmlformats.org/officeDocument/2006/relationships" id="2147483650" r:id="R856910f67f474d8d"/>
    <p:sldLayoutId xmlns:r="http://schemas.openxmlformats.org/officeDocument/2006/relationships" id="2147483651" r:id="R2085f808fc5b4d29"/>
    <p:sldLayoutId xmlns:r="http://schemas.openxmlformats.org/officeDocument/2006/relationships" id="2147483652" r:id="R6b2f26e8e5ec4b32"/>
    <p:sldLayoutId xmlns:r="http://schemas.openxmlformats.org/officeDocument/2006/relationships" id="2147483653" r:id="Ra170d0602c494c03"/>
    <p:sldLayoutId xmlns:r="http://schemas.openxmlformats.org/officeDocument/2006/relationships" id="2147483654" r:id="R24dc5ffa9cdd4a42"/>
    <p:sldLayoutId xmlns:r="http://schemas.openxmlformats.org/officeDocument/2006/relationships" id="2147483655" r:id="R1f13e5a823764459"/>
    <p:sldLayoutId xmlns:r="http://schemas.openxmlformats.org/officeDocument/2006/relationships" id="2147483656" r:id="R45692ba2175f4a8b"/>
    <p:sldLayoutId xmlns:r="http://schemas.openxmlformats.org/officeDocument/2006/relationships" id="2147483657" r:id="R8eba51fbd8dc4e3d"/>
  </p:sldLayoutIdLst>
  <p:hf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7f8b9a4c84040" /><Relationship Type="http://schemas.openxmlformats.org/officeDocument/2006/relationships/image" Target="/ppt/media/image7.png" Id="Rff0f44bd5d8e4413" /><Relationship Type="http://schemas.openxmlformats.org/officeDocument/2006/relationships/image" Target="/ppt/media/image3.png" Id="Recd5f070865f4e34" /><Relationship Type="http://schemas.openxmlformats.org/officeDocument/2006/relationships/notesSlide" Target="/ppt/notesSlides/notesSlide1.xml" Id="R86827d023f0143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0d37bbe0e443d" /><Relationship Type="http://schemas.openxmlformats.org/officeDocument/2006/relationships/image" Target="/ppt/media/image8.png" Id="R1771194d243e43fc" /><Relationship Type="http://schemas.openxmlformats.org/officeDocument/2006/relationships/notesSlide" Target="/ppt/notesSlides/notesSlide2.xml" Id="R2e06ffcbb9254e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341613325480e" /><Relationship Type="http://schemas.openxmlformats.org/officeDocument/2006/relationships/notesSlide" Target="/ppt/notesSlides/notesSlide3.xml" Id="R30bf3558d7dd44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f9b89c80a4a9b" /><Relationship Type="http://schemas.openxmlformats.org/officeDocument/2006/relationships/notesSlide" Target="/ppt/notesSlides/notesSlide4.xml" Id="R1093b80632c84c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dc460953994b0f" /><Relationship Type="http://schemas.openxmlformats.org/officeDocument/2006/relationships/image" Target="/ppt/media/image9.png" Id="R3b083d315f374172" /><Relationship Type="http://schemas.openxmlformats.org/officeDocument/2006/relationships/notesSlide" Target="/ppt/notesSlides/notesSlide5.xml" Id="Rd2ebbe7565fe44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7982a46ac4669" /><Relationship Type="http://schemas.openxmlformats.org/officeDocument/2006/relationships/image" Target="/ppt/media/image10.png" Id="R701aa8a506e54b94" /><Relationship Type="http://schemas.openxmlformats.org/officeDocument/2006/relationships/notesSlide" Target="/ppt/notesSlides/notesSlide6.xml" Id="R2a7be20bd8b74e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16724e47524fe9" /><Relationship Type="http://schemas.openxmlformats.org/officeDocument/2006/relationships/image" Target="/ppt/media/image10.png" Id="Ra04972f1cdc04ec8" /><Relationship Type="http://schemas.openxmlformats.org/officeDocument/2006/relationships/notesSlide" Target="/ppt/notesSlides/notesSlide7.xml" Id="R5fe83104243d44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a08f934834892" /><Relationship Type="http://schemas.openxmlformats.org/officeDocument/2006/relationships/notesSlide" Target="/ppt/notesSlides/notesSlide8.xml" Id="R1b14a6ad5c27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68431e0dcd4232" /><Relationship Type="http://schemas.openxmlformats.org/officeDocument/2006/relationships/notesSlide" Target="/ppt/notesSlides/notesSlide9.xml" Id="Ree68c773ea9f44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2c50814253437a" /><Relationship Type="http://schemas.openxmlformats.org/officeDocument/2006/relationships/notesSlide" Target="/ppt/notesSlides/notesSlide10.xml" Id="R4879b928657e4d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708bd908e484c" /><Relationship Type="http://schemas.openxmlformats.org/officeDocument/2006/relationships/notesSlide" Target="/ppt/notesSlides/notesSlide11.xml" Id="Rb8a6dc99bc8147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8f98e6c9f4b00" /><Relationship Type="http://schemas.openxmlformats.org/officeDocument/2006/relationships/notesSlide" Target="/ppt/notesSlides/notesSlide12.xml" Id="Rdf1f9ed2a0e14a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376d3c45f64b98" /><Relationship Type="http://schemas.openxmlformats.org/officeDocument/2006/relationships/image" Target="/ppt/media/image11.png" Id="R9e87a363673a46c4" /><Relationship Type="http://schemas.openxmlformats.org/officeDocument/2006/relationships/image" Target="/ppt/media/image12.png" Id="R55d18310a3054ab0" /><Relationship Type="http://schemas.openxmlformats.org/officeDocument/2006/relationships/notesSlide" Target="/ppt/notesSlides/notesSlide13.xml" Id="R957ff9095a8a4e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5fc644255c4322" /><Relationship Type="http://schemas.openxmlformats.org/officeDocument/2006/relationships/notesSlide" Target="/ppt/notesSlides/notesSlide14.xml" Id="R96afcfa5ee9041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9eded392f44c5" /><Relationship Type="http://schemas.openxmlformats.org/officeDocument/2006/relationships/notesSlide" Target="/ppt/notesSlides/notesSlide15.xml" Id="R8e0f375222674b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322500d50e4dd0" /><Relationship Type="http://schemas.openxmlformats.org/officeDocument/2006/relationships/image" Target="/ppt/media/image13.png" Id="Rb7f95e597e7e48ea" /><Relationship Type="http://schemas.openxmlformats.org/officeDocument/2006/relationships/image" Target="/ppt/media/image14.png" Id="Rf516c74b03d24e51" /><Relationship Type="http://schemas.openxmlformats.org/officeDocument/2006/relationships/notesSlide" Target="/ppt/notesSlides/notesSlide16.xml" Id="Rce0dfadc0f7941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f9b6de16bd47ee" /><Relationship Type="http://schemas.openxmlformats.org/officeDocument/2006/relationships/image" Target="/ppt/media/image10.png" Id="R27600266accd4606" /><Relationship Type="http://schemas.openxmlformats.org/officeDocument/2006/relationships/notesSlide" Target="/ppt/notesSlides/notesSlide17.xml" Id="R0cbd8df7ce7a42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7a6c1bd1e46b0" /><Relationship Type="http://schemas.openxmlformats.org/officeDocument/2006/relationships/image" Target="/ppt/media/image3.png" Id="R1484f3a978b343f6" /><Relationship Type="http://schemas.openxmlformats.org/officeDocument/2006/relationships/notesSlide" Target="/ppt/notesSlides/notesSlide18.xml" Id="R8138b595377446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">
            <a:extLst xmlns:a="http://schemas.openxmlformats.org/drawingml/2006/main">
              <a:ext uri="{FF2B5EF4-FFF2-40B4-BE49-F238E27FC236}">
                <a16:creationId xmlns:a16="http://schemas.microsoft.com/office/drawing/2014/main" id="{7463A3CA-5424-4D8C-A823-0047B1BD6B4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9389" y="1273324"/>
            <a:ext cx="9931400" cy="838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/>
              <a:t>Get grip on product security with ARIANNA</a:t>
            </a:r>
          </a:p>
        </p:txBody>
      </p:sp>
      <p:sp>
        <p:nvSpPr>
          <p:cNvPr id="61" name="Google Shape;61;p1">
            <a:extLst xmlns:a="http://schemas.openxmlformats.org/drawingml/2006/main">
              <a:ext uri="{FF2B5EF4-FFF2-40B4-BE49-F238E27FC236}">
                <a16:creationId xmlns:a16="http://schemas.microsoft.com/office/drawing/2014/main" id="{B6E32E98-F1EC-4777-A8B2-761546A43B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9389" y="1962764"/>
            <a:ext cx="9931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/>
              <a:t>HBOM &amp; SBOM creation | Vulnerability monitoring | Vulnerability management</a:t>
            </a:r>
          </a:p>
        </p:txBody>
      </p:sp>
      <p:sp>
        <p:nvSpPr>
          <p:cNvPr id="62" name="Google Shape;62;p1">
            <a:extLst xmlns:a="http://schemas.openxmlformats.org/drawingml/2006/main">
              <a:ext uri="{FF2B5EF4-FFF2-40B4-BE49-F238E27FC236}">
                <a16:creationId xmlns:a16="http://schemas.microsoft.com/office/drawing/2014/main" id="{5F8D4CBB-1823-4A1D-AA18-9EAA20E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341" y="4729708"/>
            <a:ext cx="1776448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ARIANNA is a product by</a:t>
            </a:r>
          </a:p>
        </p:txBody>
      </p:sp>
      <p:pic>
        <p:nvPicPr>
          <p:cNvPr id="68" name="Google Shape;63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0f44bd5d8e44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4576" y="2237084"/>
            <a:ext cx="4711535" cy="35336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Google Shape;6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d5f070865f4e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06896" y="2801688"/>
            <a:ext cx="3456385" cy="11052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389190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70AD694D-E915-451D-80E9-BBE778BC78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8805668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r>
              <a:rPr sz="2000"/>
              <a:t>CRA requires continuous vulnerability management across the full product lifecycle.</a:t>
            </a:r>
          </a:p>
          <a:p xmlns:a="http://schemas.openxmlformats.org/drawingml/2006/main">
            <a:r>
              <a:rPr sz="2000"/>
              <a:t>Manufacturers must maintain SBOMs, monitor vulnerabilities, assess risk, and address findings.</a:t>
            </a:r>
          </a:p>
          <a:p xmlns:a="http://schemas.openxmlformats.org/drawingml/2006/main">
            <a:r>
              <a:rPr sz="2000"/>
              <a:t>Many organizations have some of the building blocks, but not an operational process that scales.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07041DA8-5B84-4B77-AA8B-719CAA36D9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Why Manufacturers Struggle with CRA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255AA8EB-98D8-4746-9625-F991A4B178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2</a:t>
            </a:fld>
          </a:p>
        </p:txBody>
      </p:sp>
      <p:pic>
        <p:nvPicPr>
          <p:cNvPr id="77" name="Afbeelding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1194d243e43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2838" y="3370492"/>
            <a:ext cx="3352847" cy="18775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36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92292B43-2E71-5A4C-098E-EB2EC03CFB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8400553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r>
              <a:t>Connected products combine hardware and software and often remain in the field for years.</a:t>
            </a:r>
          </a:p>
          <a:p xmlns:a="http://schemas.openxmlformats.org/drawingml/2006/main">
            <a:r>
              <a:t>Manual vulnerability tracking does not scale in that environment.</a:t>
            </a:r>
          </a:p>
          <a:p xmlns:a="http://schemas.openxmlformats.org/drawingml/2006/main">
            <a:r>
              <a:t>ARIANNA brings HBOM + SBOM visibility, monitoring, prioritization, and reporting into one platform.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3AE2A33D-0FFF-BF33-2B33-9D63A1304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Why ARIANNA exists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1142A1CD-37F2-2E59-1326-EA987ADA78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1453530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729FF4BA-8CA4-4A3E-0CBD-AFFF4923F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8214746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r>
              <a:rPr sz="2000"/>
              <a:t>A connected device can contain thousands of known vulnerabilities.</a:t>
            </a:r>
          </a:p>
          <a:p xmlns:a="http://schemas.openxmlformats.org/drawingml/2006/main">
            <a:r>
              <a:rPr sz="2000"/>
              <a:t>CVSS-only prioritization can leave teams with hundreds of issues to review.</a:t>
            </a:r>
          </a:p>
          <a:p xmlns:a="http://schemas.openxmlformats.org/drawingml/2006/main">
            <a:r>
              <a:rPr sz="2000"/>
              <a:t>ARIANNA prioritizes based on exploitability and device context, reducing the focus to the vulnerabilities that matter most.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1BD258A6-17C1-641A-975D-8F4879F4B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From 2,775 Vulnerabilities to 10 Actions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B848EDD9-9D97-8563-D959-242480BCA0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4</a:t>
            </a:fld>
          </a:p>
        </p:txBody>
      </p:sp>
      <p:sp>
        <p:nvSpPr>
          <p:cNvPr id="2" name="Tekstvak 1">
            <a:extLst xmlns:a="http://schemas.openxmlformats.org/drawingml/2006/main">
              <a:ext uri="{FF2B5EF4-FFF2-40B4-BE49-F238E27FC236}">
                <a16:creationId xmlns:a16="http://schemas.microsoft.com/office/drawing/2014/main" id="{7D0DCB51-EA93-DC1C-E7FD-2B349B60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92" y="4225054"/>
            <a:ext cx="714259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CVSS </a:t>
            </a:r>
            <a:r>
              <a:rPr sz="2400"/>
              <a:t>measures</a:t>
            </a:r>
            <a:r>
              <a:rPr sz="2400"/>
              <a:t> </a:t>
            </a:r>
            <a:r>
              <a:rPr sz="2400"/>
              <a:t>severity</a:t>
            </a:r>
            <a:r>
              <a:rPr sz="2400"/>
              <a:t>. ARIANNA </a:t>
            </a:r>
            <a:r>
              <a:rPr sz="2400"/>
              <a:t>prioritizes</a:t>
            </a:r>
            <a:r>
              <a:rPr sz="2400"/>
              <a:t> risk.</a:t>
            </a:r>
          </a:p>
        </p:txBody>
      </p:sp>
    </p:spTree>
    <p:extLst>
      <p:ext uri="{BB962C8B-B14F-4D97-AF65-F5344CB8AC3E}">
        <p14:creationId xmlns:p14="http://schemas.microsoft.com/office/powerpoint/2010/main" val="17145895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083d315f3741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472258" y="1796653"/>
            <a:ext cx="5224462" cy="3918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DCDBA434-48A9-BB5E-1DF7-7E2DD974B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6053899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ARIANNA helps device manufacturers run an efficient vulnerability management process.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Build and maintain the device model (HBOM + SBOM)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Continuously monitor new vulnerabilities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Prioritize based on real exploitability and device context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Export reports for customers, internal teams, and regulators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F0CF8B1E-FAA5-5241-1C1A-30E89CB83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ARIANNA operationalizes product security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ECB7CD20-DB45-DCBC-D85E-322D0AB91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915579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4">
            <a:extLst xmlns:a="http://schemas.openxmlformats.org/drawingml/2006/main">
              <a:ext uri="{FF2B5EF4-FFF2-40B4-BE49-F238E27FC236}">
                <a16:creationId xmlns:a16="http://schemas.microsoft.com/office/drawing/2014/main" id="{C1D466F9-AA2B-4227-96C4-614E901384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65924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Hardware Components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MCUs | MPUs | Memories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WiFi</a:t>
            </a:r>
            <a:r>
              <a:rPr sz="1600"/>
              <a:t>, BLE, radio modules | Secure Elements | TPM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>
                <a:solidFill>
                  <a:schemeClr val="dk2"/>
                </a:solidFill>
              </a:rPr>
              <a:t>Vulnerability management for devices is incomplete without the hardware model.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Hardware components manage critical assets.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>
                <a:solidFill>
                  <a:schemeClr val="accent2"/>
                </a:solidFill>
              </a:rPr>
              <a:t>Hardware components have vulnerabilities.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They are not exposed to attackers in the same way as software.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>
                <a:solidFill>
                  <a:schemeClr val="accent2"/>
                </a:solidFill>
              </a:rPr>
              <a:t>The hardware model helps exclude non-reachable software vulnerabilities.</a:t>
            </a:r>
          </a:p>
        </p:txBody>
      </p:sp>
      <p:sp>
        <p:nvSpPr>
          <p:cNvPr id="84" name="Google Shape;84;p4">
            <a:extLst xmlns:a="http://schemas.openxmlformats.org/drawingml/2006/main">
              <a:ext uri="{FF2B5EF4-FFF2-40B4-BE49-F238E27FC236}">
                <a16:creationId xmlns:a16="http://schemas.microsoft.com/office/drawing/2014/main" id="{9F3BAA72-6995-4DC2-9237-A902F9C66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Smart devices are not just software</a:t>
            </a:r>
          </a:p>
        </p:txBody>
      </p:sp>
      <p:sp>
        <p:nvSpPr>
          <p:cNvPr id="85" name="Google Shape;85;p4">
            <a:extLst xmlns:a="http://schemas.openxmlformats.org/drawingml/2006/main">
              <a:ext uri="{FF2B5EF4-FFF2-40B4-BE49-F238E27FC236}">
                <a16:creationId xmlns:a16="http://schemas.microsoft.com/office/drawing/2014/main" id="{C7CF4E7B-184B-476E-83FF-FA906D3A98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6</a:t>
            </a:fld>
          </a:p>
        </p:txBody>
      </p:sp>
      <p:pic>
        <p:nvPicPr>
          <p:cNvPr id="132" name="Google Shape;8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1aa8a506e54b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8232" y="3630103"/>
            <a:ext cx="2664296" cy="153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" name="Google Shape;87;p4">
            <a:extLst xmlns:a="http://schemas.openxmlformats.org/drawingml/2006/main">
              <a:ext uri="{FF2B5EF4-FFF2-40B4-BE49-F238E27FC236}">
                <a16:creationId xmlns:a16="http://schemas.microsoft.com/office/drawing/2014/main" id="{D5C47258-817E-4FE1-9A3A-8F27B17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433" y="1080071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22225" cmpd="sng">
            <a:solidFill>
              <a:schemeClr val="accent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WIFI MODULE</a:t>
            </a:r>
          </a:p>
        </p:txBody>
      </p:sp>
      <p:cxnSp>
        <p:nvCxnSpPr>
          <p:cNvPr id="134" name="Google Shape;88;p4"/>
          <p:cNvCxnSpPr>
            <a:stCxn xmlns:a="http://schemas.openxmlformats.org/drawingml/2006/main" id="89" idx="2"/>
          </p:cNvCxnSpPr>
          <p:nvPr/>
        </p:nvCxnSpPr>
        <p:spPr>
          <a:xfrm xmlns:a="http://schemas.openxmlformats.org/drawingml/2006/main" flipH="1">
            <a:off x="8437491" y="2086996"/>
            <a:ext cx="23700" cy="18231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35" name="Google Shape;90;p4"/>
          <p:cNvCxnSpPr>
            <a:stCxn xmlns:a="http://schemas.openxmlformats.org/drawingml/2006/main" id="91" idx="2"/>
          </p:cNvCxnSpPr>
          <p:nvPr/>
        </p:nvCxnSpPr>
        <p:spPr>
          <a:xfrm xmlns:a="http://schemas.openxmlformats.org/drawingml/2006/main" flipH="1">
            <a:off x="8968339" y="3451570"/>
            <a:ext cx="20400" cy="3411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36" name="Google Shape;92;p4"/>
          <p:cNvCxnSpPr>
            <a:stCxn xmlns:a="http://schemas.openxmlformats.org/drawingml/2006/main" id="87" idx="2"/>
          </p:cNvCxnSpPr>
          <p:nvPr/>
        </p:nvCxnSpPr>
        <p:spPr>
          <a:xfrm xmlns:a="http://schemas.openxmlformats.org/drawingml/2006/main">
            <a:off x="7960320" y="1428585"/>
            <a:ext cx="0" cy="252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93" name="Google Shape;93;p4">
            <a:extLst xmlns:a="http://schemas.openxmlformats.org/drawingml/2006/main">
              <a:ext uri="{FF2B5EF4-FFF2-40B4-BE49-F238E27FC236}">
                <a16:creationId xmlns:a16="http://schemas.microsoft.com/office/drawing/2014/main" id="{E0668804-9108-4C19-B4C8-033FDD3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53" y="2382381"/>
            <a:ext cx="1137311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22225" cmpd="sng">
            <a:solidFill>
              <a:srgbClr val="00B0F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cxnSp>
        <p:nvCxnSpPr>
          <p:cNvPr id="138" name="Google Shape;94;p4"/>
          <p:cNvCxnSpPr/>
          <p:nvPr/>
        </p:nvCxnSpPr>
        <p:spPr>
          <a:xfrm xmlns:a="http://schemas.openxmlformats.org/drawingml/2006/main">
            <a:off x="8752408" y="2730895"/>
            <a:ext cx="0" cy="11792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89" name="Google Shape;89;p4">
            <a:extLst xmlns:a="http://schemas.openxmlformats.org/drawingml/2006/main">
              <a:ext uri="{FF2B5EF4-FFF2-40B4-BE49-F238E27FC236}">
                <a16:creationId xmlns:a16="http://schemas.microsoft.com/office/drawing/2014/main" id="{8156E2E6-88C0-494E-B4C0-C855D500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304" y="1738482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2225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MAIN MPU</a:t>
            </a:r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C4EE6588-7742-43CC-AAAC-3C8FAB36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76" y="3103056"/>
            <a:ext cx="85772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9600"/>
          </a:solidFill>
          <a:ln xmlns:a="http://schemas.openxmlformats.org/drawingml/2006/main" w="22225" cmpd="sng">
            <a:solidFill>
              <a:srgbClr val="FD960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MCU</a:t>
            </a:r>
          </a:p>
        </p:txBody>
      </p:sp>
    </p:spTree>
    <p:extLst>
      <p:ext uri="{BB962C8B-B14F-4D97-AF65-F5344CB8AC3E}">
        <p14:creationId xmlns:p14="http://schemas.microsoft.com/office/powerpoint/2010/main" val="9979726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660616F1-EE4C-4693-ACCC-1B188CCEF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655856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The user identifies the main hardware building blocks of the device.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/>
              <a:t>Each hardware building block is modeled as a Processing Unit (PU).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/>
              <a:t>Examples include MCUs, MPUs, Secure Elements, memories, and </a:t>
            </a:r>
            <a:r>
              <a:rPr sz="2000"/>
              <a:t>WiFi</a:t>
            </a:r>
            <a:r>
              <a:rPr sz="2000"/>
              <a:t>/BLE modules.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/>
              <a:t>For each PU, ARIANNA derives the HBOM from the validated hardware part number.</a:t>
            </a:r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B7EF98F6-D030-4B4B-B032-7CF74E602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HBOM</a:t>
            </a:r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06631D09-8F80-4DEF-88DF-176D5A676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7</a:t>
            </a:fld>
          </a:p>
        </p:txBody>
      </p:sp>
      <p:pic>
        <p:nvPicPr>
          <p:cNvPr id="165" name="Google Shape;11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4972f1cdc04ec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8232" y="3630103"/>
            <a:ext cx="2664296" cy="153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D366AD5F-D70F-4F4C-A8A7-3017BAE9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433" y="1080071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22225" cmpd="sng">
            <a:solidFill>
              <a:schemeClr val="accent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167" name="Google Shape;121;p7"/>
          <p:cNvCxnSpPr>
            <a:stCxn xmlns:a="http://schemas.openxmlformats.org/drawingml/2006/main" id="122" idx="2"/>
          </p:cNvCxnSpPr>
          <p:nvPr/>
        </p:nvCxnSpPr>
        <p:spPr>
          <a:xfrm xmlns:a="http://schemas.openxmlformats.org/drawingml/2006/main">
            <a:off x="8400929" y="2086996"/>
            <a:ext cx="0" cy="1854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68" name="Google Shape;123;p7"/>
          <p:cNvCxnSpPr>
            <a:stCxn xmlns:a="http://schemas.openxmlformats.org/drawingml/2006/main" id="124" idx="2"/>
          </p:cNvCxnSpPr>
          <p:nvPr/>
        </p:nvCxnSpPr>
        <p:spPr>
          <a:xfrm xmlns:a="http://schemas.openxmlformats.org/drawingml/2006/main">
            <a:off x="8971666" y="3456339"/>
            <a:ext cx="0" cy="376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69" name="Google Shape;125;p7"/>
          <p:cNvCxnSpPr>
            <a:stCxn xmlns:a="http://schemas.openxmlformats.org/drawingml/2006/main" id="120" idx="2"/>
          </p:cNvCxnSpPr>
          <p:nvPr/>
        </p:nvCxnSpPr>
        <p:spPr>
          <a:xfrm xmlns:a="http://schemas.openxmlformats.org/drawingml/2006/main">
            <a:off x="7960320" y="1428585"/>
            <a:ext cx="0" cy="252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C29E7621-34A4-4526-8D6E-E370857D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53" y="2382381"/>
            <a:ext cx="1137311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22225" cmpd="sng">
            <a:solidFill>
              <a:srgbClr val="00B0F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PU4 | MEMORY</a:t>
            </a:r>
          </a:p>
        </p:txBody>
      </p:sp>
      <p:cxnSp>
        <p:nvCxnSpPr>
          <p:cNvPr id="171" name="Google Shape;127;p7"/>
          <p:cNvCxnSpPr/>
          <p:nvPr/>
        </p:nvCxnSpPr>
        <p:spPr>
          <a:xfrm xmlns:a="http://schemas.openxmlformats.org/drawingml/2006/main">
            <a:off x="8752408" y="2730895"/>
            <a:ext cx="0" cy="11792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85ACE8CF-28EB-49A3-B3E1-698D09F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296" y="1738482"/>
            <a:ext cx="131326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2225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09C66DCA-75F1-419C-89B9-92C4E392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298" y="3107825"/>
            <a:ext cx="128873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9600"/>
          </a:solidFill>
          <a:ln xmlns:a="http://schemas.openxmlformats.org/drawingml/2006/main" w="22225" cmpd="sng">
            <a:solidFill>
              <a:srgbClr val="FD960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4013452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CDEE0FAF-162E-423A-A924-3310294D03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8764" y="1123284"/>
            <a:ext cx="9168982" cy="2486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/>
              <a:t>For each Processing Unit (PU), ARIANNA supports the creation of the SBOM.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800"/>
              <a:t>A PU SBOM can combine multiple SBOMs from different software layers.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For MPUs this can include the OS plus customer applications.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For MCUs this can include the bootloader plus application firmware.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The final device SBOM preserves that structure for clearer vulnerability analysis.</a:t>
            </a:r>
          </a:p>
        </p:txBody>
      </p: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55D49939-731D-4254-B0F4-EB080A9927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SBOM</a:t>
            </a:r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C44AAF25-F66A-47F5-91E2-C7326CDA68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8</a:t>
            </a:fld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43906A12-6998-4BAF-AA96-57C03DE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54" y="4558172"/>
            <a:ext cx="2520280" cy="436076"/>
          </a:xfrm>
          <a:prstGeom xmlns:a="http://schemas.openxmlformats.org/drawingml/2006/main" prst="roundRect">
            <a:avLst>
              <a:gd name="adj" fmla="val 14373"/>
            </a:avLst>
          </a:prstGeom>
          <a:solidFill xmlns:a="http://schemas.openxmlformats.org/drawingml/2006/main">
            <a:srgbClr val="9E9E9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B6DF4904-1D50-405C-9C6B-74210741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506" y="4558171"/>
            <a:ext cx="1436284" cy="43607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E9E9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 | ESP32</a:t>
            </a:r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46A695DD-E916-4DEB-A294-1F6376D0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926" y="4560533"/>
            <a:ext cx="2952897" cy="43607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E9E9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5BE5CCF2-45AA-4185-8F5F-EED8297F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303" y="3962766"/>
            <a:ext cx="1300417" cy="44390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A92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13885808-1F1F-4E46-895D-BCA512C4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304" y="3965127"/>
            <a:ext cx="1367382" cy="44390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90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Bootloader SBOM</a:t>
            </a:r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B2D6BE0A-5C44-4DC6-9421-61E571BC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064" y="3965127"/>
            <a:ext cx="1367382" cy="44390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A92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372572EC-0FC8-40A2-9FE7-FE2EF98A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584" y="3937620"/>
            <a:ext cx="2386042" cy="46904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D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YOCTO SBOM</a:t>
            </a:r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4E36C73B-66B4-40B4-997F-62A6229E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584" y="3334077"/>
            <a:ext cx="1159814" cy="550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3AC9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Javascript Application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008DDC5F-747E-406C-9A08-0C45FBCE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4" y="3334077"/>
            <a:ext cx="1156003" cy="56032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B5A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Python Application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40812A10-8FA9-457F-AF3A-751C882A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54" y="3268303"/>
            <a:ext cx="2520280" cy="1215695"/>
          </a:xfrm>
          <a:prstGeom xmlns:a="http://schemas.openxmlformats.org/drawingml/2006/main" prst="roundRect">
            <a:avLst>
              <a:gd name="adj" fmla="val 5755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9E9E9E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343B705B-CF28-41D1-B426-D943E603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506" y="3884756"/>
            <a:ext cx="1436284" cy="599242"/>
          </a:xfrm>
          <a:prstGeom xmlns:a="http://schemas.openxmlformats.org/drawingml/2006/main" prst="roundRect">
            <a:avLst>
              <a:gd name="adj" fmla="val 13148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9E9E9E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A84E8958-300E-461E-BB41-8127732F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925" y="3887118"/>
            <a:ext cx="2952897" cy="599242"/>
          </a:xfrm>
          <a:prstGeom xmlns:a="http://schemas.openxmlformats.org/drawingml/2006/main" prst="roundRect">
            <a:avLst>
              <a:gd name="adj" fmla="val 13148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9E9E9E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4540143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60234CB6-CB7C-4F2B-8373-918BBDB983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The device model evolves over the product lifecycle.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/>
              <a:t>HBOM usually remains stable, while SBOM changes with new software and firmware releases.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800"/>
              <a:t>Each new model version can introduce new vulnerabilities and automatically close others when affected components are updated or removed.</a:t>
            </a: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23907CA7-D710-4C35-A64A-FA40AB384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lifecycle &amp; VMP</a:t>
            </a: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4B7B1E0D-A076-4A55-9C49-596C545733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5779783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11">
            <a:extLst xmlns:a="http://schemas.openxmlformats.org/drawingml/2006/main">
              <a:ext uri="{FF2B5EF4-FFF2-40B4-BE49-F238E27FC236}">
                <a16:creationId xmlns:a16="http://schemas.microsoft.com/office/drawing/2014/main" id="{CAF71989-91FE-447A-A6D9-CF85EE5E82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/>
              <a:t>ARIANNA identifies new vulnerabilities daily for every monitored device based on its device model.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800"/>
              <a:t>It uses an internal mapping between hardware/software components and known vulnerabilities.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Public sources such as NVD, CVE.org, GitHub Advisories, and EUVD are monitored continuously.</a:t>
            </a:r>
          </a:p>
          <a:p xmlns:a="http://schemas.openxmlformats.org/drawingml/2006/main">
            <a:pPr marL="533400" indent="-247650">
              <a:spcBef>
                <a:spcPts val="667"/>
              </a:spcBef>
              <a:buChar char="o"/>
            </a:pPr>
            <a:r>
              <a:rPr sz="1400"/>
              <a:t>Findings are enriched with KEV status, EPSS, exploit maturity, and CWE information to support better prioritization.</a:t>
            </a:r>
          </a:p>
        </p:txBody>
      </p:sp>
      <p:sp>
        <p:nvSpPr>
          <p:cNvPr id="165" name="Google Shape;165;p11">
            <a:extLst xmlns:a="http://schemas.openxmlformats.org/drawingml/2006/main">
              <a:ext uri="{FF2B5EF4-FFF2-40B4-BE49-F238E27FC236}">
                <a16:creationId xmlns:a16="http://schemas.microsoft.com/office/drawing/2014/main" id="{4C1246C1-8AD2-4DB1-B575-EB674450B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Continuous Vulnerability Monitoring</a:t>
            </a:r>
          </a:p>
        </p:txBody>
      </p:sp>
      <p:sp>
        <p:nvSpPr>
          <p:cNvPr id="166" name="Google Shape;166;p11">
            <a:extLst xmlns:a="http://schemas.openxmlformats.org/drawingml/2006/main">
              <a:ext uri="{FF2B5EF4-FFF2-40B4-BE49-F238E27FC236}">
                <a16:creationId xmlns:a16="http://schemas.microsoft.com/office/drawing/2014/main" id="{7253F5B2-23EB-4FDC-9C17-1F7DD8C3C6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20891877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6" name="Google Shape;236;p15">
            <a:extLst xmlns:a="http://schemas.openxmlformats.org/drawingml/2006/main">
              <a:ext uri="{FF2B5EF4-FFF2-40B4-BE49-F238E27FC236}">
                <a16:creationId xmlns:a16="http://schemas.microsoft.com/office/drawing/2014/main" id="{1EC1485D-A21C-4F5C-A568-1098AFA867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>
                <a:solidFill>
                  <a:schemeClr val="accent2"/>
                </a:solidFill>
              </a:rPr>
              <a:t>CVSS is useful, but severity alone is not enough for prioritization.</a:t>
            </a:r>
          </a:p>
          <a:p xmlns:a="http://schemas.openxmlformats.org/drawingml/2006/main"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r>
              <a:rPr sz="2000"/>
              <a:t>Context matters: a vulnerability in a non-exposed component is very different from the same vulnerability in an internet-facing device.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>
                <a:solidFill>
                  <a:schemeClr val="dk2"/>
                </a:solidFill>
              </a:rPr>
              <a:t>Exploitability matters more than volume.</a:t>
            </a:r>
          </a:p>
          <a:p xmlns:a="http://schemas.openxmlformats.org/drawingml/2006/main"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  <a:r>
              <a:rPr sz="2200"/>
              <a:t>This is why device-specific context is essential for effective vulnerability management.</a:t>
            </a:r>
          </a:p>
        </p:txBody>
      </p:sp>
      <p:sp>
        <p:nvSpPr>
          <p:cNvPr id="237" name="Google Shape;237;p15">
            <a:extLst xmlns:a="http://schemas.openxmlformats.org/drawingml/2006/main">
              <a:ext uri="{FF2B5EF4-FFF2-40B4-BE49-F238E27FC236}">
                <a16:creationId xmlns:a16="http://schemas.microsoft.com/office/drawing/2014/main" id="{4CDAFA95-9056-487A-A914-0CFD3A053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Severity alone is not enough</a:t>
            </a:r>
          </a:p>
        </p:txBody>
      </p:sp>
      <p:sp>
        <p:nvSpPr>
          <p:cNvPr id="238" name="Google Shape;238;p15">
            <a:extLst xmlns:a="http://schemas.openxmlformats.org/drawingml/2006/main">
              <a:ext uri="{FF2B5EF4-FFF2-40B4-BE49-F238E27FC236}">
                <a16:creationId xmlns:a16="http://schemas.microsoft.com/office/drawing/2014/main" id="{9F4643F7-5C91-4BBB-A028-DC6F6344B1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9469865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Google Shape;243;p16">
            <a:extLst xmlns:a="http://schemas.openxmlformats.org/drawingml/2006/main">
              <a:ext uri="{FF2B5EF4-FFF2-40B4-BE49-F238E27FC236}">
                <a16:creationId xmlns:a16="http://schemas.microsoft.com/office/drawing/2014/main" id="{3993AA75-263C-4D10-8C86-1B513997C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ARIANNA includes a configurable pre-triage engine to reduce review workload.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/>
              <a:t>It creates a focused queue for the vulnerabilities that need immediate analyst attention.</a:t>
            </a:r>
          </a:p>
          <a:p xmlns:a="http://schemas.openxmlformats.org/drawingml/2006/main">
            <a:pPr marL="804863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>
                <a:solidFill>
                  <a:schemeClr val="dk2"/>
                </a:solidFill>
              </a:rPr>
              <a:t>Lower-priority items remain visible and traceable without consuming the same level of effort.</a:t>
            </a:r>
          </a:p>
          <a:p xmlns:a="http://schemas.openxmlformats.org/drawingml/2006/main">
            <a:pPr marL="804863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000">
                <a:solidFill>
                  <a:schemeClr val="dk2"/>
                </a:solidFill>
              </a:rPr>
              <a:t>This helps teams scale triage while keeping final decisions in human hands.</a:t>
            </a:r>
          </a:p>
        </p:txBody>
      </p:sp>
      <p:sp>
        <p:nvSpPr>
          <p:cNvPr id="244" name="Google Shape;244;p16">
            <a:extLst xmlns:a="http://schemas.openxmlformats.org/drawingml/2006/main">
              <a:ext uri="{FF2B5EF4-FFF2-40B4-BE49-F238E27FC236}">
                <a16:creationId xmlns:a16="http://schemas.microsoft.com/office/drawing/2014/main" id="{3D3FCBB8-6C4E-4E17-9330-EA5CF4EDC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Operational triage at scale</a:t>
            </a:r>
          </a:p>
        </p:txBody>
      </p:sp>
      <p:sp>
        <p:nvSpPr>
          <p:cNvPr id="245" name="Google Shape;245;p16">
            <a:extLst xmlns:a="http://schemas.openxmlformats.org/drawingml/2006/main">
              <a:ext uri="{FF2B5EF4-FFF2-40B4-BE49-F238E27FC236}">
                <a16:creationId xmlns:a16="http://schemas.microsoft.com/office/drawing/2014/main" id="{86E32BAE-7F88-48CB-AA69-509FE13AF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11308837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0" name="Google Shape;302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87a363673a46c4">
            <a:alphaModFix/>
          </a:blip>
          <a:srcRect xmlns:a="http://schemas.openxmlformats.org/drawingml/2006/main" l="0" t="9137" r="0" b="0"/>
          <a:stretch xmlns:a="http://schemas.openxmlformats.org/drawingml/2006/main"/>
        </p:blipFill>
        <p:spPr>
          <a:xfrm xmlns:a="http://schemas.openxmlformats.org/drawingml/2006/main">
            <a:off x="5601178" y="1123284"/>
            <a:ext cx="3816424" cy="2021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1" name="Google Shape;30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d18310a3054ab0">
            <a:alphaModFix/>
          </a:blip>
          <a:srcRect xmlns:a="http://schemas.openxmlformats.org/drawingml/2006/main" l="0" t="8239" r="0" b="6750"/>
          <a:stretch xmlns:a="http://schemas.openxmlformats.org/drawingml/2006/main"/>
        </p:blipFill>
        <p:spPr>
          <a:xfrm xmlns:a="http://schemas.openxmlformats.org/drawingml/2006/main">
            <a:off x="5785576" y="3073524"/>
            <a:ext cx="3928739" cy="19471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4" name="Google Shape;304;p20">
            <a:extLst xmlns:a="http://schemas.openxmlformats.org/drawingml/2006/main">
              <a:ext uri="{FF2B5EF4-FFF2-40B4-BE49-F238E27FC236}">
                <a16:creationId xmlns:a16="http://schemas.microsoft.com/office/drawing/2014/main" id="{DD832AEE-E408-41BF-A218-EFD35CAA1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5622458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2775 identified vulnerabilities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">
            <a:extLst xmlns:a="http://schemas.openxmlformats.org/drawingml/2006/main">
              <a:ext uri="{FF2B5EF4-FFF2-40B4-BE49-F238E27FC236}">
                <a16:creationId xmlns:a16="http://schemas.microsoft.com/office/drawing/2014/main" id="{5AE7F065-394C-4C22-AFD3-C3D797C19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Impact in practice</a:t>
            </a:r>
          </a:p>
        </p:txBody>
      </p:sp>
      <p:sp>
        <p:nvSpPr>
          <p:cNvPr id="306" name="Google Shape;306;p20">
            <a:extLst xmlns:a="http://schemas.openxmlformats.org/drawingml/2006/main">
              <a:ext uri="{FF2B5EF4-FFF2-40B4-BE49-F238E27FC236}">
                <a16:creationId xmlns:a16="http://schemas.microsoft.com/office/drawing/2014/main" id="{C3342DD6-A574-4A1B-A816-F7839454B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13</a:t>
            </a:fld>
          </a:p>
        </p:txBody>
      </p:sp>
      <p:sp>
        <p:nvSpPr>
          <p:cNvPr id="307" name="Google Shape;307;p20">
            <a:extLst xmlns:a="http://schemas.openxmlformats.org/drawingml/2006/main">
              <a:ext uri="{FF2B5EF4-FFF2-40B4-BE49-F238E27FC236}">
                <a16:creationId xmlns:a16="http://schemas.microsoft.com/office/drawing/2014/main" id="{2E432F9A-7632-4AFB-99A8-34EB39B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3" y="1345332"/>
            <a:ext cx="5622458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063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Prioritization based on Severity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CVSS Score &gt; 7.0 (Critical &amp; High)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1" i="0" u="none" cap="none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834</a:t>
            </a:r>
            <a:r>
              <a:rPr sz="1600" b="0" i="0" u="none" cap="none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 vulnerabilities to triage ASAP (1% + 29.1%)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Prioritization based on Exploitability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Proof of Exploitation or Weaponized exploit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Attack Vector reachable by an attacker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1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10</a:t>
            </a:r>
            <a:r>
              <a:rPr sz="16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 vulnerabilities to triage ASAP (0.4%)</a:t>
            </a:r>
          </a:p>
          <a:p xmlns:a="http://schemas.openxmlformats.org/drawingml/2006/main"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673289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21">
            <a:extLst xmlns:a="http://schemas.openxmlformats.org/drawingml/2006/main">
              <a:ext uri="{FF2B5EF4-FFF2-40B4-BE49-F238E27FC236}">
                <a16:creationId xmlns:a16="http://schemas.microsoft.com/office/drawing/2014/main" id="{8A83C778-7B83-42D1-AD30-7905A448EA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ARIANNA KEV focuses on vulnerabilities with evidence of real exploitation.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It includes CISA KEV entries.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It also adds proof-of-exploitation signals from EUVD and verified or weaponized exploits detected by ARIANNA.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/>
              <a:t>This gives broader and faster coverage than relying on CISA KEV alone.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>
                <a:solidFill>
                  <a:schemeClr val="accent3"/>
                </a:solidFill>
              </a:rPr>
              <a:t>Result: faster prioritization and faster remediation.</a:t>
            </a:r>
          </a:p>
        </p:txBody>
      </p:sp>
      <p:sp>
        <p:nvSpPr>
          <p:cNvPr id="313" name="Google Shape;313;p21">
            <a:extLst xmlns:a="http://schemas.openxmlformats.org/drawingml/2006/main">
              <a:ext uri="{FF2B5EF4-FFF2-40B4-BE49-F238E27FC236}">
                <a16:creationId xmlns:a16="http://schemas.microsoft.com/office/drawing/2014/main" id="{E9EB8C4F-1FBC-4C0B-8EC8-ECA88FFF00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ARIANNA KEV catalogue</a:t>
            </a:r>
          </a:p>
        </p:txBody>
      </p:sp>
      <p:sp>
        <p:nvSpPr>
          <p:cNvPr id="314" name="Google Shape;314;p21">
            <a:extLst xmlns:a="http://schemas.openxmlformats.org/drawingml/2006/main">
              <a:ext uri="{FF2B5EF4-FFF2-40B4-BE49-F238E27FC236}">
                <a16:creationId xmlns:a16="http://schemas.microsoft.com/office/drawing/2014/main" id="{64B63C61-B8FE-4CD8-8AA2-E1752F5DBD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7746650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5" name="Google Shape;325;p23">
            <a:extLst xmlns:a="http://schemas.openxmlformats.org/drawingml/2006/main">
              <a:ext uri="{FF2B5EF4-FFF2-40B4-BE49-F238E27FC236}">
                <a16:creationId xmlns:a16="http://schemas.microsoft.com/office/drawing/2014/main" id="{3A9B6947-2F16-4189-B3EC-A74916A98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Export SBOM and HBOM in standard formats such as CycloneDX and SPDX.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/>
              <a:t>Support NTIA minimum requirements.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/>
              <a:t>Exclude selected components when needed.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2200"/>
              <a:t>Export vulnerability reports on demand in PDF or VEX format.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Generate automatic monthly PDF reports with a full audit trail of actions and status changes.</a:t>
            </a:r>
          </a:p>
        </p:txBody>
      </p:sp>
      <p:sp>
        <p:nvSpPr>
          <p:cNvPr id="326" name="Google Shape;326;p23">
            <a:extLst xmlns:a="http://schemas.openxmlformats.org/drawingml/2006/main">
              <a:ext uri="{FF2B5EF4-FFF2-40B4-BE49-F238E27FC236}">
                <a16:creationId xmlns:a16="http://schemas.microsoft.com/office/drawing/2014/main" id="{ACB3699B-F258-49C1-9B96-07EE5D8C24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Reports for customers &amp; regulatory bodies</a:t>
            </a:r>
          </a:p>
        </p:txBody>
      </p:sp>
      <p:sp>
        <p:nvSpPr>
          <p:cNvPr id="327" name="Google Shape;327;p23">
            <a:extLst xmlns:a="http://schemas.openxmlformats.org/drawingml/2006/main">
              <a:ext uri="{FF2B5EF4-FFF2-40B4-BE49-F238E27FC236}">
                <a16:creationId xmlns:a16="http://schemas.microsoft.com/office/drawing/2014/main" id="{8A28DB6A-6E2F-4FF2-B8BD-0C5D3D5DBD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2826945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Google Shape;345;p26">
            <a:extLst xmlns:a="http://schemas.openxmlformats.org/drawingml/2006/main">
              <a:ext uri="{FF2B5EF4-FFF2-40B4-BE49-F238E27FC236}">
                <a16:creationId xmlns:a16="http://schemas.microsoft.com/office/drawing/2014/main" id="{25A374E0-D89F-4CA7-8296-46084BF01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Collaboration among teams in ARIANNA</a:t>
            </a:r>
          </a:p>
        </p:txBody>
      </p:sp>
      <p:sp>
        <p:nvSpPr>
          <p:cNvPr id="346" name="Google Shape;346;p26">
            <a:extLst xmlns:a="http://schemas.openxmlformats.org/drawingml/2006/main">
              <a:ext uri="{FF2B5EF4-FFF2-40B4-BE49-F238E27FC236}">
                <a16:creationId xmlns:a16="http://schemas.microsoft.com/office/drawing/2014/main" id="{F4ECB138-58EE-4186-9C33-6C678EBD80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16</a:t>
            </a:fld>
          </a:p>
        </p:txBody>
      </p:sp>
      <p:pic>
        <p:nvPicPr>
          <p:cNvPr id="362" name="Google Shape;34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f95e597e7e48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7147" y="1561356"/>
            <a:ext cx="1088503" cy="10885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3" name="Google Shape;348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16c74b03d24e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71213" y="3354453"/>
            <a:ext cx="1088503" cy="10885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9" name="Google Shape;349;p26">
            <a:extLst xmlns:a="http://schemas.openxmlformats.org/drawingml/2006/main">
              <a:ext uri="{FF2B5EF4-FFF2-40B4-BE49-F238E27FC236}">
                <a16:creationId xmlns:a16="http://schemas.microsoft.com/office/drawing/2014/main" id="{B7BC5250-85D5-4B37-8FE2-EBF870B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56" y="2388249"/>
            <a:ext cx="108012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88B24B"/>
                </a:solidFill>
                <a:latin typeface="Arial"/>
                <a:ea typeface="Arial"/>
                <a:cs typeface="Arial"/>
              </a:rPr>
              <a:t>TEAM A</a:t>
            </a:r>
          </a:p>
        </p:txBody>
      </p:sp>
      <p:sp>
        <p:nvSpPr>
          <p:cNvPr id="350" name="Google Shape;350;p26">
            <a:extLst xmlns:a="http://schemas.openxmlformats.org/drawingml/2006/main">
              <a:ext uri="{FF2B5EF4-FFF2-40B4-BE49-F238E27FC236}">
                <a16:creationId xmlns:a16="http://schemas.microsoft.com/office/drawing/2014/main" id="{9B3BABB8-3394-4B40-B26B-F4EB7107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819" y="1479363"/>
            <a:ext cx="2254199" cy="1198692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rgbClr val="B4AFAC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A</a:t>
            </a:r>
          </a:p>
        </p:txBody>
      </p:sp>
      <p:sp>
        <p:nvSpPr>
          <p:cNvPr id="351" name="Google Shape;351;p26">
            <a:extLst xmlns:a="http://schemas.openxmlformats.org/drawingml/2006/main">
              <a:ext uri="{FF2B5EF4-FFF2-40B4-BE49-F238E27FC236}">
                <a16:creationId xmlns:a16="http://schemas.microsoft.com/office/drawing/2014/main" id="{0217C5C2-2E24-48C8-BB77-0EF80DF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944" y="3258607"/>
            <a:ext cx="2259074" cy="119279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rgbClr val="B4AFAC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B</a:t>
            </a:r>
          </a:p>
        </p:txBody>
      </p:sp>
      <p:sp>
        <p:nvSpPr>
          <p:cNvPr id="352" name="Google Shape;352;p26">
            <a:extLst xmlns:a="http://schemas.openxmlformats.org/drawingml/2006/main">
              <a:ext uri="{FF2B5EF4-FFF2-40B4-BE49-F238E27FC236}">
                <a16:creationId xmlns:a16="http://schemas.microsoft.com/office/drawing/2014/main" id="{5DD6FBA7-54CE-492F-A32D-65E4DC9D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390" y="1652549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3" name="Google Shape;353;p26">
            <a:extLst xmlns:a="http://schemas.openxmlformats.org/drawingml/2006/main">
              <a:ext uri="{FF2B5EF4-FFF2-40B4-BE49-F238E27FC236}">
                <a16:creationId xmlns:a16="http://schemas.microsoft.com/office/drawing/2014/main" id="{B4B2DBFE-3382-48D5-BA8B-CE3C70F4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440" y="4181346"/>
            <a:ext cx="108012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TEAM B</a:t>
            </a:r>
          </a:p>
        </p:txBody>
      </p:sp>
      <p:sp>
        <p:nvSpPr>
          <p:cNvPr id="354" name="Google Shape;354;p26">
            <a:extLst xmlns:a="http://schemas.openxmlformats.org/drawingml/2006/main">
              <a:ext uri="{FF2B5EF4-FFF2-40B4-BE49-F238E27FC236}">
                <a16:creationId xmlns:a16="http://schemas.microsoft.com/office/drawing/2014/main" id="{6A8E4A7F-44FD-45C6-BBA3-7819529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390" y="3363189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91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5" name="Google Shape;355;p26">
            <a:extLst xmlns:a="http://schemas.openxmlformats.org/drawingml/2006/main">
              <a:ext uri="{FF2B5EF4-FFF2-40B4-BE49-F238E27FC236}">
                <a16:creationId xmlns:a16="http://schemas.microsoft.com/office/drawing/2014/main" id="{0468DE60-4270-4FB5-95CD-D5C6BB3C90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3857487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88B24B"/>
                </a:solidFill>
              </a:rPr>
              <a:t>Different teams can manage their own projects in ARIANNA while sharing visibility where needed.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A system-level team can reuse vulnerability decisions already made by component teams.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200">
                <a:solidFill>
                  <a:schemeClr val="dk2"/>
                </a:solidFill>
              </a:rPr>
              <a:t>That reduces duplicate triage effort and improves consistency across products and organizations.</a:t>
            </a:r>
          </a:p>
        </p:txBody>
      </p:sp>
      <p:sp>
        <p:nvSpPr>
          <p:cNvPr id="356" name="Google Shape;356;p26">
            <a:extLst xmlns:a="http://schemas.openxmlformats.org/drawingml/2006/main">
              <a:ext uri="{FF2B5EF4-FFF2-40B4-BE49-F238E27FC236}">
                <a16:creationId xmlns:a16="http://schemas.microsoft.com/office/drawing/2014/main" id="{CCA4F6B0-E544-44CF-B8B4-F75716D8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62" y="1156063"/>
            <a:ext cx="864096" cy="60995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VULNs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57" name="Google Shape;357;p26">
            <a:extLst xmlns:a="http://schemas.openxmlformats.org/drawingml/2006/main">
              <a:ext uri="{FF2B5EF4-FFF2-40B4-BE49-F238E27FC236}">
                <a16:creationId xmlns:a16="http://schemas.microsoft.com/office/drawing/2014/main" id="{E727A53A-022F-48EC-8A22-29998E8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56" y="2857500"/>
            <a:ext cx="864096" cy="60995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rgbClr val="ED9181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VULNs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2785177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5" name="Google Shape;405;p30">
            <a:extLst xmlns:a="http://schemas.openxmlformats.org/drawingml/2006/main">
              <a:ext uri="{FF2B5EF4-FFF2-40B4-BE49-F238E27FC236}">
                <a16:creationId xmlns:a16="http://schemas.microsoft.com/office/drawing/2014/main" id="{B9575238-D7C4-4189-BB61-E2AFCB4AF5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655856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400"/>
              <a:t>One connected device with 3 processing units: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PU1: i.MX93 MPU with Yocto + JavaScript + Python applications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PU2: STM32F4 MCU with bootloader + application firmware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PU3: ESP32 MCU with application firmware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Two model versions: initial model and an updated ESP32 firmware version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We will show: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The delta between model versions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New and automatically closed vulnerabilities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The high-priority vulnerability view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The exported final report</a:t>
            </a:r>
          </a:p>
        </p:txBody>
      </p:sp>
      <p:sp>
        <p:nvSpPr>
          <p:cNvPr id="406" name="Google Shape;406;p30">
            <a:extLst xmlns:a="http://schemas.openxmlformats.org/drawingml/2006/main">
              <a:ext uri="{FF2B5EF4-FFF2-40B4-BE49-F238E27FC236}">
                <a16:creationId xmlns:a16="http://schemas.microsoft.com/office/drawing/2014/main" id="{503027C0-4340-420A-B70C-BB1E6847C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What the demo will show</a:t>
            </a:r>
          </a:p>
        </p:txBody>
      </p:sp>
      <p:sp>
        <p:nvSpPr>
          <p:cNvPr id="407" name="Google Shape;407;p30">
            <a:extLst xmlns:a="http://schemas.openxmlformats.org/drawingml/2006/main">
              <a:ext uri="{FF2B5EF4-FFF2-40B4-BE49-F238E27FC236}">
                <a16:creationId xmlns:a16="http://schemas.microsoft.com/office/drawing/2014/main" id="{2D5CF676-F808-4229-9B2A-E8334CC9CC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17</a:t>
            </a:fld>
          </a:p>
        </p:txBody>
      </p:sp>
      <p:pic>
        <p:nvPicPr>
          <p:cNvPr id="446" name="Google Shape;408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600266accd46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8232" y="3630103"/>
            <a:ext cx="2664296" cy="153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9" name="Google Shape;409;p30">
            <a:extLst xmlns:a="http://schemas.openxmlformats.org/drawingml/2006/main">
              <a:ext uri="{FF2B5EF4-FFF2-40B4-BE49-F238E27FC236}">
                <a16:creationId xmlns:a16="http://schemas.microsoft.com/office/drawing/2014/main" id="{D70B2585-E59B-48DC-8862-116EB36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433" y="1080071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22225" cmpd="sng">
            <a:solidFill>
              <a:schemeClr val="accent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448" name="Google Shape;410;p30"/>
          <p:cNvCxnSpPr>
            <a:stCxn xmlns:a="http://schemas.openxmlformats.org/drawingml/2006/main" id="411" idx="2"/>
          </p:cNvCxnSpPr>
          <p:nvPr/>
        </p:nvCxnSpPr>
        <p:spPr>
          <a:xfrm xmlns:a="http://schemas.openxmlformats.org/drawingml/2006/main">
            <a:off x="8400929" y="2086996"/>
            <a:ext cx="0" cy="1854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49" name="Google Shape;412;p30"/>
          <p:cNvCxnSpPr>
            <a:stCxn xmlns:a="http://schemas.openxmlformats.org/drawingml/2006/main" id="413" idx="2"/>
          </p:cNvCxnSpPr>
          <p:nvPr/>
        </p:nvCxnSpPr>
        <p:spPr>
          <a:xfrm xmlns:a="http://schemas.openxmlformats.org/drawingml/2006/main">
            <a:off x="8971666" y="3456339"/>
            <a:ext cx="0" cy="376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50" name="Google Shape;414;p30"/>
          <p:cNvCxnSpPr>
            <a:stCxn xmlns:a="http://schemas.openxmlformats.org/drawingml/2006/main" id="409" idx="2"/>
          </p:cNvCxnSpPr>
          <p:nvPr/>
        </p:nvCxnSpPr>
        <p:spPr>
          <a:xfrm xmlns:a="http://schemas.openxmlformats.org/drawingml/2006/main">
            <a:off x="7960320" y="1428585"/>
            <a:ext cx="0" cy="252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411" name="Google Shape;411;p30">
            <a:extLst xmlns:a="http://schemas.openxmlformats.org/drawingml/2006/main">
              <a:ext uri="{FF2B5EF4-FFF2-40B4-BE49-F238E27FC236}">
                <a16:creationId xmlns:a16="http://schemas.microsoft.com/office/drawing/2014/main" id="{33C04E56-6492-4425-A60E-88F4AED0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296" y="1738482"/>
            <a:ext cx="131326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2225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413" name="Google Shape;413;p30">
            <a:extLst xmlns:a="http://schemas.openxmlformats.org/drawingml/2006/main">
              <a:ext uri="{FF2B5EF4-FFF2-40B4-BE49-F238E27FC236}">
                <a16:creationId xmlns:a16="http://schemas.microsoft.com/office/drawing/2014/main" id="{AAF85AE2-C526-4226-9F9E-171A6D6F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298" y="3107825"/>
            <a:ext cx="128873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9600"/>
          </a:solidFill>
          <a:ln xmlns:a="http://schemas.openxmlformats.org/drawingml/2006/main" w="22225" cmpd="sng">
            <a:solidFill>
              <a:srgbClr val="FD960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20382216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9" name="Google Shape;419;p31">
            <a:extLst xmlns:a="http://schemas.openxmlformats.org/drawingml/2006/main">
              <a:ext uri="{FF2B5EF4-FFF2-40B4-BE49-F238E27FC236}">
                <a16:creationId xmlns:a16="http://schemas.microsoft.com/office/drawing/2014/main" id="{DE1A30B4-5A98-4BA4-96D6-61DF1F5C1F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1448" y="2641476"/>
            <a:ext cx="993140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Thank you</a:t>
            </a:r>
          </a:p>
        </p:txBody>
      </p:sp>
      <p:pic>
        <p:nvPicPr>
          <p:cNvPr id="422" name="Google Shape;420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84f3a978b343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3456" y="4873724"/>
            <a:ext cx="2133144" cy="68210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28267475"/>
      </p:ext>
    </p:extLst>
  </p:cSld>
</p:sld>
</file>

<file path=ppt/theme/theme1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2026-06-23T13:43:35.1120000Z</dcterms:created>
  <dcterms:modified xsi:type="dcterms:W3CDTF">2026-06-23T13:43:35.1120000Z</dcterms:modified>
</coreProperties>
</file>