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0160000" cy="5715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286"/>
  </p:normalViewPr>
  <p:slideViewPr>
    <p:cSldViewPr snapToGrid="0">
      <p:cViewPr varScale="1">
        <p:scale>
          <a:sx n="107" d="100"/>
          <a:sy n="107" d="100"/>
        </p:scale>
        <p:origin x="132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CVSS </a:t>
            </a:r>
            <a:r>
              <a:rPr lang="nl-NL" dirty="0" err="1"/>
              <a:t>tells</a:t>
            </a:r>
            <a:r>
              <a:rPr lang="nl-NL" dirty="0"/>
              <a:t> </a:t>
            </a:r>
            <a:r>
              <a:rPr lang="nl-NL" dirty="0" err="1"/>
              <a:t>us</a:t>
            </a:r>
            <a:r>
              <a:rPr lang="nl-NL" dirty="0"/>
              <a:t>:</a:t>
            </a:r>
          </a:p>
          <a:p>
            <a:r>
              <a:rPr lang="nl-NL" dirty="0"/>
              <a:t>"How bad </a:t>
            </a:r>
            <a:r>
              <a:rPr lang="nl-NL" dirty="0" err="1"/>
              <a:t>could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vulnerability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?"</a:t>
            </a:r>
          </a:p>
          <a:p>
            <a:r>
              <a:rPr lang="nl-NL" dirty="0"/>
              <a:t>It does </a:t>
            </a:r>
            <a:r>
              <a:rPr lang="nl-NL" b="1" dirty="0" err="1"/>
              <a:t>not</a:t>
            </a:r>
            <a:r>
              <a:rPr lang="nl-NL" dirty="0"/>
              <a:t> </a:t>
            </a:r>
            <a:r>
              <a:rPr lang="nl-NL" dirty="0" err="1"/>
              <a:t>tell</a:t>
            </a:r>
            <a:r>
              <a:rPr lang="nl-NL" dirty="0"/>
              <a:t> </a:t>
            </a:r>
            <a:r>
              <a:rPr lang="nl-NL" dirty="0" err="1"/>
              <a:t>us</a:t>
            </a:r>
            <a:r>
              <a:rPr lang="nl-NL" dirty="0"/>
              <a:t>:</a:t>
            </a:r>
          </a:p>
          <a:p>
            <a:r>
              <a:rPr lang="nl-NL" dirty="0"/>
              <a:t>"How bad is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i="1" dirty="0" err="1"/>
              <a:t>my</a:t>
            </a:r>
            <a:r>
              <a:rPr lang="nl-NL" dirty="0"/>
              <a:t> device?"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1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 traditional IT systems we think mainly about software vulnerabilities.</a:t>
            </a:r>
            <a:br>
              <a:rPr dirty="0"/>
            </a:br>
            <a:r>
              <a:rPr sz="11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But smart connected devices are different. They include multiple hardware components, secure elements, and third-party modules.</a:t>
            </a:r>
            <a:br>
              <a:rPr dirty="0"/>
            </a:br>
            <a:r>
              <a:rPr sz="11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Some vulnerabilities exist in hardware, and many critical assets are managed directly by hardware components.</a:t>
            </a:r>
            <a:br>
              <a:rPr dirty="0"/>
            </a:br>
            <a:r>
              <a:rPr sz="11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So without a model that includes hardware, vulnerability management for devices is incomplete.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Today most vulnerability management processes are based mainly on severity scores like CVSS.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And CVSS is absolutely useful — it gives us a standard way to measure how dangerous a vulnerability </a:t>
            </a:r>
            <a:r>
              <a:rPr sz="1100" b="0" i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could</a:t>
            </a:r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 be.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indent="-69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The problem is that severity does not tell us how dangerous a vulnerability is for </a:t>
            </a:r>
            <a:r>
              <a:rPr i="1"/>
              <a:t>our specific device</a:t>
            </a:r>
            <a:r>
              <a:t>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-69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We are measuring vulnerabilities correctly, but we are prioritizing them incorrectly.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t>Smart connected devices have different risks than IT systems</a:t>
            </a:r>
          </a:p>
          <a:p>
            <a:pPr marL="549275" indent="-28575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t>Most scoring systems were created for IT environments.</a:t>
            </a:r>
            <a:br/>
            <a:r>
              <a:t>But smart connected devices have firmware, hardware dependencies, and very different attack surfaces.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Left side:</a:t>
            </a:r>
          </a:p>
          <a:p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200 vulnerabilities</a:t>
            </a:r>
            <a:br/>
            <a:r>
              <a:t>panic</a:t>
            </a:r>
            <a:br/>
            <a:r>
              <a:t>random fixing</a:t>
            </a:r>
            <a:br/>
            <a:r>
              <a:t>delayed release</a:t>
            </a:r>
          </a:p>
          <a:p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Right side:</a:t>
            </a:r>
          </a:p>
          <a:p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Context analysis</a:t>
            </a:r>
            <a:br/>
            <a:r>
              <a:t>real risk identified</a:t>
            </a:r>
            <a:br/>
            <a:r>
              <a:t>focused remediation</a:t>
            </a:r>
            <a:br/>
            <a:r>
              <a:t>faster certification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/Last" type="title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>
            <a:extLst>
              <a:ext uri="{FF2B5EF4-FFF2-40B4-BE49-F238E27FC236}">
                <a16:creationId xmlns:a16="http://schemas.microsoft.com/office/drawing/2014/main" id="{34912226-AFB2-4AF8-A982-EE1D00B82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" y="3718216"/>
            <a:ext cx="993140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3">
            <a:extLst>
              <a:ext uri="{FF2B5EF4-FFF2-40B4-BE49-F238E27FC236}">
                <a16:creationId xmlns:a16="http://schemas.microsoft.com/office/drawing/2014/main" id="{726D5D76-C91C-4581-8B23-1BDD33386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" y="4125939"/>
            <a:ext cx="9931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600" b="1" i="0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250"/>
            </a:lvl2pPr>
            <a:lvl3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125"/>
            </a:lvl3pPr>
            <a:lvl4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000"/>
            </a:lvl4pPr>
            <a:lvl5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000"/>
            </a:lvl5pPr>
            <a:lvl6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6pPr>
            <a:lvl7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7pPr>
            <a:lvl8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8pPr>
            <a:lvl9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pic>
        <p:nvPicPr>
          <p:cNvPr id="12" name="Google Shape;12;p3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6344" y="5017740"/>
            <a:ext cx="1820900" cy="48615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>
            <a:extLst>
              <a:ext uri="{FF2B5EF4-FFF2-40B4-BE49-F238E27FC236}">
                <a16:creationId xmlns:a16="http://schemas.microsoft.com/office/drawing/2014/main" id="{588DCA2B-DD5A-489F-B15B-6C5076B49B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160000" cy="849600"/>
          </a:xfrm>
          <a:prstGeom prst="rect">
            <a:avLst/>
          </a:prstGeom>
          <a:solidFill>
            <a:srgbClr val="41BAB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4">
            <a:extLst>
              <a:ext uri="{FF2B5EF4-FFF2-40B4-BE49-F238E27FC236}">
                <a16:creationId xmlns:a16="http://schemas.microsoft.com/office/drawing/2014/main" id="{1B16FB58-D9FB-4522-889E-534E98144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>
            <a:lvl1pPr marL="45720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  <a:defRPr sz="2400" b="0">
                <a:latin typeface="Montserrat"/>
                <a:ea typeface="Montserrat"/>
                <a:cs typeface="Montserrat"/>
              </a:defRPr>
            </a:lvl1pPr>
            <a:lvl2pPr marL="9144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800" b="0" i="0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400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3pPr>
            <a:lvl4pPr marL="18288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/>
            </a:lvl4pPr>
            <a:lvl5pPr marL="22860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/>
            </a:lvl5pPr>
            <a:lvl6pPr marL="27432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4">
            <a:extLst>
              <a:ext uri="{FF2B5EF4-FFF2-40B4-BE49-F238E27FC236}">
                <a16:creationId xmlns:a16="http://schemas.microsoft.com/office/drawing/2014/main" id="{EB06AEBF-F102-40AB-89FD-332108A3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>
            <a:extLst>
              <a:ext uri="{FF2B5EF4-FFF2-40B4-BE49-F238E27FC236}">
                <a16:creationId xmlns:a16="http://schemas.microsoft.com/office/drawing/2014/main" id="{67CB6D57-56DF-4415-BB1E-82630828FA69}"/>
              </a:ext>
            </a:extLst>
          </p:cNvPr>
          <p:cNvSpPr>
            <a:spLocks noGrp="1"/>
          </p:cNvSpPr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18" name="Google Shape;18;p34">
            <a:extLst>
              <a:ext uri="{FF2B5EF4-FFF2-40B4-BE49-F238E27FC236}">
                <a16:creationId xmlns:a16="http://schemas.microsoft.com/office/drawing/2014/main" id="{2CB57257-476B-443A-BCE2-1F101C403D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  <a:endParaRPr/>
          </a:p>
        </p:txBody>
      </p:sp>
      <p:pic>
        <p:nvPicPr>
          <p:cNvPr id="19" name="Google Shape;19;p3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400" y="5075910"/>
            <a:ext cx="489600" cy="489000"/>
          </a:xfrm>
          <a:prstGeom prst="rect">
            <a:avLst/>
          </a:prstGeom>
          <a:ln>
            <a:noFill/>
          </a:ln>
        </p:spPr>
      </p:pic>
      <p:pic>
        <p:nvPicPr>
          <p:cNvPr id="20" name="Google Shape;20;p3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665" y="5084040"/>
            <a:ext cx="1656184" cy="52958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bg>
      <p:bgPr>
        <a:solidFill>
          <a:srgbClr val="41BA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>
            <a:extLst>
              <a:ext uri="{FF2B5EF4-FFF2-40B4-BE49-F238E27FC236}">
                <a16:creationId xmlns:a16="http://schemas.microsoft.com/office/drawing/2014/main" id="{93B9BB04-0BF6-488B-9DF7-FF750D3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531" y="1428344"/>
            <a:ext cx="8406209" cy="17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5">
            <a:extLst>
              <a:ext uri="{FF2B5EF4-FFF2-40B4-BE49-F238E27FC236}">
                <a16:creationId xmlns:a16="http://schemas.microsoft.com/office/drawing/2014/main" id="{F60B23AA-A484-4898-BB09-AC9ED8EC3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531" y="3137318"/>
            <a:ext cx="8406209" cy="41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800" b="0" i="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9144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2pPr>
            <a:lvl3pPr marL="13716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3pPr>
            <a:lvl4pPr marL="18288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4pPr>
            <a:lvl5pPr marL="22860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5pPr>
            <a:lvl6pPr marL="27432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pic>
        <p:nvPicPr>
          <p:cNvPr id="24" name="Google Shape;24;p35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456" y="5076942"/>
            <a:ext cx="1669161" cy="53843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OT Section">
  <p:cSld name="IOT Section">
    <p:bg>
      <p:bgPr>
        <a:solidFill>
          <a:srgbClr val="3C3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>
            <a:extLst>
              <a:ext uri="{FF2B5EF4-FFF2-40B4-BE49-F238E27FC236}">
                <a16:creationId xmlns:a16="http://schemas.microsoft.com/office/drawing/2014/main" id="{59C4E349-DB66-42C1-8824-FA58FDC3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531" y="1428344"/>
            <a:ext cx="8406209" cy="17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6">
            <a:extLst>
              <a:ext uri="{FF2B5EF4-FFF2-40B4-BE49-F238E27FC236}">
                <a16:creationId xmlns:a16="http://schemas.microsoft.com/office/drawing/2014/main" id="{193A7C33-6008-4FA5-A23F-534A00C92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531" y="3137318"/>
            <a:ext cx="8406209" cy="41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800" b="0" i="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9144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2pPr>
            <a:lvl3pPr marL="13716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3pPr>
            <a:lvl4pPr marL="18288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4pPr>
            <a:lvl5pPr marL="22860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5pPr>
            <a:lvl6pPr marL="27432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3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456" y="5076942"/>
            <a:ext cx="1669161" cy="53843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7">
            <a:extLst>
              <a:ext uri="{FF2B5EF4-FFF2-40B4-BE49-F238E27FC236}">
                <a16:creationId xmlns:a16="http://schemas.microsoft.com/office/drawing/2014/main" id="{D0897A4F-87D7-44D5-8DB9-7F8E15DA1E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160000" cy="849600"/>
          </a:xfrm>
          <a:prstGeom prst="rect">
            <a:avLst/>
          </a:prstGeom>
          <a:solidFill>
            <a:srgbClr val="41BAB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7">
            <a:extLst>
              <a:ext uri="{FF2B5EF4-FFF2-40B4-BE49-F238E27FC236}">
                <a16:creationId xmlns:a16="http://schemas.microsoft.com/office/drawing/2014/main" id="{E9AD88D0-75A0-4A0E-B8D5-939F98F67D1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  <a:endParaRPr/>
          </a:p>
        </p:txBody>
      </p:sp>
      <p:sp>
        <p:nvSpPr>
          <p:cNvPr id="32" name="Google Shape;32;p37">
            <a:extLst>
              <a:ext uri="{FF2B5EF4-FFF2-40B4-BE49-F238E27FC236}">
                <a16:creationId xmlns:a16="http://schemas.microsoft.com/office/drawing/2014/main" id="{07F6E540-54BE-4C8E-A8C0-DF7EAE5B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75" y="131950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7">
            <a:extLst>
              <a:ext uri="{FF2B5EF4-FFF2-40B4-BE49-F238E27FC236}">
                <a16:creationId xmlns:a16="http://schemas.microsoft.com/office/drawing/2014/main" id="{785D5FF3-2E11-412F-A3FB-B5A131D2CDE7}"/>
              </a:ext>
            </a:extLst>
          </p:cNvPr>
          <p:cNvSpPr>
            <a:spLocks noGrp="1"/>
          </p:cNvSpPr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pic>
        <p:nvPicPr>
          <p:cNvPr id="34" name="Google Shape;34;p37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400" y="5075910"/>
            <a:ext cx="489600" cy="489000"/>
          </a:xfrm>
          <a:prstGeom prst="rect">
            <a:avLst/>
          </a:prstGeom>
          <a:ln>
            <a:noFill/>
          </a:ln>
        </p:spPr>
      </p:pic>
      <p:pic>
        <p:nvPicPr>
          <p:cNvPr id="35" name="Google Shape;35;p3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665" y="5084040"/>
            <a:ext cx="1656184" cy="52958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im Red!">
  <p:cSld name="Claim Red!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>
            <a:extLst>
              <a:ext uri="{FF2B5EF4-FFF2-40B4-BE49-F238E27FC236}">
                <a16:creationId xmlns:a16="http://schemas.microsoft.com/office/drawing/2014/main" id="{F225510D-2F5B-42A9-96F3-1C844C52B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219" y="2044244"/>
            <a:ext cx="4971567" cy="162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8">
            <a:extLst>
              <a:ext uri="{FF2B5EF4-FFF2-40B4-BE49-F238E27FC236}">
                <a16:creationId xmlns:a16="http://schemas.microsoft.com/office/drawing/2014/main" id="{8AC6AE9A-B7C0-431B-83DB-29F0CB424D7A}"/>
              </a:ext>
            </a:extLst>
          </p:cNvPr>
          <p:cNvSpPr>
            <a:spLocks noGrp="1"/>
          </p:cNvSpPr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39" name="Google Shape;39;p38">
            <a:extLst>
              <a:ext uri="{FF2B5EF4-FFF2-40B4-BE49-F238E27FC236}">
                <a16:creationId xmlns:a16="http://schemas.microsoft.com/office/drawing/2014/main" id="{2F862C8E-A47D-4461-AD13-FD5FB0CE186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  <a:endParaRPr/>
          </a:p>
        </p:txBody>
      </p:sp>
      <p:pic>
        <p:nvPicPr>
          <p:cNvPr id="40" name="Google Shape;40;p38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400" y="5075910"/>
            <a:ext cx="489600" cy="489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im Green!">
  <p:cSld name="Claim Green!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>
            <a:extLst>
              <a:ext uri="{FF2B5EF4-FFF2-40B4-BE49-F238E27FC236}">
                <a16:creationId xmlns:a16="http://schemas.microsoft.com/office/drawing/2014/main" id="{63C71FCB-744B-42BE-88C8-A1D35A08D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219" y="2044244"/>
            <a:ext cx="4971567" cy="162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9">
            <a:extLst>
              <a:ext uri="{FF2B5EF4-FFF2-40B4-BE49-F238E27FC236}">
                <a16:creationId xmlns:a16="http://schemas.microsoft.com/office/drawing/2014/main" id="{E4274C19-7C55-4CCE-8CA8-1461844463CC}"/>
              </a:ext>
            </a:extLst>
          </p:cNvPr>
          <p:cNvSpPr>
            <a:spLocks noGrp="1"/>
          </p:cNvSpPr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44" name="Google Shape;44;p39">
            <a:extLst>
              <a:ext uri="{FF2B5EF4-FFF2-40B4-BE49-F238E27FC236}">
                <a16:creationId xmlns:a16="http://schemas.microsoft.com/office/drawing/2014/main" id="{D16423BC-404A-43E7-B910-8BC215F4D9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  <a:endParaRPr/>
          </a:p>
        </p:txBody>
      </p:sp>
      <p:pic>
        <p:nvPicPr>
          <p:cNvPr id="45" name="Google Shape;45;p3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400" y="5075910"/>
            <a:ext cx="489600" cy="489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im Yellow!">
  <p:cSld name="Claim Yellow!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0">
            <a:extLst>
              <a:ext uri="{FF2B5EF4-FFF2-40B4-BE49-F238E27FC236}">
                <a16:creationId xmlns:a16="http://schemas.microsoft.com/office/drawing/2014/main" id="{B6A09ECF-FD26-463B-B9F9-E0BB49D0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219" y="2044244"/>
            <a:ext cx="4971567" cy="162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0">
            <a:extLst>
              <a:ext uri="{FF2B5EF4-FFF2-40B4-BE49-F238E27FC236}">
                <a16:creationId xmlns:a16="http://schemas.microsoft.com/office/drawing/2014/main" id="{F010A678-6632-41B1-8BC4-535B53368C48}"/>
              </a:ext>
            </a:extLst>
          </p:cNvPr>
          <p:cNvSpPr>
            <a:spLocks noGrp="1"/>
          </p:cNvSpPr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49" name="Google Shape;49;p40">
            <a:extLst>
              <a:ext uri="{FF2B5EF4-FFF2-40B4-BE49-F238E27FC236}">
                <a16:creationId xmlns:a16="http://schemas.microsoft.com/office/drawing/2014/main" id="{5415075A-C516-4258-880A-BCD021F57E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  <a:endParaRPr/>
          </a:p>
        </p:txBody>
      </p:sp>
      <p:pic>
        <p:nvPicPr>
          <p:cNvPr id="50" name="Google Shape;50;p40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4554" y="5076000"/>
            <a:ext cx="489600" cy="489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im Grey!">
  <p:cSld name="Claim Grey!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>
            <a:extLst>
              <a:ext uri="{FF2B5EF4-FFF2-40B4-BE49-F238E27FC236}">
                <a16:creationId xmlns:a16="http://schemas.microsoft.com/office/drawing/2014/main" id="{C0C6C357-F754-4BA8-A1DA-FA76624A0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219" y="2044244"/>
            <a:ext cx="4971567" cy="162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1">
            <a:extLst>
              <a:ext uri="{FF2B5EF4-FFF2-40B4-BE49-F238E27FC236}">
                <a16:creationId xmlns:a16="http://schemas.microsoft.com/office/drawing/2014/main" id="{397CD1DB-201C-4BCE-BCDF-B52569F4A75E}"/>
              </a:ext>
            </a:extLst>
          </p:cNvPr>
          <p:cNvSpPr>
            <a:spLocks noGrp="1"/>
          </p:cNvSpPr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Private &amp; Confidential | Copyright © 2023 Security Pattern s.r.l.</a:t>
            </a:r>
          </a:p>
        </p:txBody>
      </p:sp>
      <p:sp>
        <p:nvSpPr>
          <p:cNvPr id="54" name="Google Shape;54;p41">
            <a:extLst>
              <a:ext uri="{FF2B5EF4-FFF2-40B4-BE49-F238E27FC236}">
                <a16:creationId xmlns:a16="http://schemas.microsoft.com/office/drawing/2014/main" id="{FD84C83E-5120-4454-86B2-B08709CAB6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  <a:endParaRPr/>
          </a:p>
        </p:txBody>
      </p:sp>
      <p:pic>
        <p:nvPicPr>
          <p:cNvPr id="55" name="Google Shape;55;p41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4554" y="5076000"/>
            <a:ext cx="489600" cy="489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2">
            <a:extLst>
              <a:ext uri="{FF2B5EF4-FFF2-40B4-BE49-F238E27FC236}">
                <a16:creationId xmlns:a16="http://schemas.microsoft.com/office/drawing/2014/main" id="{8A584AA8-D0A0-47F3-8E81-3BA3AB21F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87" y="515938"/>
            <a:ext cx="5810251" cy="110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5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32">
            <a:extLst>
              <a:ext uri="{FF2B5EF4-FFF2-40B4-BE49-F238E27FC236}">
                <a16:creationId xmlns:a16="http://schemas.microsoft.com/office/drawing/2014/main" id="{D09A4027-9426-4EA1-B4EB-0F2041B33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0350" y="1848394"/>
            <a:ext cx="8446407" cy="348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55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●"/>
              <a:defRPr sz="20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914400" indent="-33445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667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2pPr>
            <a:lvl3pPr marL="1371600" indent="-313246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333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3pPr>
            <a:lvl4pPr marL="1828800" indent="-30270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167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4pPr>
            <a:lvl5pPr marL="2286000" indent="-30270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167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5pPr>
            <a:lvl6pPr marL="27432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>
            <a:extLst>
              <a:ext uri="{FF2B5EF4-FFF2-40B4-BE49-F238E27FC236}">
                <a16:creationId xmlns:a16="http://schemas.microsoft.com/office/drawing/2014/main" id="{7463A3CA-5424-4D8C-A823-0047B1BD6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89" y="1273324"/>
            <a:ext cx="9931400" cy="83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/>
              <a:t>Get grip on product security with ARIANNA</a:t>
            </a:r>
          </a:p>
        </p:txBody>
      </p:sp>
      <p:sp>
        <p:nvSpPr>
          <p:cNvPr id="61" name="Google Shape;61;p1">
            <a:extLst>
              <a:ext uri="{FF2B5EF4-FFF2-40B4-BE49-F238E27FC236}">
                <a16:creationId xmlns:a16="http://schemas.microsoft.com/office/drawing/2014/main" id="{B6E32E98-F1EC-4777-A8B2-761546A43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89" y="1962764"/>
            <a:ext cx="9931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/>
              <a:t>HBOM &amp; SBOM creation | Vulnerability monitoring | Vulnerability management</a:t>
            </a:r>
          </a:p>
        </p:txBody>
      </p:sp>
      <p:sp>
        <p:nvSpPr>
          <p:cNvPr id="62" name="Google Shape;62;p1">
            <a:extLst>
              <a:ext uri="{FF2B5EF4-FFF2-40B4-BE49-F238E27FC236}">
                <a16:creationId xmlns:a16="http://schemas.microsoft.com/office/drawing/2014/main" id="{5F8D4CBB-1823-4A1D-AA18-9EAA20E89617}"/>
              </a:ext>
            </a:extLst>
          </p:cNvPr>
          <p:cNvSpPr>
            <a:spLocks noGrp="1"/>
          </p:cNvSpPr>
          <p:nvPr/>
        </p:nvSpPr>
        <p:spPr>
          <a:xfrm>
            <a:off x="8224341" y="4729708"/>
            <a:ext cx="177644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ARIANNA is a product by</a:t>
            </a:r>
          </a:p>
        </p:txBody>
      </p:sp>
      <p:pic>
        <p:nvPicPr>
          <p:cNvPr id="68" name="Google Shape;63;p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576" y="2237084"/>
            <a:ext cx="4711535" cy="3533651"/>
          </a:xfrm>
          <a:prstGeom prst="rect">
            <a:avLst/>
          </a:prstGeom>
          <a:ln>
            <a:noFill/>
          </a:ln>
        </p:spPr>
      </p:pic>
      <p:pic>
        <p:nvPicPr>
          <p:cNvPr id="69" name="Google Shape;64;p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6896" y="2801688"/>
            <a:ext cx="3456385" cy="110523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891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0AD694D-E915-451D-80E9-BBE778BC7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8805668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r>
              <a:rPr sz="2000"/>
              <a:t>CRA requires continuous vulnerability management across the full product lifecycle.</a:t>
            </a:r>
          </a:p>
          <a:p>
            <a:r>
              <a:rPr sz="2000"/>
              <a:t>Manufacturers must maintain SBOMs, monitor vulnerabilities, assess risk, and address findings.</a:t>
            </a:r>
          </a:p>
          <a:p>
            <a:r>
              <a:rPr sz="2000"/>
              <a:t>Many organizations have some of the building blocks, but not an operational process that scales.</a:t>
            </a: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07041DA8-5B84-4B77-AA8B-719CAA36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>
              <a:buNone/>
            </a:pPr>
            <a:r>
              <a:t>Why Manufacturers Struggle with CRA</a:t>
            </a:r>
          </a:p>
        </p:txBody>
      </p:sp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255AA8EB-98D8-4746-9625-F991A4B178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2</a:t>
            </a:fld>
            <a:endParaRPr/>
          </a:p>
        </p:txBody>
      </p:sp>
      <p:pic>
        <p:nvPicPr>
          <p:cNvPr id="77" name="Afbeelding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838" y="3370492"/>
            <a:ext cx="3352847" cy="187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92292B43-2E71-5A4C-098E-EB2EC03CF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8400553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r>
              <a:rPr dirty="0"/>
              <a:t>Connected products combine hardware and software and often remain in the field for years.</a:t>
            </a:r>
          </a:p>
          <a:p>
            <a:r>
              <a:rPr dirty="0"/>
              <a:t>Manual vulnerability tracking does not scale in that environment.</a:t>
            </a:r>
          </a:p>
          <a:p>
            <a:r>
              <a:rPr dirty="0"/>
              <a:t>ARIANNA brings HBOM + SBOM visibility, monitoring, prioritization, and reporting into one platform.</a:t>
            </a: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3AE2A33D-0FFF-BF33-2B33-9D63A130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Why ARIANNA exists</a:t>
            </a:r>
          </a:p>
        </p:txBody>
      </p:sp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1142A1CD-37F2-2E59-1326-EA987ADA78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353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29FF4BA-8CA4-4A3E-0CBD-AFFF4923F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8214746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r>
              <a:rPr sz="2000" dirty="0"/>
              <a:t>A connected device can contain thousands of known vulnerabilities.</a:t>
            </a:r>
          </a:p>
          <a:p>
            <a:r>
              <a:rPr sz="2000" dirty="0"/>
              <a:t>CVSS-only prioritization can leave teams with hundreds of issues to review.</a:t>
            </a:r>
          </a:p>
          <a:p>
            <a:r>
              <a:rPr sz="2000" dirty="0"/>
              <a:t>ARIANNA prioritizes based on exploitability and device context, reducing the focus to the vulnerabilities that matter most.</a:t>
            </a: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1BD258A6-17C1-641A-975D-8F4879F4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>
              <a:buNone/>
            </a:pPr>
            <a:r>
              <a:t>From 2,775 Vulnerabilities to 10 Actions</a:t>
            </a:r>
          </a:p>
        </p:txBody>
      </p:sp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B848EDD9-9D97-8563-D959-242480BCA0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4</a:t>
            </a:fld>
            <a:endParaRPr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7D0DCB51-EA93-DC1C-E7FD-2B349B6072CD}"/>
              </a:ext>
            </a:extLst>
          </p:cNvPr>
          <p:cNvSpPr txBox="1"/>
          <p:nvPr/>
        </p:nvSpPr>
        <p:spPr>
          <a:xfrm>
            <a:off x="629392" y="4225054"/>
            <a:ext cx="714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dirty="0"/>
              <a:t>CVSS </a:t>
            </a:r>
            <a:r>
              <a:rPr lang="nl-NL" sz="2400" dirty="0" err="1"/>
              <a:t>measures</a:t>
            </a:r>
            <a:r>
              <a:rPr lang="nl-NL" sz="2400" dirty="0"/>
              <a:t> </a:t>
            </a:r>
            <a:r>
              <a:rPr lang="nl-NL" sz="2400" dirty="0" err="1"/>
              <a:t>severity</a:t>
            </a:r>
            <a:r>
              <a:rPr lang="nl-NL" sz="2400" dirty="0"/>
              <a:t>. ARIANNA </a:t>
            </a:r>
            <a:r>
              <a:rPr lang="nl-NL" sz="2400" dirty="0" err="1"/>
              <a:t>prioritizes</a:t>
            </a:r>
            <a:r>
              <a:rPr lang="nl-NL" sz="2400" dirty="0"/>
              <a:t> risk.</a:t>
            </a:r>
          </a:p>
        </p:txBody>
      </p:sp>
    </p:spTree>
    <p:extLst>
      <p:ext uri="{BB962C8B-B14F-4D97-AF65-F5344CB8AC3E}">
        <p14:creationId xmlns:p14="http://schemas.microsoft.com/office/powerpoint/2010/main" val="1714589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69;p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2258" y="1796653"/>
            <a:ext cx="5224462" cy="3918347"/>
          </a:xfrm>
          <a:prstGeom prst="rect">
            <a:avLst/>
          </a:prstGeom>
          <a:ln>
            <a:noFill/>
          </a:ln>
        </p:spPr>
      </p:pic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DCDBA434-48A9-BB5E-1DF7-7E2DD974B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6053899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dirty="0"/>
              <a:t>ARIANNA helps device manufacturers run an efficient vulnerability management process.</a:t>
            </a:r>
          </a:p>
          <a:p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 dirty="0"/>
              <a:t>Build and maintain the device model (HBOM + SBOM)</a:t>
            </a:r>
          </a:p>
          <a:p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 dirty="0"/>
              <a:t>Continuously monitor new vulnerabilities</a:t>
            </a:r>
          </a:p>
          <a:p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 dirty="0"/>
              <a:t>Prioritize based on real exploitability and device context</a:t>
            </a:r>
          </a:p>
          <a:p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 dirty="0"/>
              <a:t>Export reports for customers, internal teams, and regulators</a:t>
            </a: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F0CF8B1E-FAA5-5241-1C1A-30E89CB8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How ARIANNA operationalizes product security</a:t>
            </a:r>
          </a:p>
        </p:txBody>
      </p:sp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ECB7CD20-DB45-DCBC-D85E-322D0AB91B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557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>
            <a:extLst>
              <a:ext uri="{FF2B5EF4-FFF2-40B4-BE49-F238E27FC236}">
                <a16:creationId xmlns:a16="http://schemas.microsoft.com/office/drawing/2014/main" id="{C1D466F9-AA2B-4227-96C4-614E90138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65924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 dirty="0"/>
              <a:t>Hardware Components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dirty="0"/>
              <a:t>MCUs | MPUs | Memories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dirty="0" err="1"/>
              <a:t>WiFi</a:t>
            </a:r>
            <a:r>
              <a:rPr sz="1600" dirty="0"/>
              <a:t>, BLE, radio modules | Secure Elements | TPM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 dirty="0">
                <a:solidFill>
                  <a:schemeClr val="dk2"/>
                </a:solidFill>
              </a:rPr>
              <a:t>Vulnerability management for devices is incomplete without the hardware model.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dirty="0"/>
              <a:t>Hardware components manage critical assets.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dirty="0">
                <a:solidFill>
                  <a:schemeClr val="accent2"/>
                </a:solidFill>
              </a:rPr>
              <a:t>Hardware components have vulnerabilities.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dirty="0"/>
              <a:t>They are not exposed to attackers in the same way as software.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dirty="0">
                <a:solidFill>
                  <a:schemeClr val="accent2"/>
                </a:solidFill>
              </a:rPr>
              <a:t>The hardware model helps exclude non-reachable software vulnerabilities.</a:t>
            </a:r>
          </a:p>
        </p:txBody>
      </p:sp>
      <p:sp>
        <p:nvSpPr>
          <p:cNvPr id="84" name="Google Shape;84;p4">
            <a:extLst>
              <a:ext uri="{FF2B5EF4-FFF2-40B4-BE49-F238E27FC236}">
                <a16:creationId xmlns:a16="http://schemas.microsoft.com/office/drawing/2014/main" id="{9F3BAA72-6995-4DC2-9237-A902F9C6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Smart devices are not just software</a:t>
            </a:r>
          </a:p>
        </p:txBody>
      </p:sp>
      <p:sp>
        <p:nvSpPr>
          <p:cNvPr id="85" name="Google Shape;85;p4">
            <a:extLst>
              <a:ext uri="{FF2B5EF4-FFF2-40B4-BE49-F238E27FC236}">
                <a16:creationId xmlns:a16="http://schemas.microsoft.com/office/drawing/2014/main" id="{C7CF4E7B-184B-476E-83FF-FA906D3A98B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6</a:t>
            </a:fld>
            <a:endParaRPr/>
          </a:p>
        </p:txBody>
      </p:sp>
      <p:pic>
        <p:nvPicPr>
          <p:cNvPr id="121" name="Google Shape;86;p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8232" y="3630103"/>
            <a:ext cx="2664296" cy="1534635"/>
          </a:xfrm>
          <a:prstGeom prst="rect">
            <a:avLst/>
          </a:prstGeom>
          <a:ln>
            <a:noFill/>
          </a:ln>
        </p:spPr>
      </p:pic>
      <p:sp>
        <p:nvSpPr>
          <p:cNvPr id="87" name="Google Shape;87;p4">
            <a:extLst>
              <a:ext uri="{FF2B5EF4-FFF2-40B4-BE49-F238E27FC236}">
                <a16:creationId xmlns:a16="http://schemas.microsoft.com/office/drawing/2014/main" id="{D5C47258-817E-4FE1-9A3A-8F27B17B9957}"/>
              </a:ext>
            </a:extLst>
          </p:cNvPr>
          <p:cNvSpPr>
            <a:spLocks noGrp="1"/>
          </p:cNvSpPr>
          <p:nvPr/>
        </p:nvSpPr>
        <p:spPr>
          <a:xfrm>
            <a:off x="7315433" y="1080071"/>
            <a:ext cx="1289774" cy="34851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 cmpd="sng">
            <a:solidFill>
              <a:schemeClr val="accent2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WIFI MODULE</a:t>
            </a:r>
          </a:p>
        </p:txBody>
      </p:sp>
      <p:cxnSp>
        <p:nvCxnSpPr>
          <p:cNvPr id="123" name="Google Shape;88;p4"/>
          <p:cNvCxnSpPr>
            <a:stCxn id="89" idx="2"/>
          </p:cNvCxnSpPr>
          <p:nvPr/>
        </p:nvCxnSpPr>
        <p:spPr>
          <a:xfrm flipH="1">
            <a:off x="8437491" y="2086996"/>
            <a:ext cx="23700" cy="1823100"/>
          </a:xfrm>
          <a:prstGeom prst="straightConnector1">
            <a:avLst/>
          </a:prstGeom>
          <a:ln w="19050" cap="flat">
            <a:solidFill>
              <a:schemeClr val="accent4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24" name="Google Shape;90;p4"/>
          <p:cNvCxnSpPr>
            <a:stCxn id="91" idx="2"/>
          </p:cNvCxnSpPr>
          <p:nvPr/>
        </p:nvCxnSpPr>
        <p:spPr>
          <a:xfrm flipH="1">
            <a:off x="8968339" y="3451570"/>
            <a:ext cx="20400" cy="341100"/>
          </a:xfrm>
          <a:prstGeom prst="straightConnector1">
            <a:avLst/>
          </a:prstGeom>
          <a:ln w="19050" cap="flat">
            <a:solidFill>
              <a:srgbClr val="FD9600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25" name="Google Shape;92;p4"/>
          <p:cNvCxnSpPr>
            <a:stCxn id="87" idx="2"/>
          </p:cNvCxnSpPr>
          <p:nvPr/>
        </p:nvCxnSpPr>
        <p:spPr>
          <a:xfrm>
            <a:off x="7960320" y="1428585"/>
            <a:ext cx="0" cy="2526000"/>
          </a:xfrm>
          <a:prstGeom prst="straightConnector1">
            <a:avLst/>
          </a:prstGeom>
          <a:ln w="19050" cap="flat">
            <a:solidFill>
              <a:schemeClr val="accent2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93" name="Google Shape;93;p4">
            <a:extLst>
              <a:ext uri="{FF2B5EF4-FFF2-40B4-BE49-F238E27FC236}">
                <a16:creationId xmlns:a16="http://schemas.microsoft.com/office/drawing/2014/main" id="{E0668804-9108-4C19-B4C8-033FDD307F3D}"/>
              </a:ext>
            </a:extLst>
          </p:cNvPr>
          <p:cNvSpPr>
            <a:spLocks noGrp="1"/>
          </p:cNvSpPr>
          <p:nvPr/>
        </p:nvSpPr>
        <p:spPr>
          <a:xfrm>
            <a:off x="8183753" y="2382381"/>
            <a:ext cx="1137311" cy="34851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22225" cmpd="sng">
            <a:solidFill>
              <a:srgbClr val="00B0F0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cxnSp>
        <p:nvCxnSpPr>
          <p:cNvPr id="127" name="Google Shape;94;p4"/>
          <p:cNvCxnSpPr/>
          <p:nvPr/>
        </p:nvCxnSpPr>
        <p:spPr>
          <a:xfrm>
            <a:off x="8752408" y="2730895"/>
            <a:ext cx="0" cy="1179275"/>
          </a:xfrm>
          <a:prstGeom prst="straightConnector1">
            <a:avLst/>
          </a:prstGeom>
          <a:ln w="19050" cap="flat">
            <a:solidFill>
              <a:srgbClr val="00B0F0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89" name="Google Shape;89;p4">
            <a:extLst>
              <a:ext uri="{FF2B5EF4-FFF2-40B4-BE49-F238E27FC236}">
                <a16:creationId xmlns:a16="http://schemas.microsoft.com/office/drawing/2014/main" id="{8156E2E6-88C0-494E-B4C0-C855D50064AD}"/>
              </a:ext>
            </a:extLst>
          </p:cNvPr>
          <p:cNvSpPr>
            <a:spLocks noGrp="1"/>
          </p:cNvSpPr>
          <p:nvPr/>
        </p:nvSpPr>
        <p:spPr>
          <a:xfrm>
            <a:off x="7816304" y="1738482"/>
            <a:ext cx="1289774" cy="34851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2225" cmpd="sng">
            <a:solidFill>
              <a:schemeClr val="accent4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MAIN MPU</a:t>
            </a:r>
          </a:p>
        </p:txBody>
      </p:sp>
      <p:sp>
        <p:nvSpPr>
          <p:cNvPr id="91" name="Google Shape;91;p4">
            <a:extLst>
              <a:ext uri="{FF2B5EF4-FFF2-40B4-BE49-F238E27FC236}">
                <a16:creationId xmlns:a16="http://schemas.microsoft.com/office/drawing/2014/main" id="{C4EE6588-7742-43CC-AAAC-3C8FAB36F9FB}"/>
              </a:ext>
            </a:extLst>
          </p:cNvPr>
          <p:cNvSpPr>
            <a:spLocks noGrp="1"/>
          </p:cNvSpPr>
          <p:nvPr/>
        </p:nvSpPr>
        <p:spPr>
          <a:xfrm>
            <a:off x="8559876" y="3103056"/>
            <a:ext cx="857726" cy="348514"/>
          </a:xfrm>
          <a:prstGeom prst="roundRect">
            <a:avLst>
              <a:gd name="adj" fmla="val 50000"/>
            </a:avLst>
          </a:prstGeom>
          <a:solidFill>
            <a:srgbClr val="FD9600"/>
          </a:solidFill>
          <a:ln w="22225" cmpd="sng">
            <a:solidFill>
              <a:srgbClr val="FD9600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MCU</a:t>
            </a:r>
          </a:p>
        </p:txBody>
      </p:sp>
    </p:spTree>
    <p:extLst>
      <p:ext uri="{BB962C8B-B14F-4D97-AF65-F5344CB8AC3E}">
        <p14:creationId xmlns:p14="http://schemas.microsoft.com/office/powerpoint/2010/main" val="997972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>
            <a:extLst>
              <a:ext uri="{FF2B5EF4-FFF2-40B4-BE49-F238E27FC236}">
                <a16:creationId xmlns:a16="http://schemas.microsoft.com/office/drawing/2014/main" id="{660616F1-EE4C-4693-ACCC-1B188CCEF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655856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 dirty="0"/>
              <a:t>The user identifies the main hardware building blocks of the device.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 dirty="0"/>
              <a:t>Each hardware building block is modeled as a Processing Unit (PU).</a:t>
            </a:r>
          </a:p>
          <a:p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 dirty="0"/>
              <a:t>Examples include MCUs, MPUs, Secure Elements, memories, and </a:t>
            </a:r>
            <a:r>
              <a:rPr sz="2000" dirty="0" err="1"/>
              <a:t>WiFi</a:t>
            </a:r>
            <a:r>
              <a:rPr sz="2000" dirty="0"/>
              <a:t>/BLE modules.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 dirty="0"/>
              <a:t>For each PU, ARIANNA derives the HBOM from the validated hardware part number.</a:t>
            </a:r>
          </a:p>
        </p:txBody>
      </p:sp>
      <p:sp>
        <p:nvSpPr>
          <p:cNvPr id="117" name="Google Shape;117;p7">
            <a:extLst>
              <a:ext uri="{FF2B5EF4-FFF2-40B4-BE49-F238E27FC236}">
                <a16:creationId xmlns:a16="http://schemas.microsoft.com/office/drawing/2014/main" id="{B7EF98F6-D030-4B4B-B032-7CF74E60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 creation: HBOM</a:t>
            </a:r>
          </a:p>
        </p:txBody>
      </p:sp>
      <p:sp>
        <p:nvSpPr>
          <p:cNvPr id="118" name="Google Shape;118;p7">
            <a:extLst>
              <a:ext uri="{FF2B5EF4-FFF2-40B4-BE49-F238E27FC236}">
                <a16:creationId xmlns:a16="http://schemas.microsoft.com/office/drawing/2014/main" id="{06631D09-8F80-4DEF-88DF-176D5A676A7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7</a:t>
            </a:fld>
            <a:endParaRPr/>
          </a:p>
        </p:txBody>
      </p:sp>
      <p:pic>
        <p:nvPicPr>
          <p:cNvPr id="154" name="Google Shape;119;p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8232" y="3630103"/>
            <a:ext cx="2664296" cy="1534635"/>
          </a:xfrm>
          <a:prstGeom prst="rect">
            <a:avLst/>
          </a:prstGeom>
          <a:ln>
            <a:noFill/>
          </a:ln>
        </p:spPr>
      </p:pic>
      <p:sp>
        <p:nvSpPr>
          <p:cNvPr id="120" name="Google Shape;120;p7">
            <a:extLst>
              <a:ext uri="{FF2B5EF4-FFF2-40B4-BE49-F238E27FC236}">
                <a16:creationId xmlns:a16="http://schemas.microsoft.com/office/drawing/2014/main" id="{D366AD5F-D70F-4F4C-A8A7-3017BAE97D81}"/>
              </a:ext>
            </a:extLst>
          </p:cNvPr>
          <p:cNvSpPr>
            <a:spLocks noGrp="1"/>
          </p:cNvSpPr>
          <p:nvPr/>
        </p:nvSpPr>
        <p:spPr>
          <a:xfrm>
            <a:off x="7315433" y="1080071"/>
            <a:ext cx="1289774" cy="34851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 cmpd="sng">
            <a:solidFill>
              <a:schemeClr val="accent2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PU3|ESP32</a:t>
            </a:r>
          </a:p>
        </p:txBody>
      </p:sp>
      <p:cxnSp>
        <p:nvCxnSpPr>
          <p:cNvPr id="156" name="Google Shape;121;p7"/>
          <p:cNvCxnSpPr>
            <a:stCxn id="122" idx="2"/>
          </p:cNvCxnSpPr>
          <p:nvPr/>
        </p:nvCxnSpPr>
        <p:spPr>
          <a:xfrm>
            <a:off x="8400929" y="2086996"/>
            <a:ext cx="0" cy="1854300"/>
          </a:xfrm>
          <a:prstGeom prst="straightConnector1">
            <a:avLst/>
          </a:prstGeom>
          <a:ln w="19050" cap="flat">
            <a:solidFill>
              <a:schemeClr val="accent4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57" name="Google Shape;123;p7"/>
          <p:cNvCxnSpPr>
            <a:stCxn id="124" idx="2"/>
          </p:cNvCxnSpPr>
          <p:nvPr/>
        </p:nvCxnSpPr>
        <p:spPr>
          <a:xfrm>
            <a:off x="8971666" y="3456339"/>
            <a:ext cx="0" cy="376800"/>
          </a:xfrm>
          <a:prstGeom prst="straightConnector1">
            <a:avLst/>
          </a:prstGeom>
          <a:ln w="19050" cap="flat">
            <a:solidFill>
              <a:srgbClr val="FD9600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58" name="Google Shape;125;p7"/>
          <p:cNvCxnSpPr>
            <a:stCxn id="120" idx="2"/>
          </p:cNvCxnSpPr>
          <p:nvPr/>
        </p:nvCxnSpPr>
        <p:spPr>
          <a:xfrm>
            <a:off x="7960320" y="1428585"/>
            <a:ext cx="0" cy="2526000"/>
          </a:xfrm>
          <a:prstGeom prst="straightConnector1">
            <a:avLst/>
          </a:prstGeom>
          <a:ln w="19050" cap="flat">
            <a:solidFill>
              <a:schemeClr val="accent2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126" name="Google Shape;126;p7">
            <a:extLst>
              <a:ext uri="{FF2B5EF4-FFF2-40B4-BE49-F238E27FC236}">
                <a16:creationId xmlns:a16="http://schemas.microsoft.com/office/drawing/2014/main" id="{C29E7621-34A4-4526-8D6E-E370857DB117}"/>
              </a:ext>
            </a:extLst>
          </p:cNvPr>
          <p:cNvSpPr>
            <a:spLocks noGrp="1"/>
          </p:cNvSpPr>
          <p:nvPr/>
        </p:nvSpPr>
        <p:spPr>
          <a:xfrm>
            <a:off x="8183753" y="2382381"/>
            <a:ext cx="1137311" cy="34851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22225" cmpd="sng">
            <a:solidFill>
              <a:srgbClr val="00B0F0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PU4 | MEMORY</a:t>
            </a:r>
          </a:p>
        </p:txBody>
      </p:sp>
      <p:cxnSp>
        <p:nvCxnSpPr>
          <p:cNvPr id="160" name="Google Shape;127;p7"/>
          <p:cNvCxnSpPr/>
          <p:nvPr/>
        </p:nvCxnSpPr>
        <p:spPr>
          <a:xfrm>
            <a:off x="8752408" y="2730895"/>
            <a:ext cx="0" cy="1179275"/>
          </a:xfrm>
          <a:prstGeom prst="straightConnector1">
            <a:avLst/>
          </a:prstGeom>
          <a:ln w="19050" cap="flat">
            <a:solidFill>
              <a:srgbClr val="00B0F0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122" name="Google Shape;122;p7">
            <a:extLst>
              <a:ext uri="{FF2B5EF4-FFF2-40B4-BE49-F238E27FC236}">
                <a16:creationId xmlns:a16="http://schemas.microsoft.com/office/drawing/2014/main" id="{85ACE8CF-28EB-49A3-B3E1-698D09F007B7}"/>
              </a:ext>
            </a:extLst>
          </p:cNvPr>
          <p:cNvSpPr>
            <a:spLocks noGrp="1"/>
          </p:cNvSpPr>
          <p:nvPr/>
        </p:nvSpPr>
        <p:spPr>
          <a:xfrm>
            <a:off x="7744296" y="1738482"/>
            <a:ext cx="1313266" cy="34851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2225" cmpd="sng">
            <a:solidFill>
              <a:schemeClr val="accent4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PU1 | i.MX 93</a:t>
            </a:r>
          </a:p>
        </p:txBody>
      </p:sp>
      <p:sp>
        <p:nvSpPr>
          <p:cNvPr id="124" name="Google Shape;124;p7">
            <a:extLst>
              <a:ext uri="{FF2B5EF4-FFF2-40B4-BE49-F238E27FC236}">
                <a16:creationId xmlns:a16="http://schemas.microsoft.com/office/drawing/2014/main" id="{09C66DCA-75F1-419C-89B9-92C4E392BEF2}"/>
              </a:ext>
            </a:extLst>
          </p:cNvPr>
          <p:cNvSpPr>
            <a:spLocks noGrp="1"/>
          </p:cNvSpPr>
          <p:nvPr/>
        </p:nvSpPr>
        <p:spPr>
          <a:xfrm>
            <a:off x="8327298" y="3107825"/>
            <a:ext cx="1288736" cy="348514"/>
          </a:xfrm>
          <a:prstGeom prst="roundRect">
            <a:avLst>
              <a:gd name="adj" fmla="val 50000"/>
            </a:avLst>
          </a:prstGeom>
          <a:solidFill>
            <a:srgbClr val="FD9600"/>
          </a:solidFill>
          <a:ln w="22225" cmpd="sng">
            <a:solidFill>
              <a:srgbClr val="FD9600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PU2 | STM32F4</a:t>
            </a:r>
          </a:p>
        </p:txBody>
      </p:sp>
    </p:spTree>
    <p:extLst>
      <p:ext uri="{BB962C8B-B14F-4D97-AF65-F5344CB8AC3E}">
        <p14:creationId xmlns:p14="http://schemas.microsoft.com/office/powerpoint/2010/main" val="401345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>
            <a:extLst>
              <a:ext uri="{FF2B5EF4-FFF2-40B4-BE49-F238E27FC236}">
                <a16:creationId xmlns:a16="http://schemas.microsoft.com/office/drawing/2014/main" id="{CDEE0FAF-162E-423A-A924-3310294D0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764" y="1123284"/>
            <a:ext cx="9168982" cy="248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800" dirty="0"/>
              <a:t>For each Processing Unit (PU), ARIANNA supports the creation of the SBOM.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800" dirty="0"/>
              <a:t>A PU SBOM can combine multiple SBOMs from different software layers.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dirty="0"/>
              <a:t>For MPUs this can include the OS plus customer applications.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dirty="0"/>
              <a:t>For MCUs this can include the bootloader plus application firmware.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dirty="0"/>
              <a:t>The final device SBOM preserves that structure for clearer vulnerability analysis.</a:t>
            </a:r>
          </a:p>
        </p:txBody>
      </p:sp>
      <p:sp>
        <p:nvSpPr>
          <p:cNvPr id="133" name="Google Shape;133;p8">
            <a:extLst>
              <a:ext uri="{FF2B5EF4-FFF2-40B4-BE49-F238E27FC236}">
                <a16:creationId xmlns:a16="http://schemas.microsoft.com/office/drawing/2014/main" id="{55D49939-731D-4254-B0F4-EB080A99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 creation: SBOM</a:t>
            </a:r>
          </a:p>
        </p:txBody>
      </p:sp>
      <p:sp>
        <p:nvSpPr>
          <p:cNvPr id="134" name="Google Shape;134;p8">
            <a:extLst>
              <a:ext uri="{FF2B5EF4-FFF2-40B4-BE49-F238E27FC236}">
                <a16:creationId xmlns:a16="http://schemas.microsoft.com/office/drawing/2014/main" id="{C44AAF25-F66A-47F5-91E2-C7326CDA68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</a:t>
            </a:fld>
            <a:endParaRPr/>
          </a:p>
        </p:txBody>
      </p:sp>
      <p:sp>
        <p:nvSpPr>
          <p:cNvPr id="135" name="Google Shape;135;p8">
            <a:extLst>
              <a:ext uri="{FF2B5EF4-FFF2-40B4-BE49-F238E27FC236}">
                <a16:creationId xmlns:a16="http://schemas.microsoft.com/office/drawing/2014/main" id="{43906A12-6998-4BAF-AA96-57C03DE91CC9}"/>
              </a:ext>
            </a:extLst>
          </p:cNvPr>
          <p:cNvSpPr>
            <a:spLocks noGrp="1"/>
          </p:cNvSpPr>
          <p:nvPr/>
        </p:nvSpPr>
        <p:spPr>
          <a:xfrm>
            <a:off x="1273354" y="4558172"/>
            <a:ext cx="2520280" cy="436076"/>
          </a:xfrm>
          <a:prstGeom prst="roundRect">
            <a:avLst>
              <a:gd name="adj" fmla="val 14373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PU1 | i.MX 93</a:t>
            </a:r>
          </a:p>
        </p:txBody>
      </p:sp>
      <p:sp>
        <p:nvSpPr>
          <p:cNvPr id="136" name="Google Shape;136;p8">
            <a:extLst>
              <a:ext uri="{FF2B5EF4-FFF2-40B4-BE49-F238E27FC236}">
                <a16:creationId xmlns:a16="http://schemas.microsoft.com/office/drawing/2014/main" id="{B6DF4904-1D50-405C-9C6B-74210741FE86}"/>
              </a:ext>
            </a:extLst>
          </p:cNvPr>
          <p:cNvSpPr>
            <a:spLocks noGrp="1"/>
          </p:cNvSpPr>
          <p:nvPr/>
        </p:nvSpPr>
        <p:spPr>
          <a:xfrm>
            <a:off x="7430506" y="4558171"/>
            <a:ext cx="1436284" cy="436076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PU3 | ESP32</a:t>
            </a:r>
          </a:p>
        </p:txBody>
      </p:sp>
      <p:sp>
        <p:nvSpPr>
          <p:cNvPr id="137" name="Google Shape;137;p8">
            <a:extLst>
              <a:ext uri="{FF2B5EF4-FFF2-40B4-BE49-F238E27FC236}">
                <a16:creationId xmlns:a16="http://schemas.microsoft.com/office/drawing/2014/main" id="{46A695DD-E916-4DEB-A294-1F6376D00F6D}"/>
              </a:ext>
            </a:extLst>
          </p:cNvPr>
          <p:cNvSpPr>
            <a:spLocks noGrp="1"/>
          </p:cNvSpPr>
          <p:nvPr/>
        </p:nvSpPr>
        <p:spPr>
          <a:xfrm>
            <a:off x="4135926" y="4560533"/>
            <a:ext cx="2952897" cy="436076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PU2 | STM32F4</a:t>
            </a:r>
          </a:p>
        </p:txBody>
      </p:sp>
      <p:sp>
        <p:nvSpPr>
          <p:cNvPr id="138" name="Google Shape;138;p8">
            <a:extLst>
              <a:ext uri="{FF2B5EF4-FFF2-40B4-BE49-F238E27FC236}">
                <a16:creationId xmlns:a16="http://schemas.microsoft.com/office/drawing/2014/main" id="{5BE5CCF2-45AA-4185-8F5F-EED8297F41C7}"/>
              </a:ext>
            </a:extLst>
          </p:cNvPr>
          <p:cNvSpPr>
            <a:spLocks noGrp="1"/>
          </p:cNvSpPr>
          <p:nvPr/>
        </p:nvSpPr>
        <p:spPr>
          <a:xfrm>
            <a:off x="7496303" y="3962766"/>
            <a:ext cx="1300417" cy="443903"/>
          </a:xfrm>
          <a:prstGeom prst="roundRect">
            <a:avLst>
              <a:gd name="adj" fmla="val 16667"/>
            </a:avLst>
          </a:prstGeom>
          <a:solidFill>
            <a:srgbClr val="DA92D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Firmware SBOM</a:t>
            </a:r>
          </a:p>
        </p:txBody>
      </p:sp>
      <p:sp>
        <p:nvSpPr>
          <p:cNvPr id="139" name="Google Shape;139;p8">
            <a:extLst>
              <a:ext uri="{FF2B5EF4-FFF2-40B4-BE49-F238E27FC236}">
                <a16:creationId xmlns:a16="http://schemas.microsoft.com/office/drawing/2014/main" id="{13885808-1F1F-4E46-895D-BCA512C442ED}"/>
              </a:ext>
            </a:extLst>
          </p:cNvPr>
          <p:cNvSpPr>
            <a:spLocks noGrp="1"/>
          </p:cNvSpPr>
          <p:nvPr/>
        </p:nvSpPr>
        <p:spPr>
          <a:xfrm>
            <a:off x="4212304" y="3965127"/>
            <a:ext cx="1367382" cy="443904"/>
          </a:xfrm>
          <a:prstGeom prst="roundRect">
            <a:avLst>
              <a:gd name="adj" fmla="val 16667"/>
            </a:avLst>
          </a:prstGeom>
          <a:solidFill>
            <a:srgbClr val="E5902A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Bootloader SBOM</a:t>
            </a:r>
          </a:p>
        </p:txBody>
      </p:sp>
      <p:sp>
        <p:nvSpPr>
          <p:cNvPr id="140" name="Google Shape;140;p8">
            <a:extLst>
              <a:ext uri="{FF2B5EF4-FFF2-40B4-BE49-F238E27FC236}">
                <a16:creationId xmlns:a16="http://schemas.microsoft.com/office/drawing/2014/main" id="{B2D6BE0A-5C44-4DC6-9421-61E571BC790A}"/>
              </a:ext>
            </a:extLst>
          </p:cNvPr>
          <p:cNvSpPr>
            <a:spLocks noGrp="1"/>
          </p:cNvSpPr>
          <p:nvPr/>
        </p:nvSpPr>
        <p:spPr>
          <a:xfrm>
            <a:off x="5656064" y="3965127"/>
            <a:ext cx="1367382" cy="443904"/>
          </a:xfrm>
          <a:prstGeom prst="roundRect">
            <a:avLst>
              <a:gd name="adj" fmla="val 16667"/>
            </a:avLst>
          </a:prstGeom>
          <a:solidFill>
            <a:srgbClr val="DA92D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Firmware SBOM</a:t>
            </a:r>
          </a:p>
        </p:txBody>
      </p:sp>
      <p:sp>
        <p:nvSpPr>
          <p:cNvPr id="141" name="Google Shape;141;p8">
            <a:extLst>
              <a:ext uri="{FF2B5EF4-FFF2-40B4-BE49-F238E27FC236}">
                <a16:creationId xmlns:a16="http://schemas.microsoft.com/office/drawing/2014/main" id="{372572EC-0FC8-40A2-9FE7-FE2EF98A6C3B}"/>
              </a:ext>
            </a:extLst>
          </p:cNvPr>
          <p:cNvSpPr>
            <a:spLocks noGrp="1"/>
          </p:cNvSpPr>
          <p:nvPr/>
        </p:nvSpPr>
        <p:spPr>
          <a:xfrm>
            <a:off x="1335584" y="3937620"/>
            <a:ext cx="2386042" cy="469049"/>
          </a:xfrm>
          <a:prstGeom prst="roundRect">
            <a:avLst>
              <a:gd name="adj" fmla="val 16667"/>
            </a:avLst>
          </a:prstGeom>
          <a:solidFill>
            <a:srgbClr val="B7D09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YOCTO SBOM</a:t>
            </a:r>
          </a:p>
        </p:txBody>
      </p:sp>
      <p:sp>
        <p:nvSpPr>
          <p:cNvPr id="142" name="Google Shape;142;p8">
            <a:extLst>
              <a:ext uri="{FF2B5EF4-FFF2-40B4-BE49-F238E27FC236}">
                <a16:creationId xmlns:a16="http://schemas.microsoft.com/office/drawing/2014/main" id="{4E36C73B-66B4-40B4-997F-62A6229EDC7F}"/>
              </a:ext>
            </a:extLst>
          </p:cNvPr>
          <p:cNvSpPr>
            <a:spLocks noGrp="1"/>
          </p:cNvSpPr>
          <p:nvPr/>
        </p:nvSpPr>
        <p:spPr>
          <a:xfrm>
            <a:off x="1335584" y="3334077"/>
            <a:ext cx="1159814" cy="550680"/>
          </a:xfrm>
          <a:prstGeom prst="roundRect">
            <a:avLst>
              <a:gd name="adj" fmla="val 16667"/>
            </a:avLst>
          </a:prstGeom>
          <a:solidFill>
            <a:srgbClr val="D3AC9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Javascript Application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</a:t>
            </a:r>
          </a:p>
        </p:txBody>
      </p:sp>
      <p:sp>
        <p:nvSpPr>
          <p:cNvPr id="143" name="Google Shape;143;p8">
            <a:extLst>
              <a:ext uri="{FF2B5EF4-FFF2-40B4-BE49-F238E27FC236}">
                <a16:creationId xmlns:a16="http://schemas.microsoft.com/office/drawing/2014/main" id="{008DDC5F-747E-406C-9A08-0C45FBCE07F0}"/>
              </a:ext>
            </a:extLst>
          </p:cNvPr>
          <p:cNvSpPr>
            <a:spLocks noGrp="1"/>
          </p:cNvSpPr>
          <p:nvPr/>
        </p:nvSpPr>
        <p:spPr>
          <a:xfrm>
            <a:off x="2541224" y="3334077"/>
            <a:ext cx="1156003" cy="560326"/>
          </a:xfrm>
          <a:prstGeom prst="roundRect">
            <a:avLst>
              <a:gd name="adj" fmla="val 16667"/>
            </a:avLst>
          </a:prstGeom>
          <a:solidFill>
            <a:srgbClr val="F3B5AA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Python Application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</a:t>
            </a:r>
          </a:p>
        </p:txBody>
      </p:sp>
      <p:sp>
        <p:nvSpPr>
          <p:cNvPr id="144" name="Google Shape;144;p8">
            <a:extLst>
              <a:ext uri="{FF2B5EF4-FFF2-40B4-BE49-F238E27FC236}">
                <a16:creationId xmlns:a16="http://schemas.microsoft.com/office/drawing/2014/main" id="{40812A10-8FA9-457F-AF3A-751C882AA937}"/>
              </a:ext>
            </a:extLst>
          </p:cNvPr>
          <p:cNvSpPr>
            <a:spLocks noGrp="1"/>
          </p:cNvSpPr>
          <p:nvPr/>
        </p:nvSpPr>
        <p:spPr>
          <a:xfrm>
            <a:off x="1273354" y="3268303"/>
            <a:ext cx="2520280" cy="1215695"/>
          </a:xfrm>
          <a:prstGeom prst="roundRect">
            <a:avLst>
              <a:gd name="adj" fmla="val 5755"/>
            </a:avLst>
          </a:prstGeom>
          <a:noFill/>
          <a:ln w="12700" cmpd="sng">
            <a:solidFill>
              <a:srgbClr val="9E9E9E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>
            <a:extLst>
              <a:ext uri="{FF2B5EF4-FFF2-40B4-BE49-F238E27FC236}">
                <a16:creationId xmlns:a16="http://schemas.microsoft.com/office/drawing/2014/main" id="{343B705B-CF28-41D1-B426-D943E603B4DD}"/>
              </a:ext>
            </a:extLst>
          </p:cNvPr>
          <p:cNvSpPr>
            <a:spLocks noGrp="1"/>
          </p:cNvSpPr>
          <p:nvPr/>
        </p:nvSpPr>
        <p:spPr>
          <a:xfrm>
            <a:off x="7430506" y="3884756"/>
            <a:ext cx="1436284" cy="599242"/>
          </a:xfrm>
          <a:prstGeom prst="roundRect">
            <a:avLst>
              <a:gd name="adj" fmla="val 13148"/>
            </a:avLst>
          </a:prstGeom>
          <a:noFill/>
          <a:ln w="12700" cmpd="sng">
            <a:solidFill>
              <a:srgbClr val="9E9E9E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>
            <a:extLst>
              <a:ext uri="{FF2B5EF4-FFF2-40B4-BE49-F238E27FC236}">
                <a16:creationId xmlns:a16="http://schemas.microsoft.com/office/drawing/2014/main" id="{A84E8958-300E-461E-BB41-8127732FFB25}"/>
              </a:ext>
            </a:extLst>
          </p:cNvPr>
          <p:cNvSpPr>
            <a:spLocks noGrp="1"/>
          </p:cNvSpPr>
          <p:nvPr/>
        </p:nvSpPr>
        <p:spPr>
          <a:xfrm>
            <a:off x="4135925" y="3887118"/>
            <a:ext cx="2952897" cy="599242"/>
          </a:xfrm>
          <a:prstGeom prst="roundRect">
            <a:avLst>
              <a:gd name="adj" fmla="val 13148"/>
            </a:avLst>
          </a:prstGeom>
          <a:noFill/>
          <a:ln w="12700" cmpd="sng">
            <a:solidFill>
              <a:srgbClr val="9E9E9E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014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>
            <a:extLst>
              <a:ext uri="{FF2B5EF4-FFF2-40B4-BE49-F238E27FC236}">
                <a16:creationId xmlns:a16="http://schemas.microsoft.com/office/drawing/2014/main" id="{60234CB6-CB7C-4F2B-8373-918BBDB98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/>
              <a:t>The device model evolves over the product lifecycle.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800"/>
              <a:t>HBOM usually remains stable, while SBOM changes with new software and firmware releases.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800"/>
              <a:t>Each new model version can introduce new vulnerabilities and automatically close others when affected components are updated or removed.</a:t>
            </a:r>
          </a:p>
        </p:txBody>
      </p:sp>
      <p:sp>
        <p:nvSpPr>
          <p:cNvPr id="152" name="Google Shape;152;p9">
            <a:extLst>
              <a:ext uri="{FF2B5EF4-FFF2-40B4-BE49-F238E27FC236}">
                <a16:creationId xmlns:a16="http://schemas.microsoft.com/office/drawing/2014/main" id="{23907CA7-D710-4C35-A64A-FA40AB38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 lifecycle &amp; VMP</a:t>
            </a:r>
          </a:p>
        </p:txBody>
      </p:sp>
      <p:sp>
        <p:nvSpPr>
          <p:cNvPr id="153" name="Google Shape;153;p9">
            <a:extLst>
              <a:ext uri="{FF2B5EF4-FFF2-40B4-BE49-F238E27FC236}">
                <a16:creationId xmlns:a16="http://schemas.microsoft.com/office/drawing/2014/main" id="{4B7B1E0D-A076-4A55-9C49-596C545733B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797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>
            <a:extLst>
              <a:ext uri="{FF2B5EF4-FFF2-40B4-BE49-F238E27FC236}">
                <a16:creationId xmlns:a16="http://schemas.microsoft.com/office/drawing/2014/main" id="{CAF71989-91FE-447A-A6D9-CF85EE5E8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dirty="0"/>
              <a:t>ARIANNA identifies new vulnerabilities daily for every monitored device based on its device model.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dirty="0"/>
              <a:t>It uses an internal mapping between hardware/software components and known vulnerabilities.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800" dirty="0"/>
              <a:t>Public sources such as NVD, </a:t>
            </a:r>
            <a:r>
              <a:rPr sz="1800" dirty="0" err="1"/>
              <a:t>CVE.org</a:t>
            </a:r>
            <a:r>
              <a:rPr sz="1800" dirty="0"/>
              <a:t>, GitHub Advisories, and EUVD are monitored continuously.</a:t>
            </a:r>
          </a:p>
          <a:p>
            <a:pPr marL="533400" indent="-247650">
              <a:spcBef>
                <a:spcPts val="667"/>
              </a:spcBef>
              <a:buChar char="o"/>
            </a:pPr>
            <a:r>
              <a:rPr sz="1800" dirty="0"/>
              <a:t>Findings are enriched with KEV status, EPSS, exploit maturity, and CWE information to support better prioritization.</a:t>
            </a:r>
            <a:endParaRPr sz="1400" dirty="0"/>
          </a:p>
        </p:txBody>
      </p:sp>
      <p:sp>
        <p:nvSpPr>
          <p:cNvPr id="165" name="Google Shape;165;p11">
            <a:extLst>
              <a:ext uri="{FF2B5EF4-FFF2-40B4-BE49-F238E27FC236}">
                <a16:creationId xmlns:a16="http://schemas.microsoft.com/office/drawing/2014/main" id="{4C1246C1-8AD2-4DB1-B575-EB674450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Continuous Vulnerability Monitoring</a:t>
            </a:r>
          </a:p>
        </p:txBody>
      </p:sp>
      <p:sp>
        <p:nvSpPr>
          <p:cNvPr id="166" name="Google Shape;166;p11">
            <a:extLst>
              <a:ext uri="{FF2B5EF4-FFF2-40B4-BE49-F238E27FC236}">
                <a16:creationId xmlns:a16="http://schemas.microsoft.com/office/drawing/2014/main" id="{7253F5B2-23EB-4FDC-9C17-1F7DD8C3C6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187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>
            <a:extLst>
              <a:ext uri="{FF2B5EF4-FFF2-40B4-BE49-F238E27FC236}">
                <a16:creationId xmlns:a16="http://schemas.microsoft.com/office/drawing/2014/main" id="{1EC1485D-A21C-4F5C-A568-1098AFA86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>
                <a:solidFill>
                  <a:schemeClr val="accent2"/>
                </a:solidFill>
              </a:rPr>
              <a:t>CVSS is useful, but severity alone is not enough for prioritization.</a:t>
            </a:r>
          </a:p>
          <a:p>
            <a:pPr marL="285750" indent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  <a:r>
              <a:rPr sz="2000"/>
              <a:t>Context matters: a vulnerability in a non-exposed component is very different from the same vulnerability in an internet-facing device.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>
                <a:solidFill>
                  <a:schemeClr val="dk2"/>
                </a:solidFill>
              </a:rPr>
              <a:t>Exploitability matters more than quantity.</a:t>
            </a:r>
          </a:p>
          <a:p>
            <a:pPr marL="285750" indent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  <a:r>
              <a:rPr sz="2200"/>
              <a:t>Fixing 5 realistically exploitable vulnerabilities usually improves security more than fixing 50 theoretical ones.</a:t>
            </a:r>
          </a:p>
        </p:txBody>
      </p:sp>
      <p:sp>
        <p:nvSpPr>
          <p:cNvPr id="237" name="Google Shape;237;p15">
            <a:extLst>
              <a:ext uri="{FF2B5EF4-FFF2-40B4-BE49-F238E27FC236}">
                <a16:creationId xmlns:a16="http://schemas.microsoft.com/office/drawing/2014/main" id="{4CDAFA95-9056-487A-A914-0CFD3A053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Severity alone is no longer enough</a:t>
            </a:r>
          </a:p>
        </p:txBody>
      </p:sp>
      <p:sp>
        <p:nvSpPr>
          <p:cNvPr id="238" name="Google Shape;238;p15">
            <a:extLst>
              <a:ext uri="{FF2B5EF4-FFF2-40B4-BE49-F238E27FC236}">
                <a16:creationId xmlns:a16="http://schemas.microsoft.com/office/drawing/2014/main" id="{9F4643F7-5C91-4BBB-A028-DC6F6344B10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6986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>
            <a:extLst>
              <a:ext uri="{FF2B5EF4-FFF2-40B4-BE49-F238E27FC236}">
                <a16:creationId xmlns:a16="http://schemas.microsoft.com/office/drawing/2014/main" id="{3993AA75-263C-4D10-8C86-1B513997C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ARIANNA includes a configurable pre-triage engine.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/>
              <a:t>It separates identified vulnerabilities into two classes:</a:t>
            </a:r>
          </a:p>
          <a:p>
            <a:pPr marL="804863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>
                <a:solidFill>
                  <a:schemeClr val="dk2"/>
                </a:solidFill>
              </a:rPr>
              <a:t>High Priority: immediate triage required</a:t>
            </a:r>
          </a:p>
          <a:p>
            <a:pPr marL="804863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>
                <a:solidFill>
                  <a:schemeClr val="dk2"/>
                </a:solidFill>
              </a:rPr>
              <a:t>Low Priority: risk accepted for later review</a:t>
            </a:r>
          </a:p>
          <a:p>
            <a:pPr marL="533400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/>
              <a:t>This reduces triage effort while keeping final decisions in human hands.</a:t>
            </a:r>
          </a:p>
        </p:txBody>
      </p:sp>
      <p:sp>
        <p:nvSpPr>
          <p:cNvPr id="244" name="Google Shape;244;p16">
            <a:extLst>
              <a:ext uri="{FF2B5EF4-FFF2-40B4-BE49-F238E27FC236}">
                <a16:creationId xmlns:a16="http://schemas.microsoft.com/office/drawing/2014/main" id="{3D3FCBB8-6C4E-4E17-9330-EA5CF4ED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Configurable pre-triage engine</a:t>
            </a:r>
          </a:p>
        </p:txBody>
      </p:sp>
      <p:sp>
        <p:nvSpPr>
          <p:cNvPr id="245" name="Google Shape;245;p16">
            <a:extLst>
              <a:ext uri="{FF2B5EF4-FFF2-40B4-BE49-F238E27FC236}">
                <a16:creationId xmlns:a16="http://schemas.microsoft.com/office/drawing/2014/main" id="{86E32BAE-7F88-48CB-AA69-509FE13AFC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088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02;p20"/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9137"/>
          <a:stretch/>
        </p:blipFill>
        <p:spPr>
          <a:xfrm>
            <a:off x="5601178" y="1123284"/>
            <a:ext cx="3816424" cy="2021635"/>
          </a:xfrm>
          <a:prstGeom prst="rect">
            <a:avLst/>
          </a:prstGeom>
          <a:ln>
            <a:noFill/>
          </a:ln>
        </p:spPr>
      </p:pic>
      <p:pic>
        <p:nvPicPr>
          <p:cNvPr id="311" name="Google Shape;303;p20"/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8239" b="6750"/>
          <a:stretch/>
        </p:blipFill>
        <p:spPr>
          <a:xfrm>
            <a:off x="5785576" y="3073524"/>
            <a:ext cx="3928739" cy="1947110"/>
          </a:xfrm>
          <a:prstGeom prst="rect">
            <a:avLst/>
          </a:prstGeom>
          <a:ln>
            <a:noFill/>
          </a:ln>
        </p:spPr>
      </p:pic>
      <p:sp>
        <p:nvSpPr>
          <p:cNvPr id="304" name="Google Shape;304;p20">
            <a:extLst>
              <a:ext uri="{FF2B5EF4-FFF2-40B4-BE49-F238E27FC236}">
                <a16:creationId xmlns:a16="http://schemas.microsoft.com/office/drawing/2014/main" id="{DD832AEE-E408-41BF-A218-EFD35CAA1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5622458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/>
              <a:t>2775 identified vulnerabilities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05" name="Google Shape;305;p20">
            <a:extLst>
              <a:ext uri="{FF2B5EF4-FFF2-40B4-BE49-F238E27FC236}">
                <a16:creationId xmlns:a16="http://schemas.microsoft.com/office/drawing/2014/main" id="{5AE7F065-394C-4C22-AFD3-C3D797C19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YOCTO Connected Device</a:t>
            </a:r>
          </a:p>
        </p:txBody>
      </p:sp>
      <p:sp>
        <p:nvSpPr>
          <p:cNvPr id="306" name="Google Shape;306;p20">
            <a:extLst>
              <a:ext uri="{FF2B5EF4-FFF2-40B4-BE49-F238E27FC236}">
                <a16:creationId xmlns:a16="http://schemas.microsoft.com/office/drawing/2014/main" id="{C3342DD6-A574-4A1B-A816-F7839454B0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13</a:t>
            </a:fld>
            <a:endParaRPr/>
          </a:p>
        </p:txBody>
      </p:sp>
      <p:sp>
        <p:nvSpPr>
          <p:cNvPr id="307" name="Google Shape;307;p20">
            <a:extLst>
              <a:ext uri="{FF2B5EF4-FFF2-40B4-BE49-F238E27FC236}">
                <a16:creationId xmlns:a16="http://schemas.microsoft.com/office/drawing/2014/main" id="{2E432F9A-7632-4AFB-99A8-34EB39BB373C}"/>
              </a:ext>
            </a:extLst>
          </p:cNvPr>
          <p:cNvSpPr>
            <a:spLocks noGrp="1"/>
          </p:cNvSpPr>
          <p:nvPr/>
        </p:nvSpPr>
        <p:spPr>
          <a:xfrm>
            <a:off x="471013" y="1345332"/>
            <a:ext cx="5622458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063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 b="0" i="0" u="none" cap="none" dirty="0">
                <a:solidFill>
                  <a:srgbClr val="C00000"/>
                </a:solidFill>
                <a:latin typeface="Montserrat"/>
                <a:ea typeface="Montserrat"/>
                <a:cs typeface="Montserrat"/>
              </a:rPr>
              <a:t>Prioritization based on Severity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 dirty="0">
                <a:solidFill>
                  <a:schemeClr val="accent6"/>
                </a:solidFill>
                <a:latin typeface="Montserrat"/>
                <a:ea typeface="Montserrat"/>
                <a:cs typeface="Montserrat"/>
              </a:rPr>
              <a:t>CVSS Score &gt; 7.0 (Critical &amp; High)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1" i="0" u="none" cap="none" dirty="0">
                <a:solidFill>
                  <a:srgbClr val="C00000"/>
                </a:solidFill>
                <a:latin typeface="Montserrat"/>
                <a:ea typeface="Montserrat"/>
                <a:cs typeface="Montserrat"/>
              </a:rPr>
              <a:t>834</a:t>
            </a:r>
            <a:r>
              <a:rPr sz="1600" b="0" i="0" u="none" cap="none" dirty="0">
                <a:solidFill>
                  <a:srgbClr val="C00000"/>
                </a:solidFill>
                <a:latin typeface="Montserrat"/>
                <a:ea typeface="Montserrat"/>
                <a:cs typeface="Montserrat"/>
              </a:rPr>
              <a:t> vulnerabilities to triage ASAP (1% + 29.1%)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b="0" i="0" u="none" cap="none" dirty="0">
              <a:solidFill>
                <a:srgbClr val="C00000"/>
              </a:solidFill>
              <a:latin typeface="Montserrat"/>
              <a:ea typeface="Montserrat"/>
              <a:cs typeface="Montserrat"/>
            </a:endParaRP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 b="0" i="0" u="non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Prioritization based on Exploitability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 dirty="0">
                <a:solidFill>
                  <a:schemeClr val="accent6"/>
                </a:solidFill>
                <a:latin typeface="Montserrat"/>
                <a:ea typeface="Montserrat"/>
                <a:cs typeface="Montserrat"/>
              </a:rPr>
              <a:t>Proof of Exploitation or Weaponized exploit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 dirty="0">
                <a:solidFill>
                  <a:schemeClr val="accent6"/>
                </a:solidFill>
                <a:latin typeface="Montserrat"/>
                <a:ea typeface="Montserrat"/>
                <a:cs typeface="Montserrat"/>
              </a:rPr>
              <a:t>Attack Vector reachable by an attacker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1" i="0" u="non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10</a:t>
            </a:r>
            <a:r>
              <a:rPr sz="1600" b="0" i="0" u="non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 vulnerabilities to triage ASAP (0.4%)</a:t>
            </a:r>
          </a:p>
          <a:p>
            <a:pPr marL="269875" indent="-117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b="0" i="0" u="none" cap="none" dirty="0">
              <a:solidFill>
                <a:schemeClr val="dk2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67328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">
            <a:extLst>
              <a:ext uri="{FF2B5EF4-FFF2-40B4-BE49-F238E27FC236}">
                <a16:creationId xmlns:a16="http://schemas.microsoft.com/office/drawing/2014/main" id="{8A83C778-7B83-42D1-AD30-7905A448E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/>
              <a:t>ARIANNA KEV focuses on vulnerabilities with evidence of real exploitation.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It includes CISA KEV entries.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It also adds proof-of-exploitation signals from EUVD and verified or weaponized exploits detected by ARIANNA.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This gives broader and faster coverage than relying on CISA KEV alone.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>
                <a:solidFill>
                  <a:schemeClr val="accent3"/>
                </a:solidFill>
              </a:rPr>
              <a:t>Result: faster prioritization and faster remediation.</a:t>
            </a:r>
          </a:p>
        </p:txBody>
      </p:sp>
      <p:sp>
        <p:nvSpPr>
          <p:cNvPr id="313" name="Google Shape;313;p21">
            <a:extLst>
              <a:ext uri="{FF2B5EF4-FFF2-40B4-BE49-F238E27FC236}">
                <a16:creationId xmlns:a16="http://schemas.microsoft.com/office/drawing/2014/main" id="{E9EB8C4F-1FBC-4C0B-8EC8-ECA88FFF0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ARIANNA KEV catalogue</a:t>
            </a:r>
          </a:p>
        </p:txBody>
      </p:sp>
      <p:sp>
        <p:nvSpPr>
          <p:cNvPr id="314" name="Google Shape;314;p21">
            <a:extLst>
              <a:ext uri="{FF2B5EF4-FFF2-40B4-BE49-F238E27FC236}">
                <a16:creationId xmlns:a16="http://schemas.microsoft.com/office/drawing/2014/main" id="{64B63C61-B8FE-4CD8-8AA2-E1752F5DBD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4665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>
            <a:extLst>
              <a:ext uri="{FF2B5EF4-FFF2-40B4-BE49-F238E27FC236}">
                <a16:creationId xmlns:a16="http://schemas.microsoft.com/office/drawing/2014/main" id="{3A9B6947-2F16-4189-B3EC-A74916A98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Export SBOM and HBOM in standard formats such as CycloneDX and SPDX.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/>
              <a:t>Support NTIA minimum requirements.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/>
              <a:t>Exclude selected components when needed.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/>
              <a:t>Export vulnerability reports on demand in PDF or VEX format.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t>Generate automatic monthly PDF reports with a full audit trail of actions and status changes.</a:t>
            </a:r>
          </a:p>
        </p:txBody>
      </p:sp>
      <p:sp>
        <p:nvSpPr>
          <p:cNvPr id="326" name="Google Shape;326;p23">
            <a:extLst>
              <a:ext uri="{FF2B5EF4-FFF2-40B4-BE49-F238E27FC236}">
                <a16:creationId xmlns:a16="http://schemas.microsoft.com/office/drawing/2014/main" id="{ACB3699B-F258-49C1-9B96-07EE5D8C2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Reports for customers &amp; regulatory bodies</a:t>
            </a:r>
          </a:p>
        </p:txBody>
      </p:sp>
      <p:sp>
        <p:nvSpPr>
          <p:cNvPr id="327" name="Google Shape;327;p23">
            <a:extLst>
              <a:ext uri="{FF2B5EF4-FFF2-40B4-BE49-F238E27FC236}">
                <a16:creationId xmlns:a16="http://schemas.microsoft.com/office/drawing/2014/main" id="{8A28DB6A-6E2F-4FF2-B8BD-0C5D3D5DBD2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694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">
            <a:extLst>
              <a:ext uri="{FF2B5EF4-FFF2-40B4-BE49-F238E27FC236}">
                <a16:creationId xmlns:a16="http://schemas.microsoft.com/office/drawing/2014/main" id="{25A374E0-D89F-4CA7-8296-46084BF0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Collaboration among teams in ARIANNA</a:t>
            </a:r>
          </a:p>
        </p:txBody>
      </p:sp>
      <p:sp>
        <p:nvSpPr>
          <p:cNvPr id="346" name="Google Shape;346;p26">
            <a:extLst>
              <a:ext uri="{FF2B5EF4-FFF2-40B4-BE49-F238E27FC236}">
                <a16:creationId xmlns:a16="http://schemas.microsoft.com/office/drawing/2014/main" id="{F4ECB138-58EE-4186-9C33-6C678EBD802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16</a:t>
            </a:fld>
            <a:endParaRPr/>
          </a:p>
        </p:txBody>
      </p:sp>
      <p:pic>
        <p:nvPicPr>
          <p:cNvPr id="362" name="Google Shape;347;p2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7147" y="1561356"/>
            <a:ext cx="1088503" cy="1088503"/>
          </a:xfrm>
          <a:prstGeom prst="rect">
            <a:avLst/>
          </a:prstGeom>
          <a:ln>
            <a:noFill/>
          </a:ln>
        </p:spPr>
      </p:pic>
      <p:pic>
        <p:nvPicPr>
          <p:cNvPr id="363" name="Google Shape;348;p2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1213" y="3354453"/>
            <a:ext cx="1088503" cy="1088503"/>
          </a:xfrm>
          <a:prstGeom prst="rect">
            <a:avLst/>
          </a:prstGeom>
          <a:ln>
            <a:noFill/>
          </a:ln>
        </p:spPr>
      </p:pic>
      <p:sp>
        <p:nvSpPr>
          <p:cNvPr id="349" name="Google Shape;349;p26">
            <a:extLst>
              <a:ext uri="{FF2B5EF4-FFF2-40B4-BE49-F238E27FC236}">
                <a16:creationId xmlns:a16="http://schemas.microsoft.com/office/drawing/2014/main" id="{B7BC5250-85D5-4B37-8FE2-EBF870B299BB}"/>
              </a:ext>
            </a:extLst>
          </p:cNvPr>
          <p:cNvSpPr>
            <a:spLocks noGrp="1"/>
          </p:cNvSpPr>
          <p:nvPr/>
        </p:nvSpPr>
        <p:spPr>
          <a:xfrm>
            <a:off x="4819156" y="2388249"/>
            <a:ext cx="1080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88B24B"/>
                </a:solidFill>
                <a:latin typeface="Arial"/>
                <a:ea typeface="Arial"/>
                <a:cs typeface="Arial"/>
              </a:rPr>
              <a:t>TEAM A</a:t>
            </a:r>
          </a:p>
        </p:txBody>
      </p:sp>
      <p:sp>
        <p:nvSpPr>
          <p:cNvPr id="350" name="Google Shape;350;p26">
            <a:extLst>
              <a:ext uri="{FF2B5EF4-FFF2-40B4-BE49-F238E27FC236}">
                <a16:creationId xmlns:a16="http://schemas.microsoft.com/office/drawing/2014/main" id="{9B3BABB8-3394-4B40-B26B-F4EB7107519F}"/>
              </a:ext>
            </a:extLst>
          </p:cNvPr>
          <p:cNvSpPr>
            <a:spLocks noGrp="1"/>
          </p:cNvSpPr>
          <p:nvPr/>
        </p:nvSpPr>
        <p:spPr>
          <a:xfrm>
            <a:off x="4580819" y="1479363"/>
            <a:ext cx="2254199" cy="1198692"/>
          </a:xfrm>
          <a:prstGeom prst="roundRect">
            <a:avLst>
              <a:gd name="adj" fmla="val 16667"/>
            </a:avLst>
          </a:prstGeom>
          <a:noFill/>
          <a:ln w="19050" cmpd="sng">
            <a:solidFill>
              <a:srgbClr val="B4AFAC"/>
            </a:solidFill>
            <a:prstDash val="solid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A5A5A5"/>
                </a:solidFill>
                <a:latin typeface="Arial"/>
                <a:ea typeface="Arial"/>
                <a:cs typeface="Arial"/>
              </a:rPr>
              <a:t>PROJECT A</a:t>
            </a:r>
          </a:p>
        </p:txBody>
      </p:sp>
      <p:sp>
        <p:nvSpPr>
          <p:cNvPr id="351" name="Google Shape;351;p26">
            <a:extLst>
              <a:ext uri="{FF2B5EF4-FFF2-40B4-BE49-F238E27FC236}">
                <a16:creationId xmlns:a16="http://schemas.microsoft.com/office/drawing/2014/main" id="{0217C5C2-2E24-48C8-BB77-0EF80DF7DA72}"/>
              </a:ext>
            </a:extLst>
          </p:cNvPr>
          <p:cNvSpPr>
            <a:spLocks noGrp="1"/>
          </p:cNvSpPr>
          <p:nvPr/>
        </p:nvSpPr>
        <p:spPr>
          <a:xfrm>
            <a:off x="4575944" y="3258607"/>
            <a:ext cx="2259074" cy="1192795"/>
          </a:xfrm>
          <a:prstGeom prst="roundRect">
            <a:avLst>
              <a:gd name="adj" fmla="val 16667"/>
            </a:avLst>
          </a:prstGeom>
          <a:noFill/>
          <a:ln w="19050" cmpd="sng">
            <a:solidFill>
              <a:srgbClr val="B4AFAC"/>
            </a:solidFill>
            <a:prstDash val="solid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A5A5A5"/>
                </a:solidFill>
                <a:latin typeface="Arial"/>
                <a:ea typeface="Arial"/>
                <a:cs typeface="Arial"/>
              </a:rPr>
              <a:t>PROJECT B</a:t>
            </a:r>
          </a:p>
        </p:txBody>
      </p:sp>
      <p:sp>
        <p:nvSpPr>
          <p:cNvPr id="352" name="Google Shape;352;p26">
            <a:extLst>
              <a:ext uri="{FF2B5EF4-FFF2-40B4-BE49-F238E27FC236}">
                <a16:creationId xmlns:a16="http://schemas.microsoft.com/office/drawing/2014/main" id="{5DD6FBA7-54CE-492F-A32D-65E4DC9DB390}"/>
              </a:ext>
            </a:extLst>
          </p:cNvPr>
          <p:cNvSpPr>
            <a:spLocks noGrp="1"/>
          </p:cNvSpPr>
          <p:nvPr/>
        </p:nvSpPr>
        <p:spPr>
          <a:xfrm>
            <a:off x="6535390" y="1652549"/>
            <a:ext cx="864096" cy="720079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 &amp; HBOM</a:t>
            </a:r>
          </a:p>
        </p:txBody>
      </p:sp>
      <p:sp>
        <p:nvSpPr>
          <p:cNvPr id="353" name="Google Shape;353;p26">
            <a:extLst>
              <a:ext uri="{FF2B5EF4-FFF2-40B4-BE49-F238E27FC236}">
                <a16:creationId xmlns:a16="http://schemas.microsoft.com/office/drawing/2014/main" id="{B4B2DBFE-3382-48D5-BA8B-CE3C70F44CD2}"/>
              </a:ext>
            </a:extLst>
          </p:cNvPr>
          <p:cNvSpPr>
            <a:spLocks noGrp="1"/>
          </p:cNvSpPr>
          <p:nvPr/>
        </p:nvSpPr>
        <p:spPr>
          <a:xfrm>
            <a:off x="4822440" y="4181346"/>
            <a:ext cx="1080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TEAM B</a:t>
            </a:r>
          </a:p>
        </p:txBody>
      </p:sp>
      <p:sp>
        <p:nvSpPr>
          <p:cNvPr id="354" name="Google Shape;354;p26">
            <a:extLst>
              <a:ext uri="{FF2B5EF4-FFF2-40B4-BE49-F238E27FC236}">
                <a16:creationId xmlns:a16="http://schemas.microsoft.com/office/drawing/2014/main" id="{6A8E4A7F-44FD-45C6-BBA3-7819529CC2E9}"/>
              </a:ext>
            </a:extLst>
          </p:cNvPr>
          <p:cNvSpPr>
            <a:spLocks noGrp="1"/>
          </p:cNvSpPr>
          <p:nvPr/>
        </p:nvSpPr>
        <p:spPr>
          <a:xfrm>
            <a:off x="6535390" y="3363189"/>
            <a:ext cx="864096" cy="720079"/>
          </a:xfrm>
          <a:prstGeom prst="roundRect">
            <a:avLst>
              <a:gd name="adj" fmla="val 16667"/>
            </a:avLst>
          </a:prstGeom>
          <a:solidFill>
            <a:srgbClr val="ED91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 &amp; HBOM</a:t>
            </a:r>
          </a:p>
        </p:txBody>
      </p:sp>
      <p:sp>
        <p:nvSpPr>
          <p:cNvPr id="355" name="Google Shape;355;p26">
            <a:extLst>
              <a:ext uri="{FF2B5EF4-FFF2-40B4-BE49-F238E27FC236}">
                <a16:creationId xmlns:a16="http://schemas.microsoft.com/office/drawing/2014/main" id="{0468DE60-4270-4FB5-95CD-D5C6BB3C9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3857487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88B24B"/>
                </a:solidFill>
              </a:rPr>
              <a:t>Different teams can manage their own projects in ARIANNA while sharing visibility where needed.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A system-level team can reuse vulnerability decisions already made by component teams.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200">
                <a:solidFill>
                  <a:schemeClr val="dk2"/>
                </a:solidFill>
              </a:rPr>
              <a:t>That reduces duplicate triage effort and improves consistency across products and organizations.</a:t>
            </a:r>
          </a:p>
        </p:txBody>
      </p:sp>
      <p:sp>
        <p:nvSpPr>
          <p:cNvPr id="356" name="Google Shape;356;p26">
            <a:extLst>
              <a:ext uri="{FF2B5EF4-FFF2-40B4-BE49-F238E27FC236}">
                <a16:creationId xmlns:a16="http://schemas.microsoft.com/office/drawing/2014/main" id="{CCA4F6B0-E544-44CF-B8B4-F75716D8A4A4}"/>
              </a:ext>
            </a:extLst>
          </p:cNvPr>
          <p:cNvSpPr>
            <a:spLocks noGrp="1"/>
          </p:cNvSpPr>
          <p:nvPr/>
        </p:nvSpPr>
        <p:spPr>
          <a:xfrm>
            <a:off x="6629462" y="1156063"/>
            <a:ext cx="864096" cy="6099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mpd="sng">
            <a:solidFill>
              <a:schemeClr val="accent4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accent4"/>
                </a:solidFill>
                <a:latin typeface="Arial"/>
                <a:ea typeface="Arial"/>
                <a:cs typeface="Arial"/>
              </a:rPr>
              <a:t>VULNs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accent4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357" name="Google Shape;357;p26">
            <a:extLst>
              <a:ext uri="{FF2B5EF4-FFF2-40B4-BE49-F238E27FC236}">
                <a16:creationId xmlns:a16="http://schemas.microsoft.com/office/drawing/2014/main" id="{E727A53A-022F-48EC-8A22-29998E8CC1D2}"/>
              </a:ext>
            </a:extLst>
          </p:cNvPr>
          <p:cNvSpPr>
            <a:spLocks noGrp="1"/>
          </p:cNvSpPr>
          <p:nvPr/>
        </p:nvSpPr>
        <p:spPr>
          <a:xfrm>
            <a:off x="6619356" y="2857500"/>
            <a:ext cx="864096" cy="6099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mpd="sng">
            <a:solidFill>
              <a:srgbClr val="ED9181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VULNs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278517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">
            <a:extLst>
              <a:ext uri="{FF2B5EF4-FFF2-40B4-BE49-F238E27FC236}">
                <a16:creationId xmlns:a16="http://schemas.microsoft.com/office/drawing/2014/main" id="{B9575238-D7C4-4189-BB61-E2AFCB4A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655856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400"/>
              <a:t>One connected device with 3 processing units: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PU1: i.MX93 MPU with Yocto + JavaScript + Python applications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PU2: STM32F4 MCU with bootloader + application firmware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PU3: ESP32 MCU with application firmware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400"/>
              <a:t>Two model versions: initial model and an updated ESP32 firmware version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We will show: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The delta between model versions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400"/>
              <a:t>New and automatically closed vulnerabilities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400"/>
              <a:t>The high-priority vulnerability view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The exported final report</a:t>
            </a:r>
          </a:p>
        </p:txBody>
      </p:sp>
      <p:sp>
        <p:nvSpPr>
          <p:cNvPr id="406" name="Google Shape;406;p30">
            <a:extLst>
              <a:ext uri="{FF2B5EF4-FFF2-40B4-BE49-F238E27FC236}">
                <a16:creationId xmlns:a16="http://schemas.microsoft.com/office/drawing/2014/main" id="{503027C0-4340-420A-B70C-BB1E6847C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What the demo will show</a:t>
            </a:r>
          </a:p>
        </p:txBody>
      </p:sp>
      <p:sp>
        <p:nvSpPr>
          <p:cNvPr id="407" name="Google Shape;407;p30">
            <a:extLst>
              <a:ext uri="{FF2B5EF4-FFF2-40B4-BE49-F238E27FC236}">
                <a16:creationId xmlns:a16="http://schemas.microsoft.com/office/drawing/2014/main" id="{2D5CF676-F808-4229-9B2A-E8334CC9CC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17</a:t>
            </a:fld>
            <a:endParaRPr/>
          </a:p>
        </p:txBody>
      </p:sp>
      <p:pic>
        <p:nvPicPr>
          <p:cNvPr id="437" name="Google Shape;408;p3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8232" y="3630103"/>
            <a:ext cx="2664296" cy="1534635"/>
          </a:xfrm>
          <a:prstGeom prst="rect">
            <a:avLst/>
          </a:prstGeom>
          <a:ln>
            <a:noFill/>
          </a:ln>
        </p:spPr>
      </p:pic>
      <p:sp>
        <p:nvSpPr>
          <p:cNvPr id="409" name="Google Shape;409;p30">
            <a:extLst>
              <a:ext uri="{FF2B5EF4-FFF2-40B4-BE49-F238E27FC236}">
                <a16:creationId xmlns:a16="http://schemas.microsoft.com/office/drawing/2014/main" id="{D70B2585-E59B-48DC-8862-116EB3689C13}"/>
              </a:ext>
            </a:extLst>
          </p:cNvPr>
          <p:cNvSpPr>
            <a:spLocks noGrp="1"/>
          </p:cNvSpPr>
          <p:nvPr/>
        </p:nvSpPr>
        <p:spPr>
          <a:xfrm>
            <a:off x="7315433" y="1080071"/>
            <a:ext cx="1289774" cy="34851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 cmpd="sng">
            <a:solidFill>
              <a:schemeClr val="accent2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PU3|ESP32</a:t>
            </a:r>
          </a:p>
        </p:txBody>
      </p:sp>
      <p:cxnSp>
        <p:nvCxnSpPr>
          <p:cNvPr id="439" name="Google Shape;410;p30"/>
          <p:cNvCxnSpPr>
            <a:stCxn id="411" idx="2"/>
          </p:cNvCxnSpPr>
          <p:nvPr/>
        </p:nvCxnSpPr>
        <p:spPr>
          <a:xfrm>
            <a:off x="8400929" y="2086996"/>
            <a:ext cx="0" cy="1854300"/>
          </a:xfrm>
          <a:prstGeom prst="straightConnector1">
            <a:avLst/>
          </a:prstGeom>
          <a:ln w="19050" cap="flat">
            <a:solidFill>
              <a:schemeClr val="accent4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440" name="Google Shape;412;p30"/>
          <p:cNvCxnSpPr>
            <a:stCxn id="413" idx="2"/>
          </p:cNvCxnSpPr>
          <p:nvPr/>
        </p:nvCxnSpPr>
        <p:spPr>
          <a:xfrm>
            <a:off x="8971666" y="3456339"/>
            <a:ext cx="0" cy="376800"/>
          </a:xfrm>
          <a:prstGeom prst="straightConnector1">
            <a:avLst/>
          </a:prstGeom>
          <a:ln w="19050" cap="flat">
            <a:solidFill>
              <a:srgbClr val="FD9600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441" name="Google Shape;414;p30"/>
          <p:cNvCxnSpPr>
            <a:stCxn id="409" idx="2"/>
          </p:cNvCxnSpPr>
          <p:nvPr/>
        </p:nvCxnSpPr>
        <p:spPr>
          <a:xfrm>
            <a:off x="7960320" y="1428585"/>
            <a:ext cx="0" cy="2526000"/>
          </a:xfrm>
          <a:prstGeom prst="straightConnector1">
            <a:avLst/>
          </a:prstGeom>
          <a:ln w="19050" cap="flat">
            <a:solidFill>
              <a:schemeClr val="accent2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411" name="Google Shape;411;p30">
            <a:extLst>
              <a:ext uri="{FF2B5EF4-FFF2-40B4-BE49-F238E27FC236}">
                <a16:creationId xmlns:a16="http://schemas.microsoft.com/office/drawing/2014/main" id="{33C04E56-6492-4425-A60E-88F4AED0BB75}"/>
              </a:ext>
            </a:extLst>
          </p:cNvPr>
          <p:cNvSpPr>
            <a:spLocks noGrp="1"/>
          </p:cNvSpPr>
          <p:nvPr/>
        </p:nvSpPr>
        <p:spPr>
          <a:xfrm>
            <a:off x="7744296" y="1738482"/>
            <a:ext cx="1313266" cy="34851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2225" cmpd="sng">
            <a:solidFill>
              <a:schemeClr val="accent4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PU1 | i.MX 93</a:t>
            </a:r>
          </a:p>
        </p:txBody>
      </p:sp>
      <p:sp>
        <p:nvSpPr>
          <p:cNvPr id="413" name="Google Shape;413;p30">
            <a:extLst>
              <a:ext uri="{FF2B5EF4-FFF2-40B4-BE49-F238E27FC236}">
                <a16:creationId xmlns:a16="http://schemas.microsoft.com/office/drawing/2014/main" id="{AAF85AE2-C526-4226-9F9E-171A6D6F313A}"/>
              </a:ext>
            </a:extLst>
          </p:cNvPr>
          <p:cNvSpPr>
            <a:spLocks noGrp="1"/>
          </p:cNvSpPr>
          <p:nvPr/>
        </p:nvSpPr>
        <p:spPr>
          <a:xfrm>
            <a:off x="8327298" y="3107825"/>
            <a:ext cx="1288736" cy="348514"/>
          </a:xfrm>
          <a:prstGeom prst="roundRect">
            <a:avLst>
              <a:gd name="adj" fmla="val 50000"/>
            </a:avLst>
          </a:prstGeom>
          <a:solidFill>
            <a:srgbClr val="FD9600"/>
          </a:solidFill>
          <a:ln w="22225" cmpd="sng">
            <a:solidFill>
              <a:srgbClr val="FD9600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PU2 | STM32F4</a:t>
            </a:r>
          </a:p>
        </p:txBody>
      </p:sp>
    </p:spTree>
    <p:extLst>
      <p:ext uri="{BB962C8B-B14F-4D97-AF65-F5344CB8AC3E}">
        <p14:creationId xmlns:p14="http://schemas.microsoft.com/office/powerpoint/2010/main" val="2038221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1">
            <a:extLst>
              <a:ext uri="{FF2B5EF4-FFF2-40B4-BE49-F238E27FC236}">
                <a16:creationId xmlns:a16="http://schemas.microsoft.com/office/drawing/2014/main" id="{DE1A30B4-5A98-4BA4-96D6-61DF1F5C1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448" y="2641476"/>
            <a:ext cx="993140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Thank you</a:t>
            </a:r>
          </a:p>
        </p:txBody>
      </p:sp>
      <p:pic>
        <p:nvPicPr>
          <p:cNvPr id="422" name="Google Shape;420;p3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456" y="4873724"/>
            <a:ext cx="2133144" cy="6821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82674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4">
  <a:themeElements>
    <a:clrScheme name="Security Pattern Color">
      <a:dk1>
        <a:srgbClr val="000000"/>
      </a:dk1>
      <a:lt1>
        <a:srgbClr val="FFFFFF"/>
      </a:lt1>
      <a:dk2>
        <a:srgbClr val="41BAB6"/>
      </a:dk2>
      <a:lt2>
        <a:srgbClr val="C5C6C7"/>
      </a:lt2>
      <a:accent1>
        <a:srgbClr val="F7F0EC"/>
      </a:accent1>
      <a:accent2>
        <a:srgbClr val="E2492F"/>
      </a:accent2>
      <a:accent3>
        <a:srgbClr val="41BAB6"/>
      </a:accent3>
      <a:accent4>
        <a:srgbClr val="88B04B"/>
      </a:accent4>
      <a:accent5>
        <a:srgbClr val="F1C300"/>
      </a:accent5>
      <a:accent6>
        <a:srgbClr val="5E5E5E"/>
      </a:accent6>
      <a:hlink>
        <a:srgbClr val="41BAB6"/>
      </a:hlink>
      <a:folHlink>
        <a:srgbClr val="41BA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curity Pattern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4">
  <a:themeElements>
    <a:clrScheme name="Security Pattern Color">
      <a:dk1>
        <a:srgbClr val="000000"/>
      </a:dk1>
      <a:lt1>
        <a:srgbClr val="FFFFFF"/>
      </a:lt1>
      <a:dk2>
        <a:srgbClr val="41BAB6"/>
      </a:dk2>
      <a:lt2>
        <a:srgbClr val="C5C6C7"/>
      </a:lt2>
      <a:accent1>
        <a:srgbClr val="F7F0EC"/>
      </a:accent1>
      <a:accent2>
        <a:srgbClr val="E2492F"/>
      </a:accent2>
      <a:accent3>
        <a:srgbClr val="41BAB6"/>
      </a:accent3>
      <a:accent4>
        <a:srgbClr val="88B04B"/>
      </a:accent4>
      <a:accent5>
        <a:srgbClr val="F1C300"/>
      </a:accent5>
      <a:accent6>
        <a:srgbClr val="5E5E5E"/>
      </a:accent6>
      <a:hlink>
        <a:srgbClr val="41BAB6"/>
      </a:hlink>
      <a:folHlink>
        <a:srgbClr val="41BA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curity Pattern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1249</Words>
  <Application>Microsoft Macintosh PowerPoint</Application>
  <DocSecurity>0</DocSecurity>
  <PresentationFormat>Aangepast</PresentationFormat>
  <Paragraphs>166</Paragraphs>
  <Slides>18</Slides>
  <Notes>18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1" baseType="lpstr">
      <vt:lpstr>Arial</vt:lpstr>
      <vt:lpstr>Montserrat</vt:lpstr>
      <vt:lpstr>Tema4</vt:lpstr>
      <vt:lpstr>Get grip on product security with ARIANNA</vt:lpstr>
      <vt:lpstr>Why Manufacturers Struggle with CRA</vt:lpstr>
      <vt:lpstr>Why ARIANNA exists</vt:lpstr>
      <vt:lpstr>From 2,775 Vulnerabilities to 10 Actions</vt:lpstr>
      <vt:lpstr>How ARIANNA operationalizes product security</vt:lpstr>
      <vt:lpstr>Smart devices are not just software</vt:lpstr>
      <vt:lpstr>Device Model creation: HBOM</vt:lpstr>
      <vt:lpstr>Device Model creation: SBOM</vt:lpstr>
      <vt:lpstr>Device Model lifecycle &amp; VMP</vt:lpstr>
      <vt:lpstr>Continuous Vulnerability Monitoring</vt:lpstr>
      <vt:lpstr>Severity alone is no longer enough</vt:lpstr>
      <vt:lpstr>Configurable pre-triage engine</vt:lpstr>
      <vt:lpstr>YOCTO Connected Device</vt:lpstr>
      <vt:lpstr>ARIANNA KEV catalogue</vt:lpstr>
      <vt:lpstr>Reports for customers &amp; regulatory bodies</vt:lpstr>
      <vt:lpstr>Collaboration among teams in ARIANNA</vt:lpstr>
      <vt:lpstr>What the demo will show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Jan Jager</cp:lastModifiedBy>
  <cp:revision>2</cp:revision>
  <dcterms:created xsi:type="dcterms:W3CDTF">2026-06-23T13:32:46Z</dcterms:created>
  <dcterms:modified xsi:type="dcterms:W3CDTF">2026-06-23T14:12:25Z</dcterms:modified>
</cp:coreProperties>
</file>