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e7c55e963542b2" /><Relationship Type="http://schemas.openxmlformats.org/officeDocument/2006/relationships/extended-properties" Target="/docProps/app.xml" Id="R51fdb1a938d0402f" /><Relationship Type="http://schemas.openxmlformats.org/officeDocument/2006/relationships/officeDocument" Target="/ppt/presentation.xml" Id="R9a54a2d1af4348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5c88a0a9df4d08"/>
  </p:sldMasterIdLst>
  <p:notesMasterIdLst>
    <p:notesMasterId xmlns:r="http://schemas.openxmlformats.org/officeDocument/2006/relationships" r:id="R999c2b7cd6a5475a"/>
  </p:notesMasterIdLst>
  <p:sldIdLst>
    <p:sldId xmlns:r="http://schemas.openxmlformats.org/officeDocument/2006/relationships" id="256" r:id="Raf92f27221ba48aa"/>
    <p:sldId xmlns:r="http://schemas.openxmlformats.org/officeDocument/2006/relationships" id="257" r:id="R72434f7636784558"/>
    <p:sldId xmlns:r="http://schemas.openxmlformats.org/officeDocument/2006/relationships" id="258" r:id="R2b3d3c5bd0f04120"/>
    <p:sldId xmlns:r="http://schemas.openxmlformats.org/officeDocument/2006/relationships" id="259" r:id="R252af2803e554a79"/>
    <p:sldId xmlns:r="http://schemas.openxmlformats.org/officeDocument/2006/relationships" id="260" r:id="R23f452f6f7e54d0e"/>
    <p:sldId xmlns:r="http://schemas.openxmlformats.org/officeDocument/2006/relationships" id="261" r:id="R327f769c261341ae"/>
    <p:sldId xmlns:r="http://schemas.openxmlformats.org/officeDocument/2006/relationships" id="262" r:id="Rfa1c834a088b46c8"/>
    <p:sldId xmlns:r="http://schemas.openxmlformats.org/officeDocument/2006/relationships" id="263" r:id="Reddf08e2beaa474d"/>
    <p:sldId xmlns:r="http://schemas.openxmlformats.org/officeDocument/2006/relationships" id="264" r:id="R127dc25fde5b49c1"/>
    <p:sldId xmlns:r="http://schemas.openxmlformats.org/officeDocument/2006/relationships" id="265" r:id="R4bb0fc8bc3954ca1"/>
    <p:sldId xmlns:r="http://schemas.openxmlformats.org/officeDocument/2006/relationships" id="266" r:id="Rf625ce581e504a3c"/>
    <p:sldId xmlns:r="http://schemas.openxmlformats.org/officeDocument/2006/relationships" id="267" r:id="R6e2ff5ce168b4f8b"/>
    <p:sldId xmlns:r="http://schemas.openxmlformats.org/officeDocument/2006/relationships" id="268" r:id="R95f5f780bfd04d74"/>
    <p:sldId xmlns:r="http://schemas.openxmlformats.org/officeDocument/2006/relationships" id="269" r:id="R62b98cd797d14122"/>
    <p:sldId xmlns:r="http://schemas.openxmlformats.org/officeDocument/2006/relationships" id="270" r:id="Rac681c154cc44786"/>
    <p:sldId xmlns:r="http://schemas.openxmlformats.org/officeDocument/2006/relationships" id="271" r:id="Rf3df15bbf0f346b5"/>
    <p:sldId xmlns:r="http://schemas.openxmlformats.org/officeDocument/2006/relationships" id="272" r:id="Rba7834e93b95445c"/>
    <p:sldId xmlns:r="http://schemas.openxmlformats.org/officeDocument/2006/relationships" id="273" r:id="R4c5cda3f17ef4643"/>
    <p:sldId xmlns:r="http://schemas.openxmlformats.org/officeDocument/2006/relationships" id="274" r:id="R8c03b4f3dbc24d90"/>
    <p:sldId xmlns:r="http://schemas.openxmlformats.org/officeDocument/2006/relationships" id="275" r:id="Rd7eee3cd96c7411e"/>
    <p:sldId xmlns:r="http://schemas.openxmlformats.org/officeDocument/2006/relationships" id="276" r:id="R97b299b57f25401e"/>
    <p:sldId xmlns:r="http://schemas.openxmlformats.org/officeDocument/2006/relationships" id="277" r:id="R688ceffa35334392"/>
    <p:sldId xmlns:r="http://schemas.openxmlformats.org/officeDocument/2006/relationships" id="278" r:id="R3e038aed00aa4226"/>
    <p:sldId xmlns:r="http://schemas.openxmlformats.org/officeDocument/2006/relationships" id="279" r:id="Rbed4fb8a39ac484f"/>
    <p:sldId xmlns:r="http://schemas.openxmlformats.org/officeDocument/2006/relationships" id="280" r:id="Ra3d31fda5a584788"/>
    <p:sldId xmlns:r="http://schemas.openxmlformats.org/officeDocument/2006/relationships" id="281" r:id="Rd3fa5aa887da48b3"/>
    <p:sldId xmlns:r="http://schemas.openxmlformats.org/officeDocument/2006/relationships" id="282" r:id="Rb9e8d60942aa4f1d"/>
    <p:sldId xmlns:r="http://schemas.openxmlformats.org/officeDocument/2006/relationships" id="283" r:id="R8422ac2d2f1c4681"/>
    <p:sldId xmlns:r="http://schemas.openxmlformats.org/officeDocument/2006/relationships" id="284" r:id="Rb376545c5d844dd0"/>
    <p:sldId xmlns:r="http://schemas.openxmlformats.org/officeDocument/2006/relationships" id="285" r:id="R7ce7b3952e4d457a"/>
    <p:sldId xmlns:r="http://schemas.openxmlformats.org/officeDocument/2006/relationships" id="286" r:id="R9c31a4261d8643d2"/>
    <p:sldId xmlns:r="http://schemas.openxmlformats.org/officeDocument/2006/relationships" id="287" r:id="Rb987444b554948ef"/>
    <p:sldId xmlns:r="http://schemas.openxmlformats.org/officeDocument/2006/relationships" id="288" r:id="Re8168a95e8de4186"/>
    <p:sldId xmlns:r="http://schemas.openxmlformats.org/officeDocument/2006/relationships" id="289" r:id="R95c8227763d54c07"/>
    <p:sldId xmlns:r="http://schemas.openxmlformats.org/officeDocument/2006/relationships" id="290" r:id="Rc0732dd8ddc44e7a"/>
    <p:sldId xmlns:r="http://schemas.openxmlformats.org/officeDocument/2006/relationships" id="291" r:id="R586f9f500aac4813"/>
  </p:sldIdLst>
  <p:sldSz cx="10160000" cy="5715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1de85aa7e74cda" /><Relationship Type="http://schemas.openxmlformats.org/officeDocument/2006/relationships/slideMaster" Target="/ppt/slideMasters/slideMaster1.xml" Id="Ra85c88a0a9df4d08" /><Relationship Type="http://schemas.openxmlformats.org/officeDocument/2006/relationships/notesMaster" Target="/ppt/notesMasters/notesMaster1.xml" Id="R999c2b7cd6a5475a" /><Relationship Type="http://schemas.openxmlformats.org/officeDocument/2006/relationships/presProps" Target="/ppt/presProps.xml" Id="R54846976e1884567" /><Relationship Type="http://schemas.openxmlformats.org/officeDocument/2006/relationships/tableStyles" Target="/ppt/tableStyles.xml" Id="R4c52c46ce87b4964" /><Relationship Type="http://schemas.openxmlformats.org/officeDocument/2006/relationships/slide" Target="/ppt/slides/slide1.xml" Id="Raf92f27221ba48aa" /><Relationship Type="http://schemas.openxmlformats.org/officeDocument/2006/relationships/slide" Target="/ppt/slides/slide2.xml" Id="R72434f7636784558" /><Relationship Type="http://schemas.openxmlformats.org/officeDocument/2006/relationships/slide" Target="/ppt/slides/slide3.xml" Id="R2b3d3c5bd0f04120" /><Relationship Type="http://schemas.openxmlformats.org/officeDocument/2006/relationships/slide" Target="/ppt/slides/slide4.xml" Id="R252af2803e554a79" /><Relationship Type="http://schemas.openxmlformats.org/officeDocument/2006/relationships/slide" Target="/ppt/slides/slide5.xml" Id="R23f452f6f7e54d0e" /><Relationship Type="http://schemas.openxmlformats.org/officeDocument/2006/relationships/slide" Target="/ppt/slides/slide6.xml" Id="R327f769c261341ae" /><Relationship Type="http://schemas.openxmlformats.org/officeDocument/2006/relationships/slide" Target="/ppt/slides/slide7.xml" Id="Rfa1c834a088b46c8" /><Relationship Type="http://schemas.openxmlformats.org/officeDocument/2006/relationships/slide" Target="/ppt/slides/slide8.xml" Id="Reddf08e2beaa474d" /><Relationship Type="http://schemas.openxmlformats.org/officeDocument/2006/relationships/slide" Target="/ppt/slides/slide9.xml" Id="R127dc25fde5b49c1" /><Relationship Type="http://schemas.openxmlformats.org/officeDocument/2006/relationships/slide" Target="/ppt/slides/slide10.xml" Id="R4bb0fc8bc3954ca1" /><Relationship Type="http://schemas.openxmlformats.org/officeDocument/2006/relationships/slide" Target="/ppt/slides/slide11.xml" Id="Rf625ce581e504a3c" /><Relationship Type="http://schemas.openxmlformats.org/officeDocument/2006/relationships/slide" Target="/ppt/slides/slide12.xml" Id="R6e2ff5ce168b4f8b" /><Relationship Type="http://schemas.openxmlformats.org/officeDocument/2006/relationships/slide" Target="/ppt/slides/slide13.xml" Id="R95f5f780bfd04d74" /><Relationship Type="http://schemas.openxmlformats.org/officeDocument/2006/relationships/slide" Target="/ppt/slides/slide14.xml" Id="R62b98cd797d14122" /><Relationship Type="http://schemas.openxmlformats.org/officeDocument/2006/relationships/slide" Target="/ppt/slides/slide15.xml" Id="Rac681c154cc44786" /><Relationship Type="http://schemas.openxmlformats.org/officeDocument/2006/relationships/slide" Target="/ppt/slides/slide16.xml" Id="Rf3df15bbf0f346b5" /><Relationship Type="http://schemas.openxmlformats.org/officeDocument/2006/relationships/slide" Target="/ppt/slides/slide17.xml" Id="Rba7834e93b95445c" /><Relationship Type="http://schemas.openxmlformats.org/officeDocument/2006/relationships/slide" Target="/ppt/slides/slide18.xml" Id="R4c5cda3f17ef4643" /><Relationship Type="http://schemas.openxmlformats.org/officeDocument/2006/relationships/slide" Target="/ppt/slides/slide19.xml" Id="R8c03b4f3dbc24d90" /><Relationship Type="http://schemas.openxmlformats.org/officeDocument/2006/relationships/slide" Target="/ppt/slides/slide20.xml" Id="Rd7eee3cd96c7411e" /><Relationship Type="http://schemas.openxmlformats.org/officeDocument/2006/relationships/slide" Target="/ppt/slides/slide21.xml" Id="R97b299b57f25401e" /><Relationship Type="http://schemas.openxmlformats.org/officeDocument/2006/relationships/slide" Target="/ppt/slides/slide22.xml" Id="R688ceffa35334392" /><Relationship Type="http://schemas.openxmlformats.org/officeDocument/2006/relationships/slide" Target="/ppt/slides/slide23.xml" Id="R3e038aed00aa4226" /><Relationship Type="http://schemas.openxmlformats.org/officeDocument/2006/relationships/slide" Target="/ppt/slides/slide24.xml" Id="Rbed4fb8a39ac484f" /><Relationship Type="http://schemas.openxmlformats.org/officeDocument/2006/relationships/slide" Target="/ppt/slides/slide25.xml" Id="Ra3d31fda5a584788" /><Relationship Type="http://schemas.openxmlformats.org/officeDocument/2006/relationships/slide" Target="/ppt/slides/slide26.xml" Id="Rd3fa5aa887da48b3" /><Relationship Type="http://schemas.openxmlformats.org/officeDocument/2006/relationships/slide" Target="/ppt/slides/slide27.xml" Id="Rb9e8d60942aa4f1d" /><Relationship Type="http://schemas.openxmlformats.org/officeDocument/2006/relationships/slide" Target="/ppt/slides/slide28.xml" Id="R8422ac2d2f1c4681" /><Relationship Type="http://schemas.openxmlformats.org/officeDocument/2006/relationships/slide" Target="/ppt/slides/slide29.xml" Id="Rb376545c5d844dd0" /><Relationship Type="http://schemas.openxmlformats.org/officeDocument/2006/relationships/slide" Target="/ppt/slides/slide30.xml" Id="R7ce7b3952e4d457a" /><Relationship Type="http://schemas.openxmlformats.org/officeDocument/2006/relationships/slide" Target="/ppt/slides/slide31.xml" Id="R9c31a4261d8643d2" /><Relationship Type="http://schemas.openxmlformats.org/officeDocument/2006/relationships/slide" Target="/ppt/slides/slide32.xml" Id="Rb987444b554948ef" /><Relationship Type="http://schemas.openxmlformats.org/officeDocument/2006/relationships/slide" Target="/ppt/slides/slide33.xml" Id="Re8168a95e8de4186" /><Relationship Type="http://schemas.openxmlformats.org/officeDocument/2006/relationships/slide" Target="/ppt/slides/slide34.xml" Id="R95c8227763d54c07" /><Relationship Type="http://schemas.openxmlformats.org/officeDocument/2006/relationships/slide" Target="/ppt/slides/slide35.xml" Id="Rc0732dd8ddc44e7a" /><Relationship Type="http://schemas.openxmlformats.org/officeDocument/2006/relationships/slide" Target="/ppt/slides/slide36.xml" Id="R586f9f500aac48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897e0f933f47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ema4">
  <a:themeElements>
    <a:clrScheme name="Security Pattern Color">
      <a:dk1>
        <a:srgbClr val="000000"/>
      </a:dk1>
      <a:lt1>
        <a:srgbClr val="FFFFFF"/>
      </a:lt1>
      <a:dk2>
        <a:srgbClr val="41BAB6"/>
      </a:dk2>
      <a:lt2>
        <a:srgbClr val="C5C6C7"/>
      </a:lt2>
      <a:accent1>
        <a:srgbClr val="F7F0EC"/>
      </a:accent1>
      <a:accent2>
        <a:srgbClr val="E2492F"/>
      </a:accent2>
      <a:accent3>
        <a:srgbClr val="41BAB6"/>
      </a:accent3>
      <a:accent4>
        <a:srgbClr val="88B04B"/>
      </a:accent4>
      <a:accent5>
        <a:srgbClr val="F1C300"/>
      </a:accent5>
      <a:accent6>
        <a:srgbClr val="5E5E5E"/>
      </a:accent6>
      <a:hlink>
        <a:srgbClr val="41BAB6"/>
      </a:hlink>
      <a:folHlink>
        <a:srgbClr val="41BAB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ecurity Pattern 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a64f4b19464ccf" /><Relationship Type="http://schemas.openxmlformats.org/officeDocument/2006/relationships/notesMaster" Target="/ppt/notesMasters/notesMaster1.xml" Id="R4c244108e90a4a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e2b8f0ed72417d" /><Relationship Type="http://schemas.openxmlformats.org/officeDocument/2006/relationships/notesMaster" Target="/ppt/notesMasters/notesMaster1.xml" Id="R5ee6ccd888974d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89af40965b4726" /><Relationship Type="http://schemas.openxmlformats.org/officeDocument/2006/relationships/notesMaster" Target="/ppt/notesMasters/notesMaster1.xml" Id="R5f10b7f2ae3942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358e335a534198" /><Relationship Type="http://schemas.openxmlformats.org/officeDocument/2006/relationships/notesMaster" Target="/ppt/notesMasters/notesMaster1.xml" Id="Re5a4ccdba03d4c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f988cdc9204353" /><Relationship Type="http://schemas.openxmlformats.org/officeDocument/2006/relationships/notesMaster" Target="/ppt/notesMasters/notesMaster1.xml" Id="Rb73debe1c49c4e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237fa5f6a643ff" /><Relationship Type="http://schemas.openxmlformats.org/officeDocument/2006/relationships/notesMaster" Target="/ppt/notesMasters/notesMaster1.xml" Id="Ra1943ad045f44d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1706ab8c944822" /><Relationship Type="http://schemas.openxmlformats.org/officeDocument/2006/relationships/notesMaster" Target="/ppt/notesMasters/notesMaster1.xml" Id="R278f9ea885c447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943a03b09943e5" /><Relationship Type="http://schemas.openxmlformats.org/officeDocument/2006/relationships/notesMaster" Target="/ppt/notesMasters/notesMaster1.xml" Id="R3488c77e3fcd4f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48f1e37bff42bb" /><Relationship Type="http://schemas.openxmlformats.org/officeDocument/2006/relationships/notesMaster" Target="/ppt/notesMasters/notesMaster1.xml" Id="R5237f633d3ce43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a2d0085fa945d7" /><Relationship Type="http://schemas.openxmlformats.org/officeDocument/2006/relationships/notesMaster" Target="/ppt/notesMasters/notesMaster1.xml" Id="R19753b5326f2441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101db182f0b4630" /><Relationship Type="http://schemas.openxmlformats.org/officeDocument/2006/relationships/notesMaster" Target="/ppt/notesMasters/notesMaster1.xml" Id="Ra6280854292e4dd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37295b7f26d40e1" /><Relationship Type="http://schemas.openxmlformats.org/officeDocument/2006/relationships/notesMaster" Target="/ppt/notesMasters/notesMaster1.xml" Id="R5f21d765ab4346c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691fef2d8d947f9" /><Relationship Type="http://schemas.openxmlformats.org/officeDocument/2006/relationships/notesMaster" Target="/ppt/notesMasters/notesMaster1.xml" Id="Rae4c437cb2474cb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2819316f3bb4f31" /><Relationship Type="http://schemas.openxmlformats.org/officeDocument/2006/relationships/notesMaster" Target="/ppt/notesMasters/notesMaster1.xml" Id="R8ec5f92dfa3d419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26ddcc4b7fe474a" /><Relationship Type="http://schemas.openxmlformats.org/officeDocument/2006/relationships/notesMaster" Target="/ppt/notesMasters/notesMaster1.xml" Id="R00e7b062164d474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63eeb07dd3c475e" /><Relationship Type="http://schemas.openxmlformats.org/officeDocument/2006/relationships/notesMaster" Target="/ppt/notesMasters/notesMaster1.xml" Id="Rffff076e364f457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22d336541c14f25" /><Relationship Type="http://schemas.openxmlformats.org/officeDocument/2006/relationships/notesMaster" Target="/ppt/notesMasters/notesMaster1.xml" Id="R7c1e0c88240b4e3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c4bc12218a040da" /><Relationship Type="http://schemas.openxmlformats.org/officeDocument/2006/relationships/notesMaster" Target="/ppt/notesMasters/notesMaster1.xml" Id="Ra703d2ff3ac944d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c98f16848354fc6" /><Relationship Type="http://schemas.openxmlformats.org/officeDocument/2006/relationships/notesMaster" Target="/ppt/notesMasters/notesMaster1.xml" Id="Rbbf04ad969c34c7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9d36d12d03b4632" /><Relationship Type="http://schemas.openxmlformats.org/officeDocument/2006/relationships/notesMaster" Target="/ppt/notesMasters/notesMaster1.xml" Id="R81591dc09f0a455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d03e093b6194892" /><Relationship Type="http://schemas.openxmlformats.org/officeDocument/2006/relationships/notesMaster" Target="/ppt/notesMasters/notesMaster1.xml" Id="Rbaf64d9bfa61475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26abae13fd04ed7" /><Relationship Type="http://schemas.openxmlformats.org/officeDocument/2006/relationships/notesMaster" Target="/ppt/notesMasters/notesMaster1.xml" Id="Rcd5c580615074d8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b0ad13231df45aa" /><Relationship Type="http://schemas.openxmlformats.org/officeDocument/2006/relationships/notesMaster" Target="/ppt/notesMasters/notesMaster1.xml" Id="Rabc73a3d71e9427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436d711ba3b4d9d" /><Relationship Type="http://schemas.openxmlformats.org/officeDocument/2006/relationships/notesMaster" Target="/ppt/notesMasters/notesMaster1.xml" Id="R8326205135fe436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ba497f4195f46db" /><Relationship Type="http://schemas.openxmlformats.org/officeDocument/2006/relationships/notesMaster" Target="/ppt/notesMasters/notesMaster1.xml" Id="R645f5e3a18eb4b0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feeaf69d27e4b4a" /><Relationship Type="http://schemas.openxmlformats.org/officeDocument/2006/relationships/notesMaster" Target="/ppt/notesMasters/notesMaster1.xml" Id="Re74d9c1e10f6486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68dd8e04cd647a8" /><Relationship Type="http://schemas.openxmlformats.org/officeDocument/2006/relationships/notesMaster" Target="/ppt/notesMasters/notesMaster1.xml" Id="R49420fa6794c4af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2f5a52372cf4f77" /><Relationship Type="http://schemas.openxmlformats.org/officeDocument/2006/relationships/notesMaster" Target="/ppt/notesMasters/notesMaster1.xml" Id="Rc57bddebc4dc451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56ced6ef93f4188" /><Relationship Type="http://schemas.openxmlformats.org/officeDocument/2006/relationships/notesMaster" Target="/ppt/notesMasters/notesMaster1.xml" Id="Rdfe0ffa82aff4ad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1f901bc56cc40bd" /><Relationship Type="http://schemas.openxmlformats.org/officeDocument/2006/relationships/notesMaster" Target="/ppt/notesMasters/notesMaster1.xml" Id="R5080b274efe94e5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508cdf51d1d46ca" /><Relationship Type="http://schemas.openxmlformats.org/officeDocument/2006/relationships/notesMaster" Target="/ppt/notesMasters/notesMaster1.xml" Id="R40982ca3d2e04d9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0083c152df34091" /><Relationship Type="http://schemas.openxmlformats.org/officeDocument/2006/relationships/notesMaster" Target="/ppt/notesMasters/notesMaster1.xml" Id="Rb2f213c1d043478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18cd11eadec46f7" /><Relationship Type="http://schemas.openxmlformats.org/officeDocument/2006/relationships/notesMaster" Target="/ppt/notesMasters/notesMaster1.xml" Id="R050ab5913a61419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fcb71afbc0742ee" /><Relationship Type="http://schemas.openxmlformats.org/officeDocument/2006/relationships/notesMaster" Target="/ppt/notesMasters/notesMaster1.xml" Id="Raa55b3689f9340b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7d07a1e1f7d4983" /><Relationship Type="http://schemas.openxmlformats.org/officeDocument/2006/relationships/notesMaster" Target="/ppt/notesMasters/notesMaster1.xml" Id="R43ad4185a8674a8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62ae8ece7e24097" /><Relationship Type="http://schemas.openxmlformats.org/officeDocument/2006/relationships/notesMaster" Target="/ppt/notesMasters/notesMaster1.xml" Id="R827ddfc393e747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-69850" algn="l">
              <a:spcBef>
                <a:spcPts val="0"/>
              </a:spcBef>
              <a:spcAft>
                <a:spcPts val="0"/>
              </a:spcAft>
              <a:buChar char="●"/>
            </a:pPr>
            <a:r>
              <a:rPr sz="11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In traditional IT systems we think mainly about software vulnerabilities.</a:t>
            </a:r>
            <a:br/>
            <a:r>
              <a:rPr sz="11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But smart connected devices are different. They include multiple hardware components, secure elements, and third-party modules.</a:t>
            </a:r>
            <a:br/>
            <a:r>
              <a:rPr sz="11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Some vulnerabilities exist in hardware, and many critical assets are managed directly by hardware components.</a:t>
            </a:r>
            <a:br/>
            <a:r>
              <a:rPr sz="11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So without a model that includes hardware, vulnerability management for devices is incomplete.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-69850" algn="l">
              <a:spcBef>
                <a:spcPts val="0"/>
              </a:spcBef>
              <a:spcAft>
                <a:spcPts val="0"/>
              </a:spcAft>
              <a:buChar char="●"/>
            </a:pPr>
            <a:r>
              <a:rPr sz="11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Today most vulnerability management processes are based mainly on severity scores like CVSS.</a:t>
            </a:r>
            <a:br/>
            <a:r>
              <a:rPr sz="11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And CVSS is absolutely useful — it gives us a standard way to measure how dangerous a vulnerability </a:t>
            </a:r>
            <a:r>
              <a:rPr sz="1100" b="0" i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could</a:t>
            </a:r>
            <a:r>
              <a:rPr sz="1100" b="0" i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 be.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0" indent="-69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t>The problem is that severity does not tell us how dangerous a vulnerability is for </a:t>
            </a:r>
            <a:r>
              <a:rPr i="1"/>
              <a:t>our specific device</a:t>
            </a:r>
            <a:r>
              <a:t>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0" indent="-69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t>We are measuring vulnerabilities correctly, but we are prioritizing them incorrectly.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285750" indent="-285750" algn="l">
              <a:spcBef>
                <a:spcPts val="0"/>
              </a:spcBef>
              <a:spcAft>
                <a:spcPts val="0"/>
              </a:spcAft>
              <a:buChar char="•"/>
            </a:pPr>
            <a:r>
              <a:t>Smart connected devices have different risks than IT systems</a:t>
            </a:r>
          </a:p>
          <a:p xmlns:a="http://schemas.openxmlformats.org/drawingml/2006/main">
            <a:pPr marL="549275" indent="-285750" algn="l">
              <a:spcBef>
                <a:spcPts val="0"/>
              </a:spcBef>
              <a:spcAft>
                <a:spcPts val="0"/>
              </a:spcAft>
              <a:buChar char="•"/>
            </a:pPr>
            <a:r>
              <a:t>Most scoring systems were created for IT environments.</a:t>
            </a:r>
            <a:br/>
            <a:r>
              <a:t>But smart connected devices have firmware, hardware dependencies, and very different attack surfaces.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-69850" algn="l">
              <a:spcBef>
                <a:spcPts val="0"/>
              </a:spcBef>
              <a:spcAft>
                <a:spcPts val="0"/>
              </a:spcAft>
              <a:buChar char="●"/>
            </a:pPr>
            <a:r>
              <a:t>Left side:</a:t>
            </a:r>
          </a:p>
          <a:p xmlns:a="http://schemas.openxmlformats.org/drawingml/2006/main">
            <a:pPr marL="0" indent="-69850" algn="l">
              <a:spcBef>
                <a:spcPts val="0"/>
              </a:spcBef>
              <a:spcAft>
                <a:spcPts val="0"/>
              </a:spcAft>
              <a:buChar char="●"/>
            </a:pPr>
            <a:r>
              <a:t>200 vulnerabilities</a:t>
            </a:r>
            <a:br/>
            <a:r>
              <a:t>panic</a:t>
            </a:r>
            <a:br/>
            <a:r>
              <a:t>random fixing</a:t>
            </a:r>
            <a:br/>
            <a:r>
              <a:t>delayed release</a:t>
            </a:r>
          </a:p>
          <a:p xmlns:a="http://schemas.openxmlformats.org/drawingml/2006/main">
            <a:pPr marL="0" indent="-69850" algn="l">
              <a:spcBef>
                <a:spcPts val="0"/>
              </a:spcBef>
              <a:spcAft>
                <a:spcPts val="0"/>
              </a:spcAft>
              <a:buChar char="●"/>
            </a:pPr>
            <a:r>
              <a:t>Right side:</a:t>
            </a:r>
          </a:p>
          <a:p xmlns:a="http://schemas.openxmlformats.org/drawingml/2006/main">
            <a:pPr marL="0" indent="-69850" algn="l">
              <a:spcBef>
                <a:spcPts val="0"/>
              </a:spcBef>
              <a:spcAft>
                <a:spcPts val="0"/>
              </a:spcAft>
              <a:buChar char="●"/>
            </a:pPr>
            <a:r>
              <a:t>Context analysis</a:t>
            </a:r>
            <a:br/>
            <a:r>
              <a:t>real risk identified</a:t>
            </a:r>
            <a:br/>
            <a:r>
              <a:t>focused remediation</a:t>
            </a:r>
            <a:br/>
            <a:r>
              <a:t>faster certification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f89008e06c4fae" /><Relationship Type="http://schemas.openxmlformats.org/officeDocument/2006/relationships/image" Target="/ppt/media/image.png" Id="Rc1541ea70a1a432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359b5deb604ec2" /><Relationship Type="http://schemas.openxmlformats.org/officeDocument/2006/relationships/image" Target="/ppt/media/image2.png" Id="R67f877be5d544dc3" /><Relationship Type="http://schemas.openxmlformats.org/officeDocument/2006/relationships/image" Target="/ppt/media/image3.png" Id="Ra0a3e405f88b47b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13f0d3922f4954" /><Relationship Type="http://schemas.openxmlformats.org/officeDocument/2006/relationships/image" Target="/ppt/media/image4.png" Id="R12f83b8d290f435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8eda331d884424" /><Relationship Type="http://schemas.openxmlformats.org/officeDocument/2006/relationships/image" Target="/ppt/media/image4.png" Id="R2ecac1ff4623415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bfd571713d42c4" /><Relationship Type="http://schemas.openxmlformats.org/officeDocument/2006/relationships/image" Target="/ppt/media/image2.png" Id="Rcc4eddd5da394b76" /><Relationship Type="http://schemas.openxmlformats.org/officeDocument/2006/relationships/image" Target="/ppt/media/image3.png" Id="R69786238e8d246e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4e01e0f9b0497b" /><Relationship Type="http://schemas.openxmlformats.org/officeDocument/2006/relationships/image" Target="/ppt/media/image5.png" Id="Rc5d20c133079419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64e7da7e98448c" /><Relationship Type="http://schemas.openxmlformats.org/officeDocument/2006/relationships/image" Target="/ppt/media/image5.png" Id="Rdeee624020e04bf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3ebcf5b29a487c" /><Relationship Type="http://schemas.openxmlformats.org/officeDocument/2006/relationships/image" Target="/ppt/media/image6.png" Id="Re27333a51740446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81e905b8774a6d" /><Relationship Type="http://schemas.openxmlformats.org/officeDocument/2006/relationships/image" Target="/ppt/media/image6.png" Id="R4b22a1fa86424c17" /></Relationships>
</file>

<file path=ppt/slideLayouts/slideLayout1.xml><?xml version="1.0" encoding="utf-8"?>
<p:sldLayout xmlns:p="http://schemas.openxmlformats.org/presentationml/2006/main" matchingName="First/Last" type="title">
  <p:cSld name="TITLE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33">
            <a:extLst xmlns:a="http://schemas.openxmlformats.org/drawingml/2006/main">
              <a:ext uri="{FF2B5EF4-FFF2-40B4-BE49-F238E27FC236}">
                <a16:creationId xmlns:a16="http://schemas.microsoft.com/office/drawing/2014/main" id="{92E870C4-4D65-4D7C-8B19-291A6DA23EE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1760" y="3718216"/>
            <a:ext cx="9931400" cy="464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="0" i="0">
                <a:latin typeface="Montserrat"/>
                <a:ea typeface="Montserrat"/>
                <a:cs typeface="Montserrat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1" name="Google Shape;11;p33">
            <a:extLst xmlns:a="http://schemas.openxmlformats.org/drawingml/2006/main">
              <a:ext uri="{FF2B5EF4-FFF2-40B4-BE49-F238E27FC236}">
                <a16:creationId xmlns:a16="http://schemas.microsoft.com/office/drawing/2014/main" id="{E66DAFCB-67A9-4332-9C1C-E7C6F5CE169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1760" y="4125939"/>
            <a:ext cx="9931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  <a:defRPr sz="1600" b="1" i="0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1pPr>
            <a:lvl2pPr algn="ctr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  <a:defRPr sz="1250"/>
            </a:lvl2pPr>
            <a:lvl3pPr algn="ctr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  <a:defRPr sz="1125"/>
            </a:lvl3pPr>
            <a:lvl4pPr algn="ctr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  <a:defRPr sz="1000"/>
            </a:lvl4pPr>
            <a:lvl5pPr algn="ctr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  <a:defRPr sz="1000"/>
            </a:lvl5pPr>
            <a:lvl6pPr algn="ctr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None/>
              <a:defRPr sz="1000"/>
            </a:lvl6pPr>
            <a:lvl7pPr algn="ctr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None/>
              <a:defRPr sz="1000"/>
            </a:lvl7pPr>
            <a:lvl8pPr algn="ctr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None/>
              <a:defRPr sz="1000"/>
            </a:lvl8pPr>
            <a:lvl9pPr algn="ctr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None/>
              <a:defRPr sz="1000"/>
            </a:lvl9pPr>
          </a:lstStyle>
          <a:p xmlns:a="http://schemas.openxmlformats.org/drawingml/2006/main"/>
        </p:txBody>
      </p:sp>
      <p:pic>
        <p:nvPicPr>
          <p:cNvPr id="12" name="Google Shape;12;p3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1541ea70a1a432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176344" y="5017740"/>
            <a:ext cx="1820900" cy="4861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matchingName="Content">
  <p:cSld name="Conten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4">
            <a:extLst xmlns:a="http://schemas.openxmlformats.org/drawingml/2006/main">
              <a:ext uri="{FF2B5EF4-FFF2-40B4-BE49-F238E27FC236}">
                <a16:creationId xmlns:a16="http://schemas.microsoft.com/office/drawing/2014/main" id="{34903225-7325-4D62-AB54-F04331C0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160000" cy="84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BAB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" name="Google Shape;15;p34">
            <a:extLst xmlns:a="http://schemas.openxmlformats.org/drawingml/2006/main">
              <a:ext uri="{FF2B5EF4-FFF2-40B4-BE49-F238E27FC236}">
                <a16:creationId xmlns:a16="http://schemas.microsoft.com/office/drawing/2014/main" id="{FDA0BD9D-C462-40ED-BD51-D2F4F2524A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5654" y="1123284"/>
            <a:ext cx="9202092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/>
          </a:bodyPr>
          <a:lstStyle xmlns:a="http://schemas.openxmlformats.org/drawingml/2006/main">
            <a:lvl1pPr marL="457200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  <a:defRPr sz="2400" b="0">
                <a:latin typeface="Montserrat"/>
                <a:ea typeface="Montserrat"/>
                <a:cs typeface="Montserrat"/>
              </a:defRPr>
            </a:lvl1pPr>
            <a:lvl2pPr marL="914400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 sz="1800" b="0" i="0">
                <a:solidFill>
                  <a:schemeClr val="accent6"/>
                </a:solidFill>
                <a:latin typeface="Montserrat"/>
                <a:ea typeface="Montserrat"/>
                <a:cs typeface="Montserrat"/>
              </a:defRPr>
            </a:lvl2pPr>
            <a:lvl3pPr marL="1371600" indent="-3175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 sz="1400">
                <a:solidFill>
                  <a:schemeClr val="accent6"/>
                </a:solidFill>
                <a:latin typeface="Montserrat"/>
                <a:ea typeface="Montserrat"/>
                <a:cs typeface="Montserrat"/>
              </a:defRPr>
            </a:lvl3pPr>
            <a:lvl4pPr marL="1828800" indent="-2286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  <a:defRPr/>
            </a:lvl4pPr>
            <a:lvl5pPr marL="2286000" indent="-2286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  <a:defRPr/>
            </a:lvl5pPr>
            <a:lvl6pPr marL="27432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6" name="Google Shape;16;p34">
            <a:extLst xmlns:a="http://schemas.openxmlformats.org/drawingml/2006/main">
              <a:ext uri="{FF2B5EF4-FFF2-40B4-BE49-F238E27FC236}">
                <a16:creationId xmlns:a16="http://schemas.microsoft.com/office/drawing/2014/main" id="{3A0C1EA8-FCFD-47B6-9599-444DBA3872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56" y="131946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7" name="Google Shape;17;p34">
            <a:extLst xmlns:a="http://schemas.openxmlformats.org/drawingml/2006/main">
              <a:ext uri="{FF2B5EF4-FFF2-40B4-BE49-F238E27FC236}">
                <a16:creationId xmlns:a16="http://schemas.microsoft.com/office/drawing/2014/main" id="{D56676C8-6CF9-46B1-BF89-DB367284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175" y="5399937"/>
            <a:ext cx="8406487" cy="215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Private &amp; Confidential | Copyright © 2025 Security Pattern s.r.l.</a:t>
            </a:r>
          </a:p>
        </p:txBody>
      </p:sp>
      <p:sp>
        <p:nvSpPr>
          <p:cNvPr id="18" name="Google Shape;18;p34">
            <a:extLst xmlns:a="http://schemas.openxmlformats.org/drawingml/2006/main">
              <a:ext uri="{FF2B5EF4-FFF2-40B4-BE49-F238E27FC236}">
                <a16:creationId xmlns:a16="http://schemas.microsoft.com/office/drawing/2014/main" id="{48559264-734B-48D1-B817-30111050E3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‹nr.›</a:t>
            </a:fld>
          </a:p>
        </p:txBody>
      </p:sp>
      <p:pic>
        <p:nvPicPr>
          <p:cNvPr id="19" name="Google Shape;19;p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7f877be5d544dc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06400" y="5075910"/>
            <a:ext cx="489600" cy="48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0" name="Google Shape;20;p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0a3e405f88b47b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14665" y="5084040"/>
            <a:ext cx="1656184" cy="52958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3.xml><?xml version="1.0" encoding="utf-8"?>
<p:sldLayout xmlns:p="http://schemas.openxmlformats.org/presentationml/2006/main" matchingName="Section">
  <p:cSld name="Section">
    <p:bg>
      <p:bgPr>
        <a:solidFill xmlns:a="http://schemas.openxmlformats.org/drawingml/2006/main">
          <a:srgbClr val="41BAB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 Shape;22;p35">
            <a:extLst xmlns:a="http://schemas.openxmlformats.org/drawingml/2006/main">
              <a:ext uri="{FF2B5EF4-FFF2-40B4-BE49-F238E27FC236}">
                <a16:creationId xmlns:a16="http://schemas.microsoft.com/office/drawing/2014/main" id="{89DBC22F-F8B0-4BF4-B3CC-2C1638C06F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5531" y="1428344"/>
            <a:ext cx="8406209" cy="1765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3" name="Google Shape;23;p35">
            <a:extLst xmlns:a="http://schemas.openxmlformats.org/drawingml/2006/main">
              <a:ext uri="{FF2B5EF4-FFF2-40B4-BE49-F238E27FC236}">
                <a16:creationId xmlns:a16="http://schemas.microsoft.com/office/drawing/2014/main" id="{DCD5A009-10BF-41B0-88D9-6E827B1FEE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5531" y="3137318"/>
            <a:ext cx="8406209" cy="413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  <a:defRPr sz="1800" b="0" i="0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1pPr>
            <a:lvl2pPr marL="914400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/>
            </a:lvl2pPr>
            <a:lvl3pPr marL="1371600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/>
            </a:lvl3pPr>
            <a:lvl4pPr marL="1828800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/>
            </a:lvl4pPr>
            <a:lvl5pPr marL="2286000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/>
            </a:lvl5pPr>
            <a:lvl6pPr marL="27432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pic>
        <p:nvPicPr>
          <p:cNvPr id="24" name="Google Shape;24;p3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2f83b8d290f435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83456" y="5076942"/>
            <a:ext cx="1669161" cy="5384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.xml><?xml version="1.0" encoding="utf-8"?>
<p:sldLayout xmlns:p="http://schemas.openxmlformats.org/presentationml/2006/main" matchingName="IOT Section">
  <p:cSld name="IOT Section">
    <p:bg>
      <p:bgPr>
        <a:solidFill xmlns:a="http://schemas.openxmlformats.org/drawingml/2006/main">
          <a:srgbClr val="3C3C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36">
            <a:extLst xmlns:a="http://schemas.openxmlformats.org/drawingml/2006/main">
              <a:ext uri="{FF2B5EF4-FFF2-40B4-BE49-F238E27FC236}">
                <a16:creationId xmlns:a16="http://schemas.microsoft.com/office/drawing/2014/main" id="{4D40DF1E-7183-45C6-8AE3-B17D1A7B47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5531" y="1428344"/>
            <a:ext cx="8406209" cy="1765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36">
            <a:extLst xmlns:a="http://schemas.openxmlformats.org/drawingml/2006/main">
              <a:ext uri="{FF2B5EF4-FFF2-40B4-BE49-F238E27FC236}">
                <a16:creationId xmlns:a16="http://schemas.microsoft.com/office/drawing/2014/main" id="{2ADE3F23-3978-4B5A-9468-40AD271998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5531" y="3137318"/>
            <a:ext cx="8406209" cy="413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  <a:defRPr sz="1800" b="0" i="0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1pPr>
            <a:lvl2pPr marL="914400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/>
            </a:lvl2pPr>
            <a:lvl3pPr marL="1371600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/>
            </a:lvl3pPr>
            <a:lvl4pPr marL="1828800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/>
            </a:lvl4pPr>
            <a:lvl5pPr marL="2286000" indent="-3429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/>
            </a:lvl5pPr>
            <a:lvl6pPr marL="27432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pic>
        <p:nvPicPr>
          <p:cNvPr id="28" name="Google Shape;28;p3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ecac1ff4623415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83456" y="5076942"/>
            <a:ext cx="1669161" cy="5384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5.xml><?xml version="1.0" encoding="utf-8"?>
<p:sldLayout xmlns:p="http://schemas.openxmlformats.org/presentationml/2006/main" matchingName="Empty">
  <p:cSld name="Empty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Google Shape;30;p37">
            <a:extLst xmlns:a="http://schemas.openxmlformats.org/drawingml/2006/main">
              <a:ext uri="{FF2B5EF4-FFF2-40B4-BE49-F238E27FC236}">
                <a16:creationId xmlns:a16="http://schemas.microsoft.com/office/drawing/2014/main" id="{BB0C202F-2921-48E2-A7B5-05522C76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160000" cy="84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BAB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" name="Google Shape;31;p37">
            <a:extLst xmlns:a="http://schemas.openxmlformats.org/drawingml/2006/main">
              <a:ext uri="{FF2B5EF4-FFF2-40B4-BE49-F238E27FC236}">
                <a16:creationId xmlns:a16="http://schemas.microsoft.com/office/drawing/2014/main" id="{D773A198-205B-4892-83FA-4C988D97F7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rgbClr val="41BAB7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‹nr.›</a:t>
            </a:fld>
          </a:p>
        </p:txBody>
      </p:sp>
      <p:sp>
        <p:nvSpPr>
          <p:cNvPr id="32" name="Google Shape;32;p37">
            <a:extLst xmlns:a="http://schemas.openxmlformats.org/drawingml/2006/main">
              <a:ext uri="{FF2B5EF4-FFF2-40B4-BE49-F238E27FC236}">
                <a16:creationId xmlns:a16="http://schemas.microsoft.com/office/drawing/2014/main" id="{3A737830-3C50-486C-B8C2-78667FEAFA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0375" y="131950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3" name="Google Shape;33;p37">
            <a:extLst xmlns:a="http://schemas.openxmlformats.org/drawingml/2006/main">
              <a:ext uri="{FF2B5EF4-FFF2-40B4-BE49-F238E27FC236}">
                <a16:creationId xmlns:a16="http://schemas.microsoft.com/office/drawing/2014/main" id="{9E094668-6125-4D32-A290-B34CDC1D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175" y="5399937"/>
            <a:ext cx="8406487" cy="215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Private &amp; Confidential | Copyright © 2025 Security Pattern s.r.l.</a:t>
            </a:r>
          </a:p>
        </p:txBody>
      </p:sp>
      <p:pic>
        <p:nvPicPr>
          <p:cNvPr id="34" name="Google Shape;34;p3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c4eddd5da394b7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06400" y="5075910"/>
            <a:ext cx="489600" cy="48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5" name="Google Shape;35;p3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9786238e8d246e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14665" y="5084040"/>
            <a:ext cx="1656184" cy="52958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6.xml><?xml version="1.0" encoding="utf-8"?>
<p:sldLayout xmlns:p="http://schemas.openxmlformats.org/presentationml/2006/main" matchingName="Claim Red!">
  <p:cSld name="Claim Red!">
    <p:bg>
      <p:bgPr>
        <a:solidFill xmlns:a="http://schemas.openxmlformats.org/drawingml/2006/main">
          <a:schemeClr val="accen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Google Shape;37;p38">
            <a:extLst xmlns:a="http://schemas.openxmlformats.org/drawingml/2006/main">
              <a:ext uri="{FF2B5EF4-FFF2-40B4-BE49-F238E27FC236}">
                <a16:creationId xmlns:a16="http://schemas.microsoft.com/office/drawing/2014/main" id="{F078B019-2FF2-41F1-ADAF-8F1949F6AB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94219" y="2044244"/>
            <a:ext cx="4971567" cy="1626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Google Shape;38;p38">
            <a:extLst xmlns:a="http://schemas.openxmlformats.org/drawingml/2006/main">
              <a:ext uri="{FF2B5EF4-FFF2-40B4-BE49-F238E27FC236}">
                <a16:creationId xmlns:a16="http://schemas.microsoft.com/office/drawing/2014/main" id="{BEE4C492-96FF-450D-B588-CCFFBEDF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175" y="5399937"/>
            <a:ext cx="8406487" cy="215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Private &amp; Confidential | Copyright © 2025 Security Pattern s.r.l.</a:t>
            </a:r>
          </a:p>
        </p:txBody>
      </p:sp>
      <p:sp>
        <p:nvSpPr>
          <p:cNvPr id="39" name="Google Shape;39;p38">
            <a:extLst xmlns:a="http://schemas.openxmlformats.org/drawingml/2006/main">
              <a:ext uri="{FF2B5EF4-FFF2-40B4-BE49-F238E27FC236}">
                <a16:creationId xmlns:a16="http://schemas.microsoft.com/office/drawing/2014/main" id="{949E0D5A-FFF2-4784-A031-434EBF4440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‹nr.›</a:t>
            </a:fld>
          </a:p>
        </p:txBody>
      </p:sp>
      <p:pic>
        <p:nvPicPr>
          <p:cNvPr id="40" name="Google Shape;40;p3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5d20c133079419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06400" y="5075910"/>
            <a:ext cx="489600" cy="489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7.xml><?xml version="1.0" encoding="utf-8"?>
<p:sldLayout xmlns:p="http://schemas.openxmlformats.org/presentationml/2006/main" matchingName="Claim Green!">
  <p:cSld name="Claim Green!">
    <p:bg>
      <p:bgPr>
        <a:solidFill xmlns:a="http://schemas.openxmlformats.org/drawingml/2006/main">
          <a:schemeClr val="accent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39">
            <a:extLst xmlns:a="http://schemas.openxmlformats.org/drawingml/2006/main">
              <a:ext uri="{FF2B5EF4-FFF2-40B4-BE49-F238E27FC236}">
                <a16:creationId xmlns:a16="http://schemas.microsoft.com/office/drawing/2014/main" id="{404FE25E-2967-4961-8CAB-61C04F44D0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94219" y="2044244"/>
            <a:ext cx="4971567" cy="1626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Google Shape;43;p39">
            <a:extLst xmlns:a="http://schemas.openxmlformats.org/drawingml/2006/main">
              <a:ext uri="{FF2B5EF4-FFF2-40B4-BE49-F238E27FC236}">
                <a16:creationId xmlns:a16="http://schemas.microsoft.com/office/drawing/2014/main" id="{427EF8F8-28AF-473E-95AE-21D00C4B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175" y="5399937"/>
            <a:ext cx="8406487" cy="215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Private &amp; Confidential | Copyright © 2025 Security Pattern s.r.l.</a:t>
            </a:r>
          </a:p>
        </p:txBody>
      </p:sp>
      <p:sp>
        <p:nvSpPr>
          <p:cNvPr id="44" name="Google Shape;44;p39">
            <a:extLst xmlns:a="http://schemas.openxmlformats.org/drawingml/2006/main">
              <a:ext uri="{FF2B5EF4-FFF2-40B4-BE49-F238E27FC236}">
                <a16:creationId xmlns:a16="http://schemas.microsoft.com/office/drawing/2014/main" id="{58C70FE8-B311-49AA-91B7-EEA3090E4E3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‹nr.›</a:t>
            </a:fld>
          </a:p>
        </p:txBody>
      </p:sp>
      <p:pic>
        <p:nvPicPr>
          <p:cNvPr id="45" name="Google Shape;45;p3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eee624020e04bf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06400" y="5075910"/>
            <a:ext cx="489600" cy="489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.xml><?xml version="1.0" encoding="utf-8"?>
<p:sldLayout xmlns:p="http://schemas.openxmlformats.org/presentationml/2006/main" matchingName="Claim Yellow!">
  <p:cSld name="Claim Yellow!">
    <p:bg>
      <p:bgPr>
        <a:solidFill xmlns:a="http://schemas.openxmlformats.org/drawingml/2006/main">
          <a:schemeClr val="accent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Google Shape;47;p40">
            <a:extLst xmlns:a="http://schemas.openxmlformats.org/drawingml/2006/main">
              <a:ext uri="{FF2B5EF4-FFF2-40B4-BE49-F238E27FC236}">
                <a16:creationId xmlns:a16="http://schemas.microsoft.com/office/drawing/2014/main" id="{4F7ADFA3-B323-4B45-AAB6-95646A0C92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94219" y="2044244"/>
            <a:ext cx="4971567" cy="1626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Google Shape;48;p40">
            <a:extLst xmlns:a="http://schemas.openxmlformats.org/drawingml/2006/main">
              <a:ext uri="{FF2B5EF4-FFF2-40B4-BE49-F238E27FC236}">
                <a16:creationId xmlns:a16="http://schemas.microsoft.com/office/drawing/2014/main" id="{18CCBE2D-C76E-4447-963E-23A1FD5E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175" y="5399937"/>
            <a:ext cx="8406487" cy="215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Private &amp; Confidential | Copyright © 2025 Security Pattern s.r.l.</a:t>
            </a:r>
          </a:p>
        </p:txBody>
      </p:sp>
      <p:sp>
        <p:nvSpPr>
          <p:cNvPr id="49" name="Google Shape;49;p40">
            <a:extLst xmlns:a="http://schemas.openxmlformats.org/drawingml/2006/main">
              <a:ext uri="{FF2B5EF4-FFF2-40B4-BE49-F238E27FC236}">
                <a16:creationId xmlns:a16="http://schemas.microsoft.com/office/drawing/2014/main" id="{E54ACFC5-A52A-4E82-AE96-6C00587C53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‹nr.›</a:t>
            </a:fld>
          </a:p>
        </p:txBody>
      </p:sp>
      <p:pic>
        <p:nvPicPr>
          <p:cNvPr id="50" name="Google Shape;50;p4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27333a51740446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04554" y="5076000"/>
            <a:ext cx="489600" cy="489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.xml><?xml version="1.0" encoding="utf-8"?>
<p:sldLayout xmlns:p="http://schemas.openxmlformats.org/presentationml/2006/main" matchingName="Claim Grey!">
  <p:cSld name="Claim Grey!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Google Shape;52;p41">
            <a:extLst xmlns:a="http://schemas.openxmlformats.org/drawingml/2006/main">
              <a:ext uri="{FF2B5EF4-FFF2-40B4-BE49-F238E27FC236}">
                <a16:creationId xmlns:a16="http://schemas.microsoft.com/office/drawing/2014/main" id="{F420FABF-D064-47BC-8063-16B502EB99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94219" y="2044244"/>
            <a:ext cx="4971567" cy="1626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Google Shape;53;p41">
            <a:extLst xmlns:a="http://schemas.openxmlformats.org/drawingml/2006/main">
              <a:ext uri="{FF2B5EF4-FFF2-40B4-BE49-F238E27FC236}">
                <a16:creationId xmlns:a16="http://schemas.microsoft.com/office/drawing/2014/main" id="{F4DE4228-E8D6-435B-9E8F-7B542539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175" y="5399937"/>
            <a:ext cx="8406487" cy="215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Private &amp; Confidential | Copyright © 2023 Security Pattern s.r.l.</a:t>
            </a:r>
          </a:p>
        </p:txBody>
      </p:sp>
      <p:sp>
        <p:nvSpPr>
          <p:cNvPr id="54" name="Google Shape;54;p41">
            <a:extLst xmlns:a="http://schemas.openxmlformats.org/drawingml/2006/main">
              <a:ext uri="{FF2B5EF4-FFF2-40B4-BE49-F238E27FC236}">
                <a16:creationId xmlns:a16="http://schemas.microsoft.com/office/drawing/2014/main" id="{446AF649-E589-408A-8C6D-2FDFA9A6C8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‹nr.›</a:t>
            </a:fld>
          </a:p>
        </p:txBody>
      </p:sp>
      <p:pic>
        <p:nvPicPr>
          <p:cNvPr id="55" name="Google Shape;55;p4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b22a1fa86424c1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04554" y="5076000"/>
            <a:ext cx="489600" cy="489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cb9cd03bf4492b" /><Relationship Type="http://schemas.openxmlformats.org/officeDocument/2006/relationships/slideLayout" Target="/ppt/slideLayouts/slideLayout1.xml" Id="R9109202b31e949dc" /><Relationship Type="http://schemas.openxmlformats.org/officeDocument/2006/relationships/slideLayout" Target="/ppt/slideLayouts/slideLayout2.xml" Id="R97828c981b12449e" /><Relationship Type="http://schemas.openxmlformats.org/officeDocument/2006/relationships/slideLayout" Target="/ppt/slideLayouts/slideLayout3.xml" Id="R170d23eda31c4dca" /><Relationship Type="http://schemas.openxmlformats.org/officeDocument/2006/relationships/slideLayout" Target="/ppt/slideLayouts/slideLayout4.xml" Id="R808be9efa4dc4522" /><Relationship Type="http://schemas.openxmlformats.org/officeDocument/2006/relationships/slideLayout" Target="/ppt/slideLayouts/slideLayout5.xml" Id="R606269d4990e447e" /><Relationship Type="http://schemas.openxmlformats.org/officeDocument/2006/relationships/slideLayout" Target="/ppt/slideLayouts/slideLayout6.xml" Id="R2907966ce204425d" /><Relationship Type="http://schemas.openxmlformats.org/officeDocument/2006/relationships/slideLayout" Target="/ppt/slideLayouts/slideLayout7.xml" Id="R26e07bb89f3c4377" /><Relationship Type="http://schemas.openxmlformats.org/officeDocument/2006/relationships/slideLayout" Target="/ppt/slideLayouts/slideLayout8.xml" Id="R387bb509811b4889" /><Relationship Type="http://schemas.openxmlformats.org/officeDocument/2006/relationships/slideLayout" Target="/ppt/slideLayouts/slideLayout9.xml" Id="R9be513b440b44fb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 Shape;7;p32">
            <a:extLst xmlns:a="http://schemas.openxmlformats.org/drawingml/2006/main">
              <a:ext uri="{FF2B5EF4-FFF2-40B4-BE49-F238E27FC236}">
                <a16:creationId xmlns:a16="http://schemas.microsoft.com/office/drawing/2014/main" id="{3C4A64F9-B35C-452C-91C5-763530EA8E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9587" y="515938"/>
            <a:ext cx="5810251" cy="1104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750" b="1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8" name="Google Shape;8;p32">
            <a:extLst xmlns:a="http://schemas.openxmlformats.org/drawingml/2006/main">
              <a:ext uri="{FF2B5EF4-FFF2-40B4-BE49-F238E27FC236}">
                <a16:creationId xmlns:a16="http://schemas.microsoft.com/office/drawing/2014/main" id="{906B8F16-2A1A-4454-993F-5E656E0569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110350" y="1848394"/>
            <a:ext cx="8446407" cy="34803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556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●"/>
              <a:defRPr sz="2000" b="0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1pPr>
            <a:lvl2pPr marL="914400" indent="-334455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 sz="1667" b="0" i="0" u="none" cap="none">
                <a:solidFill>
                  <a:schemeClr val="accent6"/>
                </a:solidFill>
                <a:latin typeface="Montserrat"/>
                <a:ea typeface="Montserrat"/>
                <a:cs typeface="Montserrat"/>
              </a:defRPr>
            </a:lvl2pPr>
            <a:lvl3pPr marL="1371600" indent="-313246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 sz="1333" b="0" i="0" u="none" cap="none">
                <a:solidFill>
                  <a:schemeClr val="accent6"/>
                </a:solidFill>
                <a:latin typeface="Montserrat"/>
                <a:ea typeface="Montserrat"/>
                <a:cs typeface="Montserrat"/>
              </a:defRPr>
            </a:lvl3pPr>
            <a:lvl4pPr marL="1828800" indent="-302705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 sz="1167" b="0" i="0" u="none" cap="none">
                <a:solidFill>
                  <a:schemeClr val="accent6"/>
                </a:solidFill>
                <a:latin typeface="Montserrat"/>
                <a:ea typeface="Montserrat"/>
                <a:cs typeface="Montserrat"/>
              </a:defRPr>
            </a:lvl4pPr>
            <a:lvl5pPr marL="2286000" indent="-302705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  <a:defRPr sz="1167" b="0" i="0" u="none" cap="none">
                <a:solidFill>
                  <a:schemeClr val="accent6"/>
                </a:solidFill>
                <a:latin typeface="Montserrat"/>
                <a:ea typeface="Montserrat"/>
                <a:cs typeface="Montserrat"/>
              </a:defRPr>
            </a:lvl5pPr>
            <a:lvl6pPr marL="2743200" indent="-300038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 sz="1125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indent="-300038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 sz="1125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indent="-300038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 sz="1125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indent="-300038" algn="l">
              <a:lnSpc>
                <a:spcPct val="90000"/>
              </a:lnSpc>
              <a:spcBef>
                <a:spcPts val="312"/>
              </a:spcBef>
              <a:spcAft>
                <a:spcPts val="0"/>
              </a:spcAft>
              <a:buChar char="•"/>
              <a:defRPr sz="1125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09202b31e949dc"/>
    <p:sldLayoutId xmlns:r="http://schemas.openxmlformats.org/officeDocument/2006/relationships" id="2147483650" r:id="R97828c981b12449e"/>
    <p:sldLayoutId xmlns:r="http://schemas.openxmlformats.org/officeDocument/2006/relationships" id="2147483651" r:id="R170d23eda31c4dca"/>
    <p:sldLayoutId xmlns:r="http://schemas.openxmlformats.org/officeDocument/2006/relationships" id="2147483652" r:id="R808be9efa4dc4522"/>
    <p:sldLayoutId xmlns:r="http://schemas.openxmlformats.org/officeDocument/2006/relationships" id="2147483653" r:id="R606269d4990e447e"/>
    <p:sldLayoutId xmlns:r="http://schemas.openxmlformats.org/officeDocument/2006/relationships" id="2147483654" r:id="R2907966ce204425d"/>
    <p:sldLayoutId xmlns:r="http://schemas.openxmlformats.org/officeDocument/2006/relationships" id="2147483655" r:id="R26e07bb89f3c4377"/>
    <p:sldLayoutId xmlns:r="http://schemas.openxmlformats.org/officeDocument/2006/relationships" id="2147483656" r:id="R387bb509811b4889"/>
    <p:sldLayoutId xmlns:r="http://schemas.openxmlformats.org/officeDocument/2006/relationships" id="2147483657" r:id="R9be513b440b44fb7"/>
  </p:sldLayoutIdLst>
  <p:hf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Tema4">
  <a:themeElements>
    <a:clrScheme name="Security Pattern Color">
      <a:dk1>
        <a:srgbClr val="000000"/>
      </a:dk1>
      <a:lt1>
        <a:srgbClr val="FFFFFF"/>
      </a:lt1>
      <a:dk2>
        <a:srgbClr val="41BAB6"/>
      </a:dk2>
      <a:lt2>
        <a:srgbClr val="C5C6C7"/>
      </a:lt2>
      <a:accent1>
        <a:srgbClr val="F7F0EC"/>
      </a:accent1>
      <a:accent2>
        <a:srgbClr val="E2492F"/>
      </a:accent2>
      <a:accent3>
        <a:srgbClr val="41BAB6"/>
      </a:accent3>
      <a:accent4>
        <a:srgbClr val="88B04B"/>
      </a:accent4>
      <a:accent5>
        <a:srgbClr val="F1C300"/>
      </a:accent5>
      <a:accent6>
        <a:srgbClr val="5E5E5E"/>
      </a:accent6>
      <a:hlink>
        <a:srgbClr val="41BAB6"/>
      </a:hlink>
      <a:folHlink>
        <a:srgbClr val="41BAB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ecurity Pattern 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07a5d5a064b02" /><Relationship Type="http://schemas.openxmlformats.org/officeDocument/2006/relationships/image" Target="/ppt/media/image7.png" Id="R6287cdda9310477c" /><Relationship Type="http://schemas.openxmlformats.org/officeDocument/2006/relationships/image" Target="/ppt/media/image3.png" Id="R98cede0b4f304351" /><Relationship Type="http://schemas.openxmlformats.org/officeDocument/2006/relationships/notesSlide" Target="/ppt/notesSlides/notesSlide1.xml" Id="R289c11d54ed248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e0bcbae14a4665" /><Relationship Type="http://schemas.openxmlformats.org/officeDocument/2006/relationships/image" Target="/ppt/media/image8.png" Id="R7c694e5d8f5f4249" /><Relationship Type="http://schemas.openxmlformats.org/officeDocument/2006/relationships/notesSlide" Target="/ppt/notesSlides/notesSlide2.xml" Id="R97e2d8eff52c4e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7e2052c669446f" /><Relationship Type="http://schemas.openxmlformats.org/officeDocument/2006/relationships/notesSlide" Target="/ppt/notesSlides/notesSlide3.xml" Id="R87614152b7b244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a8b016f2864eab" /><Relationship Type="http://schemas.openxmlformats.org/officeDocument/2006/relationships/notesSlide" Target="/ppt/notesSlides/notesSlide4.xml" Id="R0c2fb3042cab4a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6f8aa1a5404515" /><Relationship Type="http://schemas.openxmlformats.org/officeDocument/2006/relationships/image" Target="/ppt/media/image9.png" Id="R052dd64620484704" /><Relationship Type="http://schemas.openxmlformats.org/officeDocument/2006/relationships/notesSlide" Target="/ppt/notesSlides/notesSlide5.xml" Id="R8431ea43f0f743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5419780b4704a98" /><Relationship Type="http://schemas.openxmlformats.org/officeDocument/2006/relationships/notesSlide" Target="/ppt/notesSlides/notesSlide6.xml" Id="R84bced2cb2db49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281bf3cb434e5b" /><Relationship Type="http://schemas.openxmlformats.org/officeDocument/2006/relationships/image" Target="/ppt/media/image10.png" Id="R17d0cfc90bb74795" /><Relationship Type="http://schemas.openxmlformats.org/officeDocument/2006/relationships/notesSlide" Target="/ppt/notesSlides/notesSlide7.xml" Id="R41aa5876a05d4e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7c2714e11543ce" /><Relationship Type="http://schemas.openxmlformats.org/officeDocument/2006/relationships/notesSlide" Target="/ppt/notesSlides/notesSlide8.xml" Id="R014d662fd1b74d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63c0c847014153" /><Relationship Type="http://schemas.openxmlformats.org/officeDocument/2006/relationships/image" Target="/ppt/media/image11.png" Id="Rdd495f7e928a40e9" /><Relationship Type="http://schemas.openxmlformats.org/officeDocument/2006/relationships/image" Target="/ppt/media/image12.png" Id="R03e1cf56c27440f2" /><Relationship Type="http://schemas.openxmlformats.org/officeDocument/2006/relationships/notesSlide" Target="/ppt/notesSlides/notesSlide9.xml" Id="R6c93af3f0c0442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1541ebf30f485d" /><Relationship Type="http://schemas.openxmlformats.org/officeDocument/2006/relationships/image" Target="/ppt/media/image11.png" Id="R186c46eca047489d" /><Relationship Type="http://schemas.openxmlformats.org/officeDocument/2006/relationships/image" Target="/ppt/media/image12.png" Id="Rb8ff2e72cb014bf7" /><Relationship Type="http://schemas.openxmlformats.org/officeDocument/2006/relationships/notesSlide" Target="/ppt/notesSlides/notesSlide10.xml" Id="R221ec3d5a3054e6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aa5c05bcb2454e" /><Relationship Type="http://schemas.openxmlformats.org/officeDocument/2006/relationships/image" Target="/ppt/media/image10.png" Id="Rfbb153cc28274046" /><Relationship Type="http://schemas.openxmlformats.org/officeDocument/2006/relationships/notesSlide" Target="/ppt/notesSlides/notesSlide11.xml" Id="R651cb9bdc7974f8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d4d7b1622e4a39" /><Relationship Type="http://schemas.openxmlformats.org/officeDocument/2006/relationships/notesSlide" Target="/ppt/notesSlides/notesSlide12.xml" Id="Ra7fbbb3015064a2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005dee5e064e17" /><Relationship Type="http://schemas.openxmlformats.org/officeDocument/2006/relationships/notesSlide" Target="/ppt/notesSlides/notesSlide13.xml" Id="Rb7819c64456a4e2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8ade3ac4dd54615" /><Relationship Type="http://schemas.openxmlformats.org/officeDocument/2006/relationships/notesSlide" Target="/ppt/notesSlides/notesSlide14.xml" Id="Rced50c351d56434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d718544b4341db" /><Relationship Type="http://schemas.openxmlformats.org/officeDocument/2006/relationships/hyperlink" Target="https://www.cisa.gov/known-exploited-vulnerabilities-catalog" TargetMode="External" Id="R0ed05aeb85cb4da2" /><Relationship Type="http://schemas.openxmlformats.org/officeDocument/2006/relationships/hyperlink" Target="https://www.first.org/epss/" TargetMode="External" Id="Ra4030f51075b45db" /><Relationship Type="http://schemas.openxmlformats.org/officeDocument/2006/relationships/notesSlide" Target="/ppt/notesSlides/notesSlide15.xml" Id="Rfbcd514bb4274f7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96b60fb8da14ef3" /><Relationship Type="http://schemas.openxmlformats.org/officeDocument/2006/relationships/notesSlide" Target="/ppt/notesSlides/notesSlide16.xml" Id="R88f8f9ef794a462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e105c4695b4802" /><Relationship Type="http://schemas.openxmlformats.org/officeDocument/2006/relationships/notesSlide" Target="/ppt/notesSlides/notesSlide17.xml" Id="R6ed51664e285455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3e6153ad984605" /><Relationship Type="http://schemas.openxmlformats.org/officeDocument/2006/relationships/notesSlide" Target="/ppt/notesSlides/notesSlide18.xml" Id="Rde43e888b91148d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33d04b65664085" /><Relationship Type="http://schemas.openxmlformats.org/officeDocument/2006/relationships/notesSlide" Target="/ppt/notesSlides/notesSlide19.xml" Id="Re6bc8750030a4fa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6f4fc6b0924b5f" /><Relationship Type="http://schemas.openxmlformats.org/officeDocument/2006/relationships/notesSlide" Target="/ppt/notesSlides/notesSlide20.xml" Id="Rdf8e223b4a1f40c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f016d42a934f52" /><Relationship Type="http://schemas.openxmlformats.org/officeDocument/2006/relationships/notesSlide" Target="/ppt/notesSlides/notesSlide21.xml" Id="R5ef83fa6e98c46c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0f58f7524847ec" /><Relationship Type="http://schemas.openxmlformats.org/officeDocument/2006/relationships/notesSlide" Target="/ppt/notesSlides/notesSlide22.xml" Id="R61704ef2d2b5457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9ac44f5c2c4238" /><Relationship Type="http://schemas.openxmlformats.org/officeDocument/2006/relationships/notesSlide" Target="/ppt/notesSlides/notesSlide23.xml" Id="Ra6d62f59f8d947e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859f1b56e34f76" /><Relationship Type="http://schemas.openxmlformats.org/officeDocument/2006/relationships/image" Target="/ppt/media/image13.png" Id="R6ec61b56d4984b5e" /><Relationship Type="http://schemas.openxmlformats.org/officeDocument/2006/relationships/image" Target="/ppt/media/image10.png" Id="R2423e441c56c464e" /><Relationship Type="http://schemas.openxmlformats.org/officeDocument/2006/relationships/notesSlide" Target="/ppt/notesSlides/notesSlide24.xml" Id="R06daaf863e15459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512c79fc324e41" /><Relationship Type="http://schemas.openxmlformats.org/officeDocument/2006/relationships/image" Target="/ppt/media/image13.png" Id="R691957e8d57e4c8d" /><Relationship Type="http://schemas.openxmlformats.org/officeDocument/2006/relationships/image" Target="/ppt/media/image14.png" Id="Rfbefababd2d34938" /><Relationship Type="http://schemas.openxmlformats.org/officeDocument/2006/relationships/notesSlide" Target="/ppt/notesSlides/notesSlide25.xml" Id="R774f9d902055458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fde138089847d6" /><Relationship Type="http://schemas.openxmlformats.org/officeDocument/2006/relationships/notesSlide" Target="/ppt/notesSlides/notesSlide26.xml" Id="R19cda0d85416486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2de8c5fc3404f5a" /><Relationship Type="http://schemas.openxmlformats.org/officeDocument/2006/relationships/notesSlide" Target="/ppt/notesSlides/notesSlide27.xml" Id="R1b08cb6c5b3f4ed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09eaf83b934aa8" /><Relationship Type="http://schemas.openxmlformats.org/officeDocument/2006/relationships/notesSlide" Target="/ppt/notesSlides/notesSlide28.xml" Id="R9fcbc24b7d5a4b8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e8f3ac563134984" /><Relationship Type="http://schemas.openxmlformats.org/officeDocument/2006/relationships/notesSlide" Target="/ppt/notesSlides/notesSlide29.xml" Id="R6edfb81e852c4d7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e5cdb85659427c" /><Relationship Type="http://schemas.openxmlformats.org/officeDocument/2006/relationships/notesSlide" Target="/ppt/notesSlides/notesSlide30.xml" Id="Rd5061f957579470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6519b55fd343d6" /><Relationship Type="http://schemas.openxmlformats.org/officeDocument/2006/relationships/image" Target="/ppt/media/image15.png" Id="R43ed7f9d65fa4074" /><Relationship Type="http://schemas.openxmlformats.org/officeDocument/2006/relationships/image" Target="/ppt/media/image16.png" Id="R2da36a705a8a42e3" /><Relationship Type="http://schemas.openxmlformats.org/officeDocument/2006/relationships/notesSlide" Target="/ppt/notesSlides/notesSlide31.xml" Id="R4177487500db447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97ae67e42c45e0" /><Relationship Type="http://schemas.openxmlformats.org/officeDocument/2006/relationships/image" Target="/ppt/media/image17.png" Id="Rb584c93ee3c047ac" /><Relationship Type="http://schemas.openxmlformats.org/officeDocument/2006/relationships/image" Target="/ppt/media/image18.png" Id="Reb3d598d99144daf" /><Relationship Type="http://schemas.openxmlformats.org/officeDocument/2006/relationships/image" Target="/ppt/media/image15.png" Id="R19fd0779b8794834" /><Relationship Type="http://schemas.openxmlformats.org/officeDocument/2006/relationships/image" Target="/ppt/media/image16.png" Id="Red830d2534f947c8" /><Relationship Type="http://schemas.openxmlformats.org/officeDocument/2006/relationships/notesSlide" Target="/ppt/notesSlides/notesSlide32.xml" Id="Rc1fe639e5aad416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df5f2414b148c4" /><Relationship Type="http://schemas.openxmlformats.org/officeDocument/2006/relationships/notesSlide" Target="/ppt/notesSlides/notesSlide33.xml" Id="R11b2f15c48e1410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309984f0bac4ff4" /><Relationship Type="http://schemas.openxmlformats.org/officeDocument/2006/relationships/notesSlide" Target="/ppt/notesSlides/notesSlide34.xml" Id="R59d2b3412cac48e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b38d68fa8a4103" /><Relationship Type="http://schemas.openxmlformats.org/officeDocument/2006/relationships/image" Target="/ppt/media/image10.png" Id="R2000918f1c97430f" /><Relationship Type="http://schemas.openxmlformats.org/officeDocument/2006/relationships/notesSlide" Target="/ppt/notesSlides/notesSlide35.xml" Id="R036c075e54bd4d1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074f6136214a35" /><Relationship Type="http://schemas.openxmlformats.org/officeDocument/2006/relationships/image" Target="/ppt/media/image3.png" Id="R373b02b4b6e94c57" /><Relationship Type="http://schemas.openxmlformats.org/officeDocument/2006/relationships/notesSlide" Target="/ppt/notesSlides/notesSlide36.xml" Id="R00f970ff411d4bc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Google Shape;60;p1">
            <a:extLst xmlns:a="http://schemas.openxmlformats.org/drawingml/2006/main">
              <a:ext uri="{FF2B5EF4-FFF2-40B4-BE49-F238E27FC236}">
                <a16:creationId xmlns:a16="http://schemas.microsoft.com/office/drawing/2014/main" id="{EF30A0B4-05CB-4B07-882F-D8CA9DC8B94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9389" y="1273324"/>
            <a:ext cx="9931400" cy="8389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/>
              <a:t>Get grip on product security with ARIANNA</a:t>
            </a:r>
          </a:p>
        </p:txBody>
      </p:sp>
      <p:sp>
        <p:nvSpPr>
          <p:cNvPr id="61" name="Google Shape;61;p1">
            <a:extLst xmlns:a="http://schemas.openxmlformats.org/drawingml/2006/main">
              <a:ext uri="{FF2B5EF4-FFF2-40B4-BE49-F238E27FC236}">
                <a16:creationId xmlns:a16="http://schemas.microsoft.com/office/drawing/2014/main" id="{8838B73D-A82D-4728-957E-A2ED4D6083B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9389" y="1962764"/>
            <a:ext cx="9931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/>
              <a:t>HBOM &amp; SBOM Creation | Vulnerability Monitoring &amp; Vulnerability Management</a:t>
            </a:r>
          </a:p>
        </p:txBody>
      </p:sp>
      <p:sp>
        <p:nvSpPr>
          <p:cNvPr id="62" name="Google Shape;62;p1">
            <a:extLst xmlns:a="http://schemas.openxmlformats.org/drawingml/2006/main">
              <a:ext uri="{FF2B5EF4-FFF2-40B4-BE49-F238E27FC236}">
                <a16:creationId xmlns:a16="http://schemas.microsoft.com/office/drawing/2014/main" id="{A27A63B6-8624-4A48-A126-B9E2B8FB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341" y="4729708"/>
            <a:ext cx="1776448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ARIANNA is a product by</a:t>
            </a:r>
          </a:p>
        </p:txBody>
      </p:sp>
      <p:pic>
        <p:nvPicPr>
          <p:cNvPr id="68" name="Google Shape;63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287cdda9310477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104576" y="2237084"/>
            <a:ext cx="4711535" cy="353365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9" name="Google Shape;64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8cede0b4f30435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06896" y="2801688"/>
            <a:ext cx="3456385" cy="110523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81802834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Google Shape;70;p2">
            <a:extLst xmlns:a="http://schemas.openxmlformats.org/drawingml/2006/main">
              <a:ext uri="{FF2B5EF4-FFF2-40B4-BE49-F238E27FC236}">
                <a16:creationId xmlns:a16="http://schemas.microsoft.com/office/drawing/2014/main" id="{4D669BA5-0704-43D4-AACC-3A69B59006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5654" y="1123284"/>
            <a:ext cx="8805668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r>
              <a:rPr sz="2000"/>
              <a:t>CRA </a:t>
            </a:r>
            <a:r>
              <a:rPr sz="2000"/>
              <a:t>requires</a:t>
            </a:r>
            <a:r>
              <a:rPr sz="2000"/>
              <a:t> </a:t>
            </a:r>
            <a:r>
              <a:rPr sz="2000"/>
              <a:t>continuous</a:t>
            </a:r>
            <a:r>
              <a:rPr sz="2000"/>
              <a:t> </a:t>
            </a:r>
            <a:r>
              <a:rPr sz="2000"/>
              <a:t>vulnerability</a:t>
            </a:r>
            <a:r>
              <a:rPr sz="2000"/>
              <a:t> management </a:t>
            </a:r>
            <a:r>
              <a:rPr sz="2000"/>
              <a:t>throughout</a:t>
            </a:r>
            <a:r>
              <a:rPr sz="2000"/>
              <a:t> </a:t>
            </a:r>
            <a:r>
              <a:rPr sz="2000"/>
              <a:t>the</a:t>
            </a:r>
            <a:r>
              <a:rPr sz="2000"/>
              <a:t> product </a:t>
            </a:r>
            <a:r>
              <a:rPr sz="2000"/>
              <a:t>lifecycle</a:t>
            </a:r>
            <a:r>
              <a:rPr sz="2000"/>
              <a:t>.</a:t>
            </a:r>
          </a:p>
          <a:p xmlns:a="http://schemas.openxmlformats.org/drawingml/2006/main">
            <a:r>
              <a:rPr sz="2000"/>
              <a:t>Manufacturers</a:t>
            </a:r>
            <a:r>
              <a:rPr sz="2000"/>
              <a:t> must </a:t>
            </a:r>
            <a:r>
              <a:rPr sz="2000"/>
              <a:t>maintain</a:t>
            </a:r>
            <a:r>
              <a:rPr sz="2000"/>
              <a:t> </a:t>
            </a:r>
            <a:r>
              <a:rPr sz="2000"/>
              <a:t>SBOMs</a:t>
            </a:r>
            <a:r>
              <a:rPr sz="2000"/>
              <a:t>, monitor </a:t>
            </a:r>
            <a:r>
              <a:rPr sz="2000"/>
              <a:t>vulnerabilities</a:t>
            </a:r>
            <a:r>
              <a:rPr sz="2000"/>
              <a:t>, </a:t>
            </a:r>
            <a:r>
              <a:rPr sz="2000"/>
              <a:t>assess</a:t>
            </a:r>
            <a:r>
              <a:rPr sz="2000"/>
              <a:t> risk </a:t>
            </a:r>
            <a:r>
              <a:rPr sz="2000"/>
              <a:t>and</a:t>
            </a:r>
            <a:r>
              <a:rPr sz="2000"/>
              <a:t> </a:t>
            </a:r>
            <a:r>
              <a:rPr sz="2000"/>
              <a:t>address</a:t>
            </a:r>
            <a:r>
              <a:rPr sz="2000"/>
              <a:t> </a:t>
            </a:r>
            <a:r>
              <a:rPr sz="2000"/>
              <a:t>vulnerabilities</a:t>
            </a:r>
            <a:r>
              <a:rPr sz="2000"/>
              <a:t>.</a:t>
            </a:r>
          </a:p>
          <a:p xmlns:a="http://schemas.openxmlformats.org/drawingml/2006/main">
            <a:r>
              <a:rPr sz="2000"/>
              <a:t>Many</a:t>
            </a:r>
            <a:r>
              <a:rPr sz="2000"/>
              <a:t> </a:t>
            </a:r>
            <a:r>
              <a:rPr sz="2000"/>
              <a:t>organizations</a:t>
            </a:r>
            <a:r>
              <a:rPr sz="2000"/>
              <a:t> have </a:t>
            </a:r>
            <a:r>
              <a:rPr sz="2000"/>
              <a:t>the</a:t>
            </a:r>
            <a:r>
              <a:rPr sz="2000"/>
              <a:t> </a:t>
            </a:r>
            <a:r>
              <a:rPr sz="2000"/>
              <a:t>components</a:t>
            </a:r>
            <a:r>
              <a:rPr sz="2000"/>
              <a:t> but </a:t>
            </a:r>
            <a:r>
              <a:rPr sz="2000"/>
              <a:t>lack</a:t>
            </a:r>
            <a:r>
              <a:rPr sz="2000"/>
              <a:t> </a:t>
            </a:r>
            <a:r>
              <a:rPr sz="2000"/>
              <a:t>an</a:t>
            </a:r>
            <a:r>
              <a:rPr sz="2000"/>
              <a:t> </a:t>
            </a:r>
            <a:r>
              <a:rPr sz="2000"/>
              <a:t>operational</a:t>
            </a:r>
            <a:r>
              <a:rPr sz="2000"/>
              <a:t> </a:t>
            </a:r>
            <a:r>
              <a:rPr sz="2000"/>
              <a:t>process</a:t>
            </a:r>
            <a:r>
              <a:rPr sz="2000"/>
              <a:t>.</a:t>
            </a:r>
          </a:p>
        </p:txBody>
      </p:sp>
      <p:sp>
        <p:nvSpPr>
          <p:cNvPr id="71" name="Google Shape;71;p2">
            <a:extLst xmlns:a="http://schemas.openxmlformats.org/drawingml/2006/main">
              <a:ext uri="{FF2B5EF4-FFF2-40B4-BE49-F238E27FC236}">
                <a16:creationId xmlns:a16="http://schemas.microsoft.com/office/drawing/2014/main" id="{A342B3AC-7671-401A-AD0F-203CCEE1F5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56" y="131946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Why</a:t>
            </a:r>
            <a:r>
              <a:t> </a:t>
            </a:r>
            <a:r>
              <a:t>Manufacturers</a:t>
            </a:r>
            <a:r>
              <a:t> </a:t>
            </a:r>
            <a:r>
              <a:t>Struggle</a:t>
            </a:r>
            <a:r>
              <a:t> </a:t>
            </a:r>
            <a:r>
              <a:t>with</a:t>
            </a:r>
            <a:r>
              <a:t> CRA</a:t>
            </a:r>
          </a:p>
        </p:txBody>
      </p:sp>
      <p:sp>
        <p:nvSpPr>
          <p:cNvPr id="72" name="Google Shape;72;p2">
            <a:extLst xmlns:a="http://schemas.openxmlformats.org/drawingml/2006/main">
              <a:ext uri="{FF2B5EF4-FFF2-40B4-BE49-F238E27FC236}">
                <a16:creationId xmlns:a16="http://schemas.microsoft.com/office/drawing/2014/main" id="{4A41C45E-9846-4A93-8DB3-13974E591B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E2598689-54C9-18A7-3A19-ED76AA08988F}" type="slidenum">
              <a:t>2</a:t>
            </a:fld>
          </a:p>
        </p:txBody>
      </p:sp>
      <p:pic>
        <p:nvPicPr>
          <p:cNvPr id="77" name="Afbeelding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694e5d8f5f42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34045" y="3370492"/>
            <a:ext cx="3352847" cy="187759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1336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Google Shape;70;p2">
            <a:extLst xmlns:a="http://schemas.openxmlformats.org/drawingml/2006/main">
              <a:ext uri="{FF2B5EF4-FFF2-40B4-BE49-F238E27FC236}">
                <a16:creationId xmlns:a16="http://schemas.microsoft.com/office/drawing/2014/main" id="{92292B43-2E71-5A4C-098E-EB2EC03CFB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5654" y="1123284"/>
            <a:ext cx="8400553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r>
              <a:rPr sz="2000"/>
              <a:t>Connected</a:t>
            </a:r>
            <a:r>
              <a:rPr sz="2000"/>
              <a:t> </a:t>
            </a:r>
            <a:r>
              <a:rPr sz="2000"/>
              <a:t>products</a:t>
            </a:r>
            <a:r>
              <a:rPr sz="2000"/>
              <a:t> combine hardware </a:t>
            </a:r>
            <a:r>
              <a:rPr sz="2000"/>
              <a:t>and</a:t>
            </a:r>
            <a:r>
              <a:rPr sz="2000"/>
              <a:t> software </a:t>
            </a:r>
            <a:r>
              <a:rPr sz="2000"/>
              <a:t>with</a:t>
            </a:r>
            <a:r>
              <a:rPr sz="2000"/>
              <a:t> long support </a:t>
            </a:r>
            <a:r>
              <a:rPr sz="2000"/>
              <a:t>lifecycles</a:t>
            </a:r>
            <a:r>
              <a:rPr sz="2000"/>
              <a:t>.</a:t>
            </a:r>
          </a:p>
          <a:p xmlns:a="http://schemas.openxmlformats.org/drawingml/2006/main">
            <a:r>
              <a:rPr sz="2000"/>
              <a:t>Manual </a:t>
            </a:r>
            <a:r>
              <a:rPr sz="2000"/>
              <a:t>vulnerability</a:t>
            </a:r>
            <a:r>
              <a:rPr sz="2000"/>
              <a:t> tracking does </a:t>
            </a:r>
            <a:r>
              <a:rPr sz="2000"/>
              <a:t>not</a:t>
            </a:r>
            <a:r>
              <a:rPr sz="2000"/>
              <a:t> </a:t>
            </a:r>
            <a:r>
              <a:rPr sz="2000"/>
              <a:t>scale</a:t>
            </a:r>
            <a:r>
              <a:rPr sz="2000"/>
              <a:t>.</a:t>
            </a:r>
          </a:p>
          <a:p xmlns:a="http://schemas.openxmlformats.org/drawingml/2006/main">
            <a:r>
              <a:rPr sz="2000"/>
              <a:t>ARIANNA </a:t>
            </a:r>
            <a:r>
              <a:rPr sz="2000"/>
              <a:t>provides</a:t>
            </a:r>
            <a:r>
              <a:rPr sz="2000"/>
              <a:t> HBOM + SBOM </a:t>
            </a:r>
            <a:r>
              <a:rPr sz="2000"/>
              <a:t>visibility</a:t>
            </a:r>
            <a:r>
              <a:rPr sz="2000"/>
              <a:t>, monitoring, </a:t>
            </a:r>
            <a:r>
              <a:rPr sz="2000"/>
              <a:t>prioritization</a:t>
            </a:r>
            <a:r>
              <a:rPr sz="2000"/>
              <a:t> </a:t>
            </a:r>
            <a:r>
              <a:rPr sz="2000"/>
              <a:t>and</a:t>
            </a:r>
            <a:r>
              <a:rPr sz="2000"/>
              <a:t> </a:t>
            </a:r>
            <a:r>
              <a:rPr sz="2000"/>
              <a:t>reporting</a:t>
            </a:r>
            <a:r>
              <a:rPr sz="2000"/>
              <a:t> in </a:t>
            </a:r>
            <a:r>
              <a:rPr sz="2000"/>
              <a:t>one</a:t>
            </a:r>
            <a:r>
              <a:rPr sz="2000"/>
              <a:t> platform.</a:t>
            </a:r>
          </a:p>
        </p:txBody>
      </p:sp>
      <p:sp>
        <p:nvSpPr>
          <p:cNvPr id="71" name="Google Shape;71;p2">
            <a:extLst xmlns:a="http://schemas.openxmlformats.org/drawingml/2006/main">
              <a:ext uri="{FF2B5EF4-FFF2-40B4-BE49-F238E27FC236}">
                <a16:creationId xmlns:a16="http://schemas.microsoft.com/office/drawing/2014/main" id="{3AE2A33D-0FFF-BF33-2B33-9D63A13046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56" y="131946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Why ARIANNA exists</a:t>
            </a:r>
          </a:p>
        </p:txBody>
      </p:sp>
      <p:sp>
        <p:nvSpPr>
          <p:cNvPr id="72" name="Google Shape;72;p2">
            <a:extLst xmlns:a="http://schemas.openxmlformats.org/drawingml/2006/main">
              <a:ext uri="{FF2B5EF4-FFF2-40B4-BE49-F238E27FC236}">
                <a16:creationId xmlns:a16="http://schemas.microsoft.com/office/drawing/2014/main" id="{1142A1CD-37F2-2E59-1326-EA987ADA78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202359C0-8A7A-196E-DD58-8E6569619F09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14535301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Google Shape;70;p2">
            <a:extLst xmlns:a="http://schemas.openxmlformats.org/drawingml/2006/main">
              <a:ext uri="{FF2B5EF4-FFF2-40B4-BE49-F238E27FC236}">
                <a16:creationId xmlns:a16="http://schemas.microsoft.com/office/drawing/2014/main" id="{729FF4BA-8CA4-4A3E-0CBD-AFFF4923FF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5654" y="1123284"/>
            <a:ext cx="8214746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r>
              <a:rPr sz="2000"/>
              <a:t>A </a:t>
            </a:r>
            <a:r>
              <a:rPr sz="2000"/>
              <a:t>typical</a:t>
            </a:r>
            <a:r>
              <a:rPr sz="2000"/>
              <a:t> </a:t>
            </a:r>
            <a:r>
              <a:rPr sz="2000"/>
              <a:t>connected</a:t>
            </a:r>
            <a:r>
              <a:rPr sz="2000"/>
              <a:t> device </a:t>
            </a:r>
            <a:r>
              <a:rPr sz="2000"/>
              <a:t>may</a:t>
            </a:r>
            <a:r>
              <a:rPr sz="2000"/>
              <a:t> </a:t>
            </a:r>
            <a:r>
              <a:rPr sz="2000"/>
              <a:t>contain</a:t>
            </a:r>
            <a:r>
              <a:rPr sz="2000"/>
              <a:t> </a:t>
            </a:r>
            <a:r>
              <a:rPr sz="2000"/>
              <a:t>thousands</a:t>
            </a:r>
            <a:r>
              <a:rPr sz="2000"/>
              <a:t> of </a:t>
            </a:r>
            <a:r>
              <a:rPr sz="2000"/>
              <a:t>known</a:t>
            </a:r>
            <a:r>
              <a:rPr sz="2000"/>
              <a:t> </a:t>
            </a:r>
            <a:r>
              <a:rPr sz="2000"/>
              <a:t>vulnerabilities</a:t>
            </a:r>
            <a:r>
              <a:rPr sz="2000"/>
              <a:t>.</a:t>
            </a:r>
          </a:p>
          <a:p xmlns:a="http://schemas.openxmlformats.org/drawingml/2006/main">
            <a:r>
              <a:rPr sz="2000"/>
              <a:t>CVSS-</a:t>
            </a:r>
            <a:r>
              <a:rPr sz="2000"/>
              <a:t>only</a:t>
            </a:r>
            <a:r>
              <a:rPr sz="2000"/>
              <a:t> </a:t>
            </a:r>
            <a:r>
              <a:rPr sz="2000"/>
              <a:t>prioritization</a:t>
            </a:r>
            <a:r>
              <a:rPr sz="2000"/>
              <a:t> </a:t>
            </a:r>
            <a:r>
              <a:rPr sz="2000"/>
              <a:t>can</a:t>
            </a:r>
            <a:r>
              <a:rPr sz="2000"/>
              <a:t> </a:t>
            </a:r>
            <a:r>
              <a:rPr sz="2000"/>
              <a:t>result</a:t>
            </a:r>
            <a:r>
              <a:rPr sz="2000"/>
              <a:t> in </a:t>
            </a:r>
            <a:r>
              <a:rPr sz="2000"/>
              <a:t>hundreds</a:t>
            </a:r>
            <a:r>
              <a:rPr sz="2000"/>
              <a:t> of </a:t>
            </a:r>
            <a:r>
              <a:rPr sz="2000"/>
              <a:t>vulnerabilities</a:t>
            </a:r>
            <a:r>
              <a:rPr sz="2000"/>
              <a:t> </a:t>
            </a:r>
            <a:r>
              <a:rPr sz="2000"/>
              <a:t>requiring</a:t>
            </a:r>
            <a:r>
              <a:rPr sz="2000"/>
              <a:t> review.</a:t>
            </a:r>
          </a:p>
          <a:p xmlns:a="http://schemas.openxmlformats.org/drawingml/2006/main">
            <a:r>
              <a:rPr sz="2000"/>
              <a:t>ARIANNA </a:t>
            </a:r>
            <a:r>
              <a:rPr sz="2000"/>
              <a:t>prioritizes</a:t>
            </a:r>
            <a:r>
              <a:rPr sz="2000"/>
              <a:t> </a:t>
            </a:r>
            <a:r>
              <a:rPr sz="2000"/>
              <a:t>based</a:t>
            </a:r>
            <a:r>
              <a:rPr sz="2000"/>
              <a:t> on </a:t>
            </a:r>
            <a:r>
              <a:rPr sz="2000"/>
              <a:t>exploitability</a:t>
            </a:r>
            <a:r>
              <a:rPr sz="2000"/>
              <a:t> </a:t>
            </a:r>
            <a:r>
              <a:rPr sz="2000"/>
              <a:t>and</a:t>
            </a:r>
            <a:r>
              <a:rPr sz="2000"/>
              <a:t> context, </a:t>
            </a:r>
            <a:r>
              <a:rPr sz="2000"/>
              <a:t>reducing</a:t>
            </a:r>
            <a:r>
              <a:rPr sz="2000"/>
              <a:t> </a:t>
            </a:r>
            <a:r>
              <a:rPr sz="2000"/>
              <a:t>the</a:t>
            </a:r>
            <a:r>
              <a:rPr sz="2000"/>
              <a:t> focus </a:t>
            </a:r>
            <a:r>
              <a:rPr sz="2000"/>
              <a:t>to</a:t>
            </a:r>
            <a:r>
              <a:rPr sz="2000"/>
              <a:t> </a:t>
            </a:r>
            <a:r>
              <a:rPr sz="2000"/>
              <a:t>the</a:t>
            </a:r>
            <a:r>
              <a:rPr sz="2000"/>
              <a:t> </a:t>
            </a:r>
            <a:r>
              <a:rPr sz="2000"/>
              <a:t>vulnerabilities</a:t>
            </a:r>
            <a:r>
              <a:rPr sz="2000"/>
              <a:t> </a:t>
            </a:r>
            <a:r>
              <a:rPr sz="2000"/>
              <a:t>that</a:t>
            </a:r>
            <a:r>
              <a:rPr sz="2000"/>
              <a:t> matter most.</a:t>
            </a:r>
          </a:p>
        </p:txBody>
      </p:sp>
      <p:sp>
        <p:nvSpPr>
          <p:cNvPr id="71" name="Google Shape;71;p2">
            <a:extLst xmlns:a="http://schemas.openxmlformats.org/drawingml/2006/main">
              <a:ext uri="{FF2B5EF4-FFF2-40B4-BE49-F238E27FC236}">
                <a16:creationId xmlns:a16="http://schemas.microsoft.com/office/drawing/2014/main" id="{1BD258A6-17C1-641A-975D-8F4879F4B8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56" y="131946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From</a:t>
            </a:r>
            <a:r>
              <a:t> 2,775 </a:t>
            </a:r>
            <a:r>
              <a:t>Vulnerabilities</a:t>
            </a:r>
            <a:r>
              <a:t> </a:t>
            </a:r>
            <a:r>
              <a:t>to</a:t>
            </a:r>
            <a:r>
              <a:t> 10 Actions</a:t>
            </a:r>
          </a:p>
        </p:txBody>
      </p:sp>
      <p:sp>
        <p:nvSpPr>
          <p:cNvPr id="72" name="Google Shape;72;p2">
            <a:extLst xmlns:a="http://schemas.openxmlformats.org/drawingml/2006/main">
              <a:ext uri="{FF2B5EF4-FFF2-40B4-BE49-F238E27FC236}">
                <a16:creationId xmlns:a16="http://schemas.microsoft.com/office/drawing/2014/main" id="{B848EDD9-9D97-8563-D959-242480BCA0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EFD6AB9A-5F9E-5F59-51AB-3C8734130965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171458950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4" name="Google Shape;69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52dd6462048470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945785" y="1820855"/>
            <a:ext cx="5224462" cy="391834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2">
            <a:extLst xmlns:a="http://schemas.openxmlformats.org/drawingml/2006/main">
              <a:ext uri="{FF2B5EF4-FFF2-40B4-BE49-F238E27FC236}">
                <a16:creationId xmlns:a16="http://schemas.microsoft.com/office/drawing/2014/main" id="{DCDBA434-48A9-BB5E-1DF7-7E2DD974BD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5654" y="1123284"/>
            <a:ext cx="8214746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/>
              <a:t>ARIANNA is a platform designed to help </a:t>
            </a:r>
            <a:r>
              <a:rPr sz="2000">
                <a:solidFill>
                  <a:srgbClr val="41BAB7"/>
                </a:solidFill>
              </a:rPr>
              <a:t>Device Manufacturer </a:t>
            </a:r>
            <a:r>
              <a:rPr sz="2000"/>
              <a:t>to implement an efficient </a:t>
            </a:r>
            <a:r>
              <a:rPr sz="2000">
                <a:solidFill>
                  <a:srgbClr val="41BAB7"/>
                </a:solidFill>
              </a:rPr>
              <a:t>Vulnerability Management Process </a:t>
            </a:r>
          </a:p>
          <a:p xmlns:a="http://schemas.openxmlformats.org/drawingml/2006/main">
            <a:pPr marL="34290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sz="1800"/>
              <a:t>Device Model Management (HBOM + SBOM)</a:t>
            </a:r>
          </a:p>
          <a:p xmlns:a="http://schemas.openxmlformats.org/drawingml/2006/main">
            <a:pPr marL="34290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sz="1800"/>
              <a:t>Continuous Vulnerability Monitoring</a:t>
            </a:r>
          </a:p>
          <a:p xmlns:a="http://schemas.openxmlformats.org/drawingml/2006/main">
            <a:pPr marL="34290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sz="1800"/>
              <a:t>Vulnerability Management</a:t>
            </a:r>
          </a:p>
          <a:p xmlns:a="http://schemas.openxmlformats.org/drawingml/2006/main">
            <a:pPr marL="34290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sz="1800"/>
              <a:t>Reporting</a:t>
            </a:r>
          </a:p>
        </p:txBody>
      </p:sp>
      <p:sp>
        <p:nvSpPr>
          <p:cNvPr id="71" name="Google Shape;71;p2">
            <a:extLst xmlns:a="http://schemas.openxmlformats.org/drawingml/2006/main">
              <a:ext uri="{FF2B5EF4-FFF2-40B4-BE49-F238E27FC236}">
                <a16:creationId xmlns:a16="http://schemas.microsoft.com/office/drawing/2014/main" id="{F0CF8B1E-FAA5-5241-1C1A-30E89CB837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56" y="131946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ARIANNA</a:t>
            </a:r>
          </a:p>
        </p:txBody>
      </p:sp>
      <p:sp>
        <p:nvSpPr>
          <p:cNvPr id="72" name="Google Shape;72;p2">
            <a:extLst xmlns:a="http://schemas.openxmlformats.org/drawingml/2006/main">
              <a:ext uri="{FF2B5EF4-FFF2-40B4-BE49-F238E27FC236}">
                <a16:creationId xmlns:a16="http://schemas.microsoft.com/office/drawing/2014/main" id="{ECB7CD20-DB45-DCBC-D85E-322D0AB91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EE5B3003-2C54-13C6-9832-7637201064DE}" type="slidenum">
              <a:t>5</a:t>
            </a:fld>
          </a:p>
        </p:txBody>
      </p:sp>
    </p:spTree>
    <p:extLst>
      <p:ext uri="{BB962C8B-B14F-4D97-AF65-F5344CB8AC3E}">
        <p14:creationId xmlns:p14="http://schemas.microsoft.com/office/powerpoint/2010/main" val="9155790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Google Shape;77;p3">
            <a:extLst xmlns:a="http://schemas.openxmlformats.org/drawingml/2006/main">
              <a:ext uri="{FF2B5EF4-FFF2-40B4-BE49-F238E27FC236}">
                <a16:creationId xmlns:a16="http://schemas.microsoft.com/office/drawing/2014/main" id="{94B8E81D-2CBC-4D68-B29D-85D28F7798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5531" y="1428344"/>
            <a:ext cx="8406209" cy="1765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1. Device Model creation</a:t>
            </a:r>
          </a:p>
        </p:txBody>
      </p:sp>
      <p:sp>
        <p:nvSpPr>
          <p:cNvPr id="78" name="Google Shape;78;p3">
            <a:extLst xmlns:a="http://schemas.openxmlformats.org/drawingml/2006/main">
              <a:ext uri="{FF2B5EF4-FFF2-40B4-BE49-F238E27FC236}">
                <a16:creationId xmlns:a16="http://schemas.microsoft.com/office/drawing/2014/main" id="{D1956389-AF68-48D8-A040-0ACEFF99CA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5531" y="3137318"/>
            <a:ext cx="8406209" cy="413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How to create HBOM &amp; SBOM</a:t>
            </a:r>
          </a:p>
        </p:txBody>
      </p:sp>
    </p:spTree>
    <p:extLst>
      <p:ext uri="{BB962C8B-B14F-4D97-AF65-F5344CB8AC3E}">
        <p14:creationId xmlns:p14="http://schemas.microsoft.com/office/powerpoint/2010/main" val="84786821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Google Shape;83;p4">
            <a:extLst xmlns:a="http://schemas.openxmlformats.org/drawingml/2006/main">
              <a:ext uri="{FF2B5EF4-FFF2-40B4-BE49-F238E27FC236}">
                <a16:creationId xmlns:a16="http://schemas.microsoft.com/office/drawing/2014/main" id="{BD85DC0E-74E7-48AD-B936-EC2BA41B7E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5654" y="1123284"/>
            <a:ext cx="6592492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2000"/>
              <a:t>Hardware Components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400"/>
              <a:t>MCUs | MPUs | Memories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400"/>
              <a:t>WiFi, BLE, Radio modules | Secure Elements | TPM</a:t>
            </a:r>
          </a:p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sz="1800">
                <a:solidFill>
                  <a:schemeClr val="dk2"/>
                </a:solidFill>
              </a:rPr>
              <a:t>VMP is incomplete without the Hardware Model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400"/>
              <a:t>HW Components manage Critical Assets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400">
                <a:solidFill>
                  <a:schemeClr val="accent2"/>
                </a:solidFill>
              </a:rPr>
              <a:t>HW Components have vulnerabilities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400"/>
              <a:t>HW Component are not exposed in the same way to attackers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400">
                <a:solidFill>
                  <a:schemeClr val="accent2"/>
                </a:solidFill>
              </a:rPr>
              <a:t>HW Model helps exclude non-reachable software vulnerabilities</a:t>
            </a:r>
          </a:p>
          <a:p xmlns:a="http://schemas.openxmlformats.org/drawingml/2006/main">
            <a:pPr marL="269875" indent="-1174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</a:p>
        </p:txBody>
      </p:sp>
      <p:sp>
        <p:nvSpPr>
          <p:cNvPr id="84" name="Google Shape;84;p4">
            <a:extLst xmlns:a="http://schemas.openxmlformats.org/drawingml/2006/main">
              <a:ext uri="{FF2B5EF4-FFF2-40B4-BE49-F238E27FC236}">
                <a16:creationId xmlns:a16="http://schemas.microsoft.com/office/drawing/2014/main" id="{9CA38C0B-407D-4851-8437-60704A7061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56" y="131946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Smart Devices are not only Software</a:t>
            </a:r>
          </a:p>
        </p:txBody>
      </p:sp>
      <p:sp>
        <p:nvSpPr>
          <p:cNvPr id="85" name="Google Shape;85;p4">
            <a:extLst xmlns:a="http://schemas.openxmlformats.org/drawingml/2006/main">
              <a:ext uri="{FF2B5EF4-FFF2-40B4-BE49-F238E27FC236}">
                <a16:creationId xmlns:a16="http://schemas.microsoft.com/office/drawing/2014/main" id="{3E27A4A1-ED5D-48E4-879E-92A841E391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D3D7D1C8-AE23-AA48-DF65-C742588DBE47}" type="slidenum">
              <a:t>7</a:t>
            </a:fld>
          </a:p>
        </p:txBody>
      </p:sp>
      <p:pic>
        <p:nvPicPr>
          <p:cNvPr id="110" name="Google Shape;86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7d0cfc90bb7479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68232" y="3630103"/>
            <a:ext cx="2664296" cy="15346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7" name="Google Shape;87;p4">
            <a:extLst xmlns:a="http://schemas.openxmlformats.org/drawingml/2006/main">
              <a:ext uri="{FF2B5EF4-FFF2-40B4-BE49-F238E27FC236}">
                <a16:creationId xmlns:a16="http://schemas.microsoft.com/office/drawing/2014/main" id="{313102EF-1943-4987-BF1C-A89737DB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433" y="1080071"/>
            <a:ext cx="1289774" cy="34851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 w="22225" cmpd="sng">
            <a:solidFill>
              <a:schemeClr val="accent2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WIFI MODULE</a:t>
            </a:r>
          </a:p>
        </p:txBody>
      </p:sp>
      <p:cxnSp>
        <p:nvCxnSpPr>
          <p:cNvPr id="112" name="Google Shape;88;p4"/>
          <p:cNvCxnSpPr>
            <a:stCxn xmlns:a="http://schemas.openxmlformats.org/drawingml/2006/main" id="89" idx="2"/>
          </p:cNvCxnSpPr>
          <p:nvPr/>
        </p:nvCxnSpPr>
        <p:spPr>
          <a:xfrm xmlns:a="http://schemas.openxmlformats.org/drawingml/2006/main" flipH="1">
            <a:off x="8437491" y="2086996"/>
            <a:ext cx="23700" cy="18231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accent4"/>
            </a:solidFill>
            <a:prstDash val="solid"/>
            <a:miter/>
            <a:headEnd type="none" w="sm" len="sm"/>
            <a:tailEnd type="oval" w="med" len="med"/>
          </a:ln>
        </p:spPr>
      </p:cxnSp>
      <p:cxnSp>
        <p:nvCxnSpPr>
          <p:cNvPr id="113" name="Google Shape;90;p4"/>
          <p:cNvCxnSpPr>
            <a:stCxn xmlns:a="http://schemas.openxmlformats.org/drawingml/2006/main" id="91" idx="2"/>
          </p:cNvCxnSpPr>
          <p:nvPr/>
        </p:nvCxnSpPr>
        <p:spPr>
          <a:xfrm xmlns:a="http://schemas.openxmlformats.org/drawingml/2006/main" flipH="1">
            <a:off x="8968339" y="3451570"/>
            <a:ext cx="20400" cy="3411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FD9600"/>
            </a:solidFill>
            <a:prstDash val="solid"/>
            <a:miter/>
            <a:headEnd type="none" w="sm" len="sm"/>
            <a:tailEnd type="oval" w="med" len="med"/>
          </a:ln>
        </p:spPr>
      </p:cxnSp>
      <p:cxnSp>
        <p:nvCxnSpPr>
          <p:cNvPr id="114" name="Google Shape;92;p4"/>
          <p:cNvCxnSpPr>
            <a:stCxn xmlns:a="http://schemas.openxmlformats.org/drawingml/2006/main" id="87" idx="2"/>
          </p:cNvCxnSpPr>
          <p:nvPr/>
        </p:nvCxnSpPr>
        <p:spPr>
          <a:xfrm xmlns:a="http://schemas.openxmlformats.org/drawingml/2006/main">
            <a:off x="7960320" y="1428585"/>
            <a:ext cx="0" cy="25260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accent2"/>
            </a:solidFill>
            <a:prstDash val="solid"/>
            <a:miter/>
            <a:headEnd type="none" w="sm" len="sm"/>
            <a:tailEnd type="oval" w="med" len="med"/>
          </a:ln>
        </p:spPr>
      </p:cxnSp>
      <p:sp>
        <p:nvSpPr>
          <p:cNvPr id="93" name="Google Shape;93;p4">
            <a:extLst xmlns:a="http://schemas.openxmlformats.org/drawingml/2006/main">
              <a:ext uri="{FF2B5EF4-FFF2-40B4-BE49-F238E27FC236}">
                <a16:creationId xmlns:a16="http://schemas.microsoft.com/office/drawing/2014/main" id="{4F1663AF-AFEE-4C26-90C2-B6972DCD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753" y="2382381"/>
            <a:ext cx="1137311" cy="34851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0F0"/>
          </a:solidFill>
          <a:ln xmlns:a="http://schemas.openxmlformats.org/drawingml/2006/main" w="22225" cmpd="sng">
            <a:solidFill>
              <a:srgbClr val="00B0F0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cxnSp>
        <p:nvCxnSpPr>
          <p:cNvPr id="116" name="Google Shape;94;p4"/>
          <p:cNvCxnSpPr/>
          <p:nvPr/>
        </p:nvCxnSpPr>
        <p:spPr>
          <a:xfrm xmlns:a="http://schemas.openxmlformats.org/drawingml/2006/main">
            <a:off x="8752408" y="2730895"/>
            <a:ext cx="0" cy="1179275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00B0F0"/>
            </a:solidFill>
            <a:prstDash val="solid"/>
            <a:miter/>
            <a:headEnd type="none" w="sm" len="sm"/>
            <a:tailEnd type="oval" w="med" len="med"/>
          </a:ln>
        </p:spPr>
      </p:cxnSp>
      <p:sp>
        <p:nvSpPr>
          <p:cNvPr id="89" name="Google Shape;89;p4">
            <a:extLst xmlns:a="http://schemas.openxmlformats.org/drawingml/2006/main">
              <a:ext uri="{FF2B5EF4-FFF2-40B4-BE49-F238E27FC236}">
                <a16:creationId xmlns:a16="http://schemas.microsoft.com/office/drawing/2014/main" id="{742EFF25-C2E1-4C84-A613-4DF75FA0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304" y="1738482"/>
            <a:ext cx="1289774" cy="34851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 w="22225" cmpd="sng">
            <a:solidFill>
              <a:schemeClr val="accent4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MAIN MPU</a:t>
            </a:r>
          </a:p>
        </p:txBody>
      </p:sp>
      <p:sp>
        <p:nvSpPr>
          <p:cNvPr id="91" name="Google Shape;91;p4">
            <a:extLst xmlns:a="http://schemas.openxmlformats.org/drawingml/2006/main">
              <a:ext uri="{FF2B5EF4-FFF2-40B4-BE49-F238E27FC236}">
                <a16:creationId xmlns:a16="http://schemas.microsoft.com/office/drawing/2014/main" id="{A2E072FF-D6F3-46BE-B34A-6F454C1F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9876" y="3103056"/>
            <a:ext cx="857726" cy="34851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9600"/>
          </a:solidFill>
          <a:ln xmlns:a="http://schemas.openxmlformats.org/drawingml/2006/main" w="22225" cmpd="sng">
            <a:solidFill>
              <a:srgbClr val="FD9600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MCU</a:t>
            </a:r>
          </a:p>
        </p:txBody>
      </p:sp>
    </p:spTree>
    <p:extLst>
      <p:ext uri="{BB962C8B-B14F-4D97-AF65-F5344CB8AC3E}">
        <p14:creationId xmlns:p14="http://schemas.microsoft.com/office/powerpoint/2010/main" val="116045358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Google Shape;99;p5">
            <a:extLst xmlns:a="http://schemas.openxmlformats.org/drawingml/2006/main">
              <a:ext uri="{FF2B5EF4-FFF2-40B4-BE49-F238E27FC236}">
                <a16:creationId xmlns:a16="http://schemas.microsoft.com/office/drawing/2014/main" id="{2285D75D-4E3B-49B3-8F81-A5A0FD7DC1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5654" y="1123284"/>
            <a:ext cx="9202092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 fontScale="62500" lnSpcReduction="20000"/>
          </a:bodyPr>
          <a:lstStyle xmlns:a="http://schemas.openxmlformats.org/drawingml/2006/main"/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t>ARIANNA provides support in the creation the </a:t>
            </a:r>
            <a:r>
              <a:rPr>
                <a:solidFill>
                  <a:schemeClr val="dk2"/>
                </a:solidFill>
              </a:rPr>
              <a:t>Device Model (HBOM + SBOM)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Device Model is used to identify vulnerabilities in the target device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HBOM: List of hardware components in the target device</a:t>
            </a:r>
          </a:p>
          <a:p xmlns:a="http://schemas.openxmlformats.org/drawingml/2006/main">
            <a:pPr marL="804863" indent="-233363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Built according to validated hardware part numbers, </a:t>
            </a:r>
            <a:r>
              <a:rPr>
                <a:solidFill>
                  <a:schemeClr val="dk2"/>
                </a:solidFill>
              </a:rPr>
              <a:t>enriched with info in our internal DB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SBOM: List of software components in the target device</a:t>
            </a:r>
          </a:p>
          <a:p xmlns:a="http://schemas.openxmlformats.org/drawingml/2006/main">
            <a:pPr marL="804863" indent="-233363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Built according to trusted information retrieved by </a:t>
            </a:r>
            <a:r>
              <a:rPr>
                <a:solidFill>
                  <a:srgbClr val="41BAB7"/>
                </a:solidFill>
              </a:rPr>
              <a:t>ARIANNA SCA Tools</a:t>
            </a:r>
          </a:p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t>ARIANNA </a:t>
            </a:r>
            <a:r>
              <a:rPr>
                <a:solidFill>
                  <a:schemeClr val="dk2"/>
                </a:solidFill>
              </a:rPr>
              <a:t>Software Composition Analysis Tools 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Scripts (Python, Bash or PowerShell) to be executed in the development environment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SCA Tools output (CSV file) must be uploaded on ARIANNA (through Web UI or Rest APIs)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By elaborating the uploaded CSV, ARIANNA produces the final SBOM</a:t>
            </a:r>
          </a:p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t>No need to disclose source code</a:t>
            </a:r>
          </a:p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t>No reverse engineering of binaries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Unprecise SBOM: missing components, or components with wrong version</a:t>
            </a:r>
          </a:p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t>No agents installed on target devices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Invasive approach, can complicate FW / SW maintenance (agents must be updated during device lifecycle)</a:t>
            </a:r>
          </a:p>
          <a:p xmlns:a="http://schemas.openxmlformats.org/drawingml/2006/main">
            <a:pPr marL="533400" indent="-176213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533400" indent="-176213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</a:pPr>
          </a:p>
        </p:txBody>
      </p:sp>
      <p:sp>
        <p:nvSpPr>
          <p:cNvPr id="100" name="Google Shape;100;p5">
            <a:extLst xmlns:a="http://schemas.openxmlformats.org/drawingml/2006/main">
              <a:ext uri="{FF2B5EF4-FFF2-40B4-BE49-F238E27FC236}">
                <a16:creationId xmlns:a16="http://schemas.microsoft.com/office/drawing/2014/main" id="{102E89F4-0E14-42E9-964C-C847BD387F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56" y="131946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Device Model: HBOM &amp; SBOM</a:t>
            </a:r>
          </a:p>
        </p:txBody>
      </p:sp>
      <p:sp>
        <p:nvSpPr>
          <p:cNvPr id="101" name="Google Shape;101;p5">
            <a:extLst xmlns:a="http://schemas.openxmlformats.org/drawingml/2006/main">
              <a:ext uri="{FF2B5EF4-FFF2-40B4-BE49-F238E27FC236}">
                <a16:creationId xmlns:a16="http://schemas.microsoft.com/office/drawing/2014/main" id="{A75D3B8C-D8FB-4153-8155-4D6193C841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BA58DA2A-B818-18A9-29C1-B697728D5BCE}" type="slidenum">
              <a:t>8</a:t>
            </a:fld>
          </a:p>
        </p:txBody>
      </p:sp>
      <p:sp>
        <p:nvSpPr>
          <p:cNvPr id="102" name="Google Shape;102;p5">
            <a:extLst xmlns:a="http://schemas.openxmlformats.org/drawingml/2006/main">
              <a:ext uri="{FF2B5EF4-FFF2-40B4-BE49-F238E27FC236}">
                <a16:creationId xmlns:a16="http://schemas.microsoft.com/office/drawing/2014/main" id="{61929322-132A-4C8F-AD70-62CC586B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446" y="5021142"/>
            <a:ext cx="3240360" cy="26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1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*SCA: Software Composition Analysis Tools</a:t>
            </a:r>
          </a:p>
        </p:txBody>
      </p:sp>
    </p:spTree>
    <p:extLst>
      <p:ext uri="{BB962C8B-B14F-4D97-AF65-F5344CB8AC3E}">
        <p14:creationId xmlns:p14="http://schemas.microsoft.com/office/powerpoint/2010/main" val="68206534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Google Shape;107;p6">
            <a:extLst xmlns:a="http://schemas.openxmlformats.org/drawingml/2006/main">
              <a:ext uri="{FF2B5EF4-FFF2-40B4-BE49-F238E27FC236}">
                <a16:creationId xmlns:a16="http://schemas.microsoft.com/office/drawing/2014/main" id="{EF21D944-0476-4C65-AB8A-746E294E11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5654" y="1123284"/>
            <a:ext cx="9202092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2200"/>
              <a:t>ARIANNA provides multiple SCA tools, each targeting a specific environment.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700">
                <a:solidFill>
                  <a:srgbClr val="7F7F7F"/>
                </a:solidFill>
              </a:rPr>
              <a:t>OS analysis: Linux, Windows, Android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700">
                <a:solidFill>
                  <a:srgbClr val="7F7F7F"/>
                </a:solidFill>
              </a:rPr>
              <a:t>Application-layer analysis: .NET, Python, PHP, JavaScript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700">
                <a:solidFill>
                  <a:srgbClr val="7F7F7F"/>
                </a:solidFill>
              </a:rPr>
              <a:t>MCU SDK analysis: Espressif ESP-IDF, STM Cube SDK, NXP MCUXpresso SDK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700">
                <a:solidFill>
                  <a:srgbClr val="7F7F7F"/>
                </a:solidFill>
              </a:rPr>
              <a:t>Container and cloud workload analysis</a:t>
            </a:r>
          </a:p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sz="2200"/>
              <a:t>Tools can run manually or inside CI/CD after each firmware or software release.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700"/>
              <a:t>Outputs can be uploaded through the Web UI or REST API to update the device model and trigger a new report.</a:t>
            </a:r>
          </a:p>
        </p:txBody>
      </p:sp>
      <p:sp>
        <p:nvSpPr>
          <p:cNvPr id="108" name="Google Shape;108;p6">
            <a:extLst xmlns:a="http://schemas.openxmlformats.org/drawingml/2006/main">
              <a:ext uri="{FF2B5EF4-FFF2-40B4-BE49-F238E27FC236}">
                <a16:creationId xmlns:a16="http://schemas.microsoft.com/office/drawing/2014/main" id="{15DC185C-653C-48F3-8983-6A11B1833D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56" y="131946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ARIANNA SCA Tools</a:t>
            </a:r>
          </a:p>
        </p:txBody>
      </p:sp>
      <p:sp>
        <p:nvSpPr>
          <p:cNvPr id="109" name="Google Shape;109;p6">
            <a:extLst xmlns:a="http://schemas.openxmlformats.org/drawingml/2006/main">
              <a:ext uri="{FF2B5EF4-FFF2-40B4-BE49-F238E27FC236}">
                <a16:creationId xmlns:a16="http://schemas.microsoft.com/office/drawing/2014/main" id="{13354DD7-01DA-47C6-BF38-D0A2C56AF4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388657AE-30A1-5A7A-6A7F-315D84436430}" type="slidenum">
              <a:t>9</a:t>
            </a:fld>
          </a:p>
        </p:txBody>
      </p:sp>
      <p:pic>
        <p:nvPicPr>
          <p:cNvPr id="115" name="Google Shape;110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d495f7e928a40e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0160000" cy="5715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6" name="Google Shape;111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3e1cf56c27440f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0160000" cy="5715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60978702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Google Shape;107;p6">
            <a:extLst xmlns:a="http://schemas.openxmlformats.org/drawingml/2006/main">
              <a:ext uri="{FF2B5EF4-FFF2-40B4-BE49-F238E27FC236}">
                <a16:creationId xmlns:a16="http://schemas.microsoft.com/office/drawing/2014/main" id="{EF21D944-0476-4C65-AB8A-746E294E11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5654" y="1123284"/>
            <a:ext cx="9202092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2200"/>
              <a:t>1. Run the appropriate ARIANNA SCA tool in the development or build environment.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700">
                <a:solidFill>
                  <a:srgbClr val="7F7F7F"/>
                </a:solidFill>
              </a:rPr>
              <a:t>2. Generate CSV evidence for the relevant OS, application, firmware, SDK, or container layers.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700">
                <a:solidFill>
                  <a:srgbClr val="7F7F7F"/>
                </a:solidFill>
              </a:rPr>
              <a:t>3. Upload the CSV outputs through the Web UI or REST API.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700">
                <a:solidFill>
                  <a:srgbClr val="7F7F7F"/>
                </a:solidFill>
              </a:rPr>
              <a:t>4. ARIANNA normalizes and merges the results into PU-specific SBOMs and the final device model.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700">
                <a:solidFill>
                  <a:srgbClr val="7F7F7F"/>
                </a:solidFill>
              </a:rPr>
              <a:t>5. The updated model immediately drives monitoring, pre-triage, vulnerability review, and reporting.</a:t>
            </a:r>
          </a:p>
        </p:txBody>
      </p:sp>
      <p:sp>
        <p:nvSpPr>
          <p:cNvPr id="108" name="Google Shape;108;p6">
            <a:extLst xmlns:a="http://schemas.openxmlformats.org/drawingml/2006/main">
              <a:ext uri="{FF2B5EF4-FFF2-40B4-BE49-F238E27FC236}">
                <a16:creationId xmlns:a16="http://schemas.microsoft.com/office/drawing/2014/main" id="{15DC185C-653C-48F3-8983-6A11B1833D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56" y="131946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How SCA outputs feed ARIANNA</a:t>
            </a:r>
          </a:p>
        </p:txBody>
      </p:sp>
      <p:sp>
        <p:nvSpPr>
          <p:cNvPr id="109" name="Google Shape;109;p6">
            <a:extLst xmlns:a="http://schemas.openxmlformats.org/drawingml/2006/main">
              <a:ext uri="{FF2B5EF4-FFF2-40B4-BE49-F238E27FC236}">
                <a16:creationId xmlns:a16="http://schemas.microsoft.com/office/drawing/2014/main" id="{13354DD7-01DA-47C6-BF38-D0A2C56AF4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DB7BEEEC-A170-5376-2B6E-CB54687B0CB1}" type="slidenum">
              <a:t>10</a:t>
            </a:fld>
          </a:p>
        </p:txBody>
      </p:sp>
      <p:pic>
        <p:nvPicPr>
          <p:cNvPr id="115" name="Google Shape;110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86c46eca047489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0160000" cy="5715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6" name="Google Shape;111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8ff2e72cb014bf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0160000" cy="5715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60978702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Google Shape;116;p7">
            <a:extLst xmlns:a="http://schemas.openxmlformats.org/drawingml/2006/main">
              <a:ext uri="{FF2B5EF4-FFF2-40B4-BE49-F238E27FC236}">
                <a16:creationId xmlns:a16="http://schemas.microsoft.com/office/drawing/2014/main" id="{EF0DE2BA-54AE-4223-9285-5ABAF3563E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5654" y="1123284"/>
            <a:ext cx="6558562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800"/>
              <a:t>User must identify HW building blocks inside the device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400"/>
              <a:t>Each hardware building block is named </a:t>
            </a:r>
            <a:r>
              <a:rPr sz="1400">
                <a:solidFill>
                  <a:srgbClr val="41BAB7"/>
                </a:solidFill>
              </a:rPr>
              <a:t>Processing Unit (PU)</a:t>
            </a:r>
          </a:p>
          <a:p xmlns:a="http://schemas.openxmlformats.org/drawingml/2006/main">
            <a:pPr marL="804863" indent="-233363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000"/>
              <a:t>PU examples: MCU, MPU, Secure Elements, Memories, WIFI/BLE Modules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400"/>
              <a:t>For each PU, ARIANNA defines the </a:t>
            </a:r>
            <a:r>
              <a:rPr sz="1400">
                <a:solidFill>
                  <a:schemeClr val="dk2"/>
                </a:solidFill>
              </a:rPr>
              <a:t>HBOM</a:t>
            </a:r>
            <a:r>
              <a:rPr sz="1400"/>
              <a:t> according to the HW part number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533400" indent="-1333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</a:pPr>
          </a:p>
        </p:txBody>
      </p:sp>
      <p:sp>
        <p:nvSpPr>
          <p:cNvPr id="117" name="Google Shape;117;p7">
            <a:extLst xmlns:a="http://schemas.openxmlformats.org/drawingml/2006/main">
              <a:ext uri="{FF2B5EF4-FFF2-40B4-BE49-F238E27FC236}">
                <a16:creationId xmlns:a16="http://schemas.microsoft.com/office/drawing/2014/main" id="{18E192A1-5FED-46BD-B351-29B7FD8C4D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56" y="131946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Device Model creation: HBOM</a:t>
            </a:r>
          </a:p>
        </p:txBody>
      </p:sp>
      <p:sp>
        <p:nvSpPr>
          <p:cNvPr id="118" name="Google Shape;118;p7">
            <a:extLst xmlns:a="http://schemas.openxmlformats.org/drawingml/2006/main">
              <a:ext uri="{FF2B5EF4-FFF2-40B4-BE49-F238E27FC236}">
                <a16:creationId xmlns:a16="http://schemas.microsoft.com/office/drawing/2014/main" id="{36367924-A76E-4FF8-B595-6D6FEDC9C3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30394428-F1DC-E5F6-DB0C-7DE31F3D8A23}" type="slidenum">
              <a:t>11</a:t>
            </a:fld>
          </a:p>
        </p:txBody>
      </p:sp>
      <p:pic>
        <p:nvPicPr>
          <p:cNvPr id="143" name="Google Shape;119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bb153cc2827404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68232" y="3630103"/>
            <a:ext cx="2664296" cy="15346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0" name="Google Shape;120;p7">
            <a:extLst xmlns:a="http://schemas.openxmlformats.org/drawingml/2006/main">
              <a:ext uri="{FF2B5EF4-FFF2-40B4-BE49-F238E27FC236}">
                <a16:creationId xmlns:a16="http://schemas.microsoft.com/office/drawing/2014/main" id="{095506EF-1F9B-413D-815E-39217624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433" y="1080071"/>
            <a:ext cx="1289774" cy="34851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 w="22225" cmpd="sng">
            <a:solidFill>
              <a:schemeClr val="accent2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PU3|ESP32</a:t>
            </a:r>
          </a:p>
        </p:txBody>
      </p:sp>
      <p:cxnSp>
        <p:nvCxnSpPr>
          <p:cNvPr id="145" name="Google Shape;121;p7"/>
          <p:cNvCxnSpPr>
            <a:stCxn xmlns:a="http://schemas.openxmlformats.org/drawingml/2006/main" id="122" idx="2"/>
          </p:cNvCxnSpPr>
          <p:nvPr/>
        </p:nvCxnSpPr>
        <p:spPr>
          <a:xfrm xmlns:a="http://schemas.openxmlformats.org/drawingml/2006/main">
            <a:off x="8400929" y="2086996"/>
            <a:ext cx="0" cy="18543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accent4"/>
            </a:solidFill>
            <a:prstDash val="solid"/>
            <a:miter/>
            <a:headEnd type="none" w="sm" len="sm"/>
            <a:tailEnd type="oval" w="med" len="med"/>
          </a:ln>
        </p:spPr>
      </p:cxnSp>
      <p:cxnSp>
        <p:nvCxnSpPr>
          <p:cNvPr id="146" name="Google Shape;123;p7"/>
          <p:cNvCxnSpPr>
            <a:stCxn xmlns:a="http://schemas.openxmlformats.org/drawingml/2006/main" id="124" idx="2"/>
          </p:cNvCxnSpPr>
          <p:nvPr/>
        </p:nvCxnSpPr>
        <p:spPr>
          <a:xfrm xmlns:a="http://schemas.openxmlformats.org/drawingml/2006/main">
            <a:off x="8971666" y="3456339"/>
            <a:ext cx="0" cy="3768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FD9600"/>
            </a:solidFill>
            <a:prstDash val="solid"/>
            <a:miter/>
            <a:headEnd type="none" w="sm" len="sm"/>
            <a:tailEnd type="oval" w="med" len="med"/>
          </a:ln>
        </p:spPr>
      </p:cxnSp>
      <p:cxnSp>
        <p:nvCxnSpPr>
          <p:cNvPr id="147" name="Google Shape;125;p7"/>
          <p:cNvCxnSpPr>
            <a:stCxn xmlns:a="http://schemas.openxmlformats.org/drawingml/2006/main" id="120" idx="2"/>
          </p:cNvCxnSpPr>
          <p:nvPr/>
        </p:nvCxnSpPr>
        <p:spPr>
          <a:xfrm xmlns:a="http://schemas.openxmlformats.org/drawingml/2006/main">
            <a:off x="7960320" y="1428585"/>
            <a:ext cx="0" cy="25260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accent2"/>
            </a:solidFill>
            <a:prstDash val="solid"/>
            <a:miter/>
            <a:headEnd type="none" w="sm" len="sm"/>
            <a:tailEnd type="oval" w="med" len="med"/>
          </a:ln>
        </p:spPr>
      </p:cxnSp>
      <p:sp>
        <p:nvSpPr>
          <p:cNvPr id="126" name="Google Shape;126;p7">
            <a:extLst xmlns:a="http://schemas.openxmlformats.org/drawingml/2006/main">
              <a:ext uri="{FF2B5EF4-FFF2-40B4-BE49-F238E27FC236}">
                <a16:creationId xmlns:a16="http://schemas.microsoft.com/office/drawing/2014/main" id="{9B565B80-0855-45A9-8921-A23542D4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753" y="2382381"/>
            <a:ext cx="1137311" cy="34851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B0F0"/>
          </a:solidFill>
          <a:ln xmlns:a="http://schemas.openxmlformats.org/drawingml/2006/main" w="22225" cmpd="sng">
            <a:solidFill>
              <a:srgbClr val="00B0F0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PU4 | MEMORY</a:t>
            </a:r>
          </a:p>
        </p:txBody>
      </p:sp>
      <p:cxnSp>
        <p:nvCxnSpPr>
          <p:cNvPr id="149" name="Google Shape;127;p7"/>
          <p:cNvCxnSpPr/>
          <p:nvPr/>
        </p:nvCxnSpPr>
        <p:spPr>
          <a:xfrm xmlns:a="http://schemas.openxmlformats.org/drawingml/2006/main">
            <a:off x="8752408" y="2730895"/>
            <a:ext cx="0" cy="1179275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00B0F0"/>
            </a:solidFill>
            <a:prstDash val="solid"/>
            <a:miter/>
            <a:headEnd type="none" w="sm" len="sm"/>
            <a:tailEnd type="oval" w="med" len="med"/>
          </a:ln>
        </p:spPr>
      </p:cxnSp>
      <p:sp>
        <p:nvSpPr>
          <p:cNvPr id="122" name="Google Shape;122;p7">
            <a:extLst xmlns:a="http://schemas.openxmlformats.org/drawingml/2006/main">
              <a:ext uri="{FF2B5EF4-FFF2-40B4-BE49-F238E27FC236}">
                <a16:creationId xmlns:a16="http://schemas.microsoft.com/office/drawing/2014/main" id="{2AD1ADFF-6ECF-4819-AF6E-183C1E9F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296" y="1738482"/>
            <a:ext cx="1313266" cy="34851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 w="22225" cmpd="sng">
            <a:solidFill>
              <a:schemeClr val="accent4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PU1 | i.MX 93</a:t>
            </a:r>
          </a:p>
        </p:txBody>
      </p:sp>
      <p:sp>
        <p:nvSpPr>
          <p:cNvPr id="124" name="Google Shape;124;p7">
            <a:extLst xmlns:a="http://schemas.openxmlformats.org/drawingml/2006/main">
              <a:ext uri="{FF2B5EF4-FFF2-40B4-BE49-F238E27FC236}">
                <a16:creationId xmlns:a16="http://schemas.microsoft.com/office/drawing/2014/main" id="{DC4616CC-ECC0-425D-A823-66905C23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7298" y="3107825"/>
            <a:ext cx="1288736" cy="34851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9600"/>
          </a:solidFill>
          <a:ln xmlns:a="http://schemas.openxmlformats.org/drawingml/2006/main" w="22225" cmpd="sng">
            <a:solidFill>
              <a:srgbClr val="FD9600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PU2 | STM32F4</a:t>
            </a:r>
          </a:p>
        </p:txBody>
      </p:sp>
    </p:spTree>
    <p:extLst>
      <p:ext uri="{BB962C8B-B14F-4D97-AF65-F5344CB8AC3E}">
        <p14:creationId xmlns:p14="http://schemas.microsoft.com/office/powerpoint/2010/main" val="139067461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Google Shape;132;p8">
            <a:extLst xmlns:a="http://schemas.openxmlformats.org/drawingml/2006/main">
              <a:ext uri="{FF2B5EF4-FFF2-40B4-BE49-F238E27FC236}">
                <a16:creationId xmlns:a16="http://schemas.microsoft.com/office/drawing/2014/main" id="{2AC90A6A-3819-4F0B-AB84-5FA3729BE4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5654" y="1123284"/>
            <a:ext cx="9202092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600"/>
              <a:t>For each Processing Unit (PU), ARIANNA supports in the creation of the </a:t>
            </a:r>
            <a:r>
              <a:rPr sz="1600">
                <a:solidFill>
                  <a:schemeClr val="dk2"/>
                </a:solidFill>
              </a:rPr>
              <a:t>SBOM</a:t>
            </a:r>
          </a:p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sz="1600"/>
              <a:t>PU SBOM can be the composition of multiple SBOMs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200"/>
              <a:t>MPUs can have a SBOM for the OS + a SBOM for each customer application executed on top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200"/>
              <a:t>MCUs can have a SBOM for the bootloader + a SBOM for the firmware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200"/>
              <a:t>Components in the final SBOM are grouped accordingly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200"/>
              <a:t>Each SBOM is created with the support of a dedicated ARIANNA SCA </a:t>
            </a:r>
            <a:r>
              <a:rPr sz="1400"/>
              <a:t>Tool</a:t>
            </a:r>
          </a:p>
          <a:p xmlns:a="http://schemas.openxmlformats.org/drawingml/2006/main">
            <a:pPr marL="269875" indent="-1174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533400" indent="-1333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</a:pPr>
          </a:p>
        </p:txBody>
      </p:sp>
      <p:sp>
        <p:nvSpPr>
          <p:cNvPr id="133" name="Google Shape;133;p8">
            <a:extLst xmlns:a="http://schemas.openxmlformats.org/drawingml/2006/main">
              <a:ext uri="{FF2B5EF4-FFF2-40B4-BE49-F238E27FC236}">
                <a16:creationId xmlns:a16="http://schemas.microsoft.com/office/drawing/2014/main" id="{8704DBA9-B73F-4157-936B-A86C785E1A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56" y="131946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Device Model creation: SBOM</a:t>
            </a:r>
          </a:p>
        </p:txBody>
      </p:sp>
      <p:sp>
        <p:nvSpPr>
          <p:cNvPr id="134" name="Google Shape;134;p8">
            <a:extLst xmlns:a="http://schemas.openxmlformats.org/drawingml/2006/main">
              <a:ext uri="{FF2B5EF4-FFF2-40B4-BE49-F238E27FC236}">
                <a16:creationId xmlns:a16="http://schemas.microsoft.com/office/drawing/2014/main" id="{3708E34F-6A5F-4DC2-ABBC-F1E08027F3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4DB16885-0D3F-A391-B669-3211DB3B26E8}" type="slidenum">
              <a:t>12</a:t>
            </a:fld>
          </a:p>
        </p:txBody>
      </p:sp>
      <p:sp>
        <p:nvSpPr>
          <p:cNvPr id="135" name="Google Shape;135;p8">
            <a:extLst xmlns:a="http://schemas.openxmlformats.org/drawingml/2006/main">
              <a:ext uri="{FF2B5EF4-FFF2-40B4-BE49-F238E27FC236}">
                <a16:creationId xmlns:a16="http://schemas.microsoft.com/office/drawing/2014/main" id="{95D0B968-9765-4353-A6D8-E3C126F9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354" y="4558172"/>
            <a:ext cx="2520280" cy="436076"/>
          </a:xfrm>
          <a:prstGeom xmlns:a="http://schemas.openxmlformats.org/drawingml/2006/main" prst="roundRect">
            <a:avLst>
              <a:gd name="adj" fmla="val 14373"/>
            </a:avLst>
          </a:prstGeom>
          <a:solidFill xmlns:a="http://schemas.openxmlformats.org/drawingml/2006/main">
            <a:srgbClr val="9E9E9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PU1 | i.MX 93</a:t>
            </a:r>
          </a:p>
        </p:txBody>
      </p:sp>
      <p:sp>
        <p:nvSpPr>
          <p:cNvPr id="136" name="Google Shape;136;p8">
            <a:extLst xmlns:a="http://schemas.openxmlformats.org/drawingml/2006/main">
              <a:ext uri="{FF2B5EF4-FFF2-40B4-BE49-F238E27FC236}">
                <a16:creationId xmlns:a16="http://schemas.microsoft.com/office/drawing/2014/main" id="{342EF2EA-E2B5-4DAC-B174-8FB67F3E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506" y="4558171"/>
            <a:ext cx="1436284" cy="43607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9E9E9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PU3 | ESP32</a:t>
            </a:r>
          </a:p>
        </p:txBody>
      </p:sp>
      <p:sp>
        <p:nvSpPr>
          <p:cNvPr id="137" name="Google Shape;137;p8">
            <a:extLst xmlns:a="http://schemas.openxmlformats.org/drawingml/2006/main">
              <a:ext uri="{FF2B5EF4-FFF2-40B4-BE49-F238E27FC236}">
                <a16:creationId xmlns:a16="http://schemas.microsoft.com/office/drawing/2014/main" id="{4F554191-7B88-42C6-B6D6-953A17C7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5926" y="4560533"/>
            <a:ext cx="2952897" cy="43607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9E9E9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PU2 | STM32F4</a:t>
            </a:r>
          </a:p>
        </p:txBody>
      </p:sp>
      <p:sp>
        <p:nvSpPr>
          <p:cNvPr id="138" name="Google Shape;138;p8">
            <a:extLst xmlns:a="http://schemas.openxmlformats.org/drawingml/2006/main">
              <a:ext uri="{FF2B5EF4-FFF2-40B4-BE49-F238E27FC236}">
                <a16:creationId xmlns:a16="http://schemas.microsoft.com/office/drawing/2014/main" id="{AC9EE529-2EC1-464F-950C-98394611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303" y="3962766"/>
            <a:ext cx="1300417" cy="443903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A92D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Firmware SBOM</a:t>
            </a:r>
          </a:p>
        </p:txBody>
      </p:sp>
      <p:sp>
        <p:nvSpPr>
          <p:cNvPr id="139" name="Google Shape;139;p8">
            <a:extLst xmlns:a="http://schemas.openxmlformats.org/drawingml/2006/main">
              <a:ext uri="{FF2B5EF4-FFF2-40B4-BE49-F238E27FC236}">
                <a16:creationId xmlns:a16="http://schemas.microsoft.com/office/drawing/2014/main" id="{259ACF51-2CED-4D0D-88AC-FCF6D4E5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2304" y="3965127"/>
            <a:ext cx="1367382" cy="44390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902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Bootloader SBOM</a:t>
            </a:r>
          </a:p>
        </p:txBody>
      </p:sp>
      <p:sp>
        <p:nvSpPr>
          <p:cNvPr id="140" name="Google Shape;140;p8">
            <a:extLst xmlns:a="http://schemas.openxmlformats.org/drawingml/2006/main">
              <a:ext uri="{FF2B5EF4-FFF2-40B4-BE49-F238E27FC236}">
                <a16:creationId xmlns:a16="http://schemas.microsoft.com/office/drawing/2014/main" id="{0E34DE8D-E671-401D-933E-C4C8AAEF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064" y="3965127"/>
            <a:ext cx="1367382" cy="44390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A92D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Firmware SBOM</a:t>
            </a:r>
          </a:p>
        </p:txBody>
      </p:sp>
      <p:sp>
        <p:nvSpPr>
          <p:cNvPr id="141" name="Google Shape;141;p8">
            <a:extLst xmlns:a="http://schemas.openxmlformats.org/drawingml/2006/main">
              <a:ext uri="{FF2B5EF4-FFF2-40B4-BE49-F238E27FC236}">
                <a16:creationId xmlns:a16="http://schemas.microsoft.com/office/drawing/2014/main" id="{D54AD2EE-226A-45D0-AFE6-D5DF10F8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584" y="3937620"/>
            <a:ext cx="2386042" cy="46904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B7D09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YOCTO SBOM</a:t>
            </a:r>
          </a:p>
        </p:txBody>
      </p:sp>
      <p:sp>
        <p:nvSpPr>
          <p:cNvPr id="142" name="Google Shape;142;p8">
            <a:extLst xmlns:a="http://schemas.openxmlformats.org/drawingml/2006/main">
              <a:ext uri="{FF2B5EF4-FFF2-40B4-BE49-F238E27FC236}">
                <a16:creationId xmlns:a16="http://schemas.microsoft.com/office/drawing/2014/main" id="{0F512C4E-23CD-4F8B-A60D-05E96D5D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584" y="3334077"/>
            <a:ext cx="1159814" cy="55068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3AC9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Javascript Application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SBOM</a:t>
            </a:r>
          </a:p>
        </p:txBody>
      </p:sp>
      <p:sp>
        <p:nvSpPr>
          <p:cNvPr id="143" name="Google Shape;143;p8">
            <a:extLst xmlns:a="http://schemas.openxmlformats.org/drawingml/2006/main">
              <a:ext uri="{FF2B5EF4-FFF2-40B4-BE49-F238E27FC236}">
                <a16:creationId xmlns:a16="http://schemas.microsoft.com/office/drawing/2014/main" id="{BF05E4D8-9794-465E-856C-B1D0A7F2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224" y="3334077"/>
            <a:ext cx="1156003" cy="56032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B5A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Python Application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SBOM</a:t>
            </a:r>
          </a:p>
        </p:txBody>
      </p:sp>
      <p:sp>
        <p:nvSpPr>
          <p:cNvPr id="144" name="Google Shape;144;p8">
            <a:extLst xmlns:a="http://schemas.openxmlformats.org/drawingml/2006/main">
              <a:ext uri="{FF2B5EF4-FFF2-40B4-BE49-F238E27FC236}">
                <a16:creationId xmlns:a16="http://schemas.microsoft.com/office/drawing/2014/main" id="{91D5F136-8429-4533-99DB-95CB47CA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354" y="3268303"/>
            <a:ext cx="2520280" cy="1215695"/>
          </a:xfrm>
          <a:prstGeom xmlns:a="http://schemas.openxmlformats.org/drawingml/2006/main" prst="roundRect">
            <a:avLst>
              <a:gd name="adj" fmla="val 5755"/>
            </a:avLst>
          </a:prstGeom>
          <a:noFill xmlns:a="http://schemas.openxmlformats.org/drawingml/2006/main"/>
          <a:ln xmlns:a="http://schemas.openxmlformats.org/drawingml/2006/main" w="12700" cmpd="sng">
            <a:solidFill>
              <a:srgbClr val="9E9E9E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5" name="Google Shape;145;p8">
            <a:extLst xmlns:a="http://schemas.openxmlformats.org/drawingml/2006/main">
              <a:ext uri="{FF2B5EF4-FFF2-40B4-BE49-F238E27FC236}">
                <a16:creationId xmlns:a16="http://schemas.microsoft.com/office/drawing/2014/main" id="{9E922DCD-C7D4-4142-86B0-97444388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0506" y="3884756"/>
            <a:ext cx="1436284" cy="599242"/>
          </a:xfrm>
          <a:prstGeom xmlns:a="http://schemas.openxmlformats.org/drawingml/2006/main" prst="roundRect">
            <a:avLst>
              <a:gd name="adj" fmla="val 13148"/>
            </a:avLst>
          </a:prstGeom>
          <a:noFill xmlns:a="http://schemas.openxmlformats.org/drawingml/2006/main"/>
          <a:ln xmlns:a="http://schemas.openxmlformats.org/drawingml/2006/main" w="12700" cmpd="sng">
            <a:solidFill>
              <a:srgbClr val="9E9E9E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6" name="Google Shape;146;p8">
            <a:extLst xmlns:a="http://schemas.openxmlformats.org/drawingml/2006/main">
              <a:ext uri="{FF2B5EF4-FFF2-40B4-BE49-F238E27FC236}">
                <a16:creationId xmlns:a16="http://schemas.microsoft.com/office/drawing/2014/main" id="{17907D0D-2CD7-46BE-8EB1-823B3DB1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5925" y="3887118"/>
            <a:ext cx="2952897" cy="599242"/>
          </a:xfrm>
          <a:prstGeom xmlns:a="http://schemas.openxmlformats.org/drawingml/2006/main" prst="roundRect">
            <a:avLst>
              <a:gd name="adj" fmla="val 13148"/>
            </a:avLst>
          </a:prstGeom>
          <a:noFill xmlns:a="http://schemas.openxmlformats.org/drawingml/2006/main"/>
          <a:ln xmlns:a="http://schemas.openxmlformats.org/drawingml/2006/main" w="12700" cmpd="sng">
            <a:solidFill>
              <a:srgbClr val="9E9E9E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71040709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1" name="Google Shape;151;p9">
            <a:extLst xmlns:a="http://schemas.openxmlformats.org/drawingml/2006/main">
              <a:ext uri="{FF2B5EF4-FFF2-40B4-BE49-F238E27FC236}">
                <a16:creationId xmlns:a16="http://schemas.microsoft.com/office/drawing/2014/main" id="{0C04D799-0279-4AA3-A788-C5C1B3C064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5654" y="1123284"/>
            <a:ext cx="9202092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t>Device Model evolves during the device lifecycle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HBOM stays constant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SBOM must be updated every time a new FW / SW is released</a:t>
            </a:r>
          </a:p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t>When a new version of the Device Model is created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New Vulnerabilities could be notified</a:t>
            </a:r>
          </a:p>
          <a:p xmlns:a="http://schemas.openxmlformats.org/drawingml/2006/main">
            <a:pPr marL="804863" indent="-233363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If a new component is added</a:t>
            </a:r>
          </a:p>
          <a:p xmlns:a="http://schemas.openxmlformats.org/drawingml/2006/main">
            <a:pPr marL="804863" indent="-233363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If an old component is UPDATED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Old Vulnerabilities maintain the status or could be automatically closed</a:t>
            </a:r>
          </a:p>
          <a:p xmlns:a="http://schemas.openxmlformats.org/drawingml/2006/main">
            <a:pPr marL="804863" indent="-233363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If the affected component is UPDATED</a:t>
            </a:r>
          </a:p>
          <a:p xmlns:a="http://schemas.openxmlformats.org/drawingml/2006/main">
            <a:pPr marL="804863" indent="-233363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If the affected component is REMOVED</a:t>
            </a:r>
          </a:p>
          <a:p xmlns:a="http://schemas.openxmlformats.org/drawingml/2006/main">
            <a:pPr marL="533400" indent="-1333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533400" indent="-1333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</a:pPr>
          </a:p>
        </p:txBody>
      </p:sp>
      <p:sp>
        <p:nvSpPr>
          <p:cNvPr id="152" name="Google Shape;152;p9">
            <a:extLst xmlns:a="http://schemas.openxmlformats.org/drawingml/2006/main">
              <a:ext uri="{FF2B5EF4-FFF2-40B4-BE49-F238E27FC236}">
                <a16:creationId xmlns:a16="http://schemas.microsoft.com/office/drawing/2014/main" id="{74FF2F98-AC9D-495D-B6ED-1AA85BA48C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56" y="131946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Device Model lifecycle &amp; VMP</a:t>
            </a:r>
          </a:p>
        </p:txBody>
      </p:sp>
      <p:sp>
        <p:nvSpPr>
          <p:cNvPr id="153" name="Google Shape;153;p9">
            <a:extLst xmlns:a="http://schemas.openxmlformats.org/drawingml/2006/main">
              <a:ext uri="{FF2B5EF4-FFF2-40B4-BE49-F238E27FC236}">
                <a16:creationId xmlns:a16="http://schemas.microsoft.com/office/drawing/2014/main" id="{E3020849-8FE1-4F94-9A0A-8E60DE4C94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2DD23107-4986-8758-3A93-3D74F35908CC}" type="slidenum">
              <a:t>13</a:t>
            </a:fld>
          </a:p>
        </p:txBody>
      </p:sp>
    </p:spTree>
    <p:extLst>
      <p:ext uri="{BB962C8B-B14F-4D97-AF65-F5344CB8AC3E}">
        <p14:creationId xmlns:p14="http://schemas.microsoft.com/office/powerpoint/2010/main" val="66748153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8" name="Google Shape;158;p10">
            <a:extLst xmlns:a="http://schemas.openxmlformats.org/drawingml/2006/main">
              <a:ext uri="{FF2B5EF4-FFF2-40B4-BE49-F238E27FC236}">
                <a16:creationId xmlns:a16="http://schemas.microsoft.com/office/drawing/2014/main" id="{67A062B0-F1CE-4077-AA03-395F9F5DD3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5531" y="1428344"/>
            <a:ext cx="8406209" cy="1765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2. Continuous Vulnerability Monitoring</a:t>
            </a:r>
          </a:p>
        </p:txBody>
      </p:sp>
      <p:sp>
        <p:nvSpPr>
          <p:cNvPr id="159" name="Google Shape;159;p10">
            <a:extLst xmlns:a="http://schemas.openxmlformats.org/drawingml/2006/main">
              <a:ext uri="{FF2B5EF4-FFF2-40B4-BE49-F238E27FC236}">
                <a16:creationId xmlns:a16="http://schemas.microsoft.com/office/drawing/2014/main" id="{09311F34-621B-463D-9970-B4A0BDB9BD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5531" y="3137318"/>
            <a:ext cx="8406209" cy="413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How known vulnerabilities are detected</a:t>
            </a:r>
          </a:p>
        </p:txBody>
      </p:sp>
    </p:spTree>
    <p:extLst>
      <p:ext uri="{BB962C8B-B14F-4D97-AF65-F5344CB8AC3E}">
        <p14:creationId xmlns:p14="http://schemas.microsoft.com/office/powerpoint/2010/main" val="11603151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4" name="Google Shape;164;p11">
            <a:extLst xmlns:a="http://schemas.openxmlformats.org/drawingml/2006/main">
              <a:ext uri="{FF2B5EF4-FFF2-40B4-BE49-F238E27FC236}">
                <a16:creationId xmlns:a16="http://schemas.microsoft.com/office/drawing/2014/main" id="{F0FBE5E0-FE3E-417B-A6C2-C99660CD21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5654" y="1123284"/>
            <a:ext cx="9202092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800"/>
              <a:t>ARIANNA </a:t>
            </a:r>
            <a:r>
              <a:rPr sz="1800">
                <a:solidFill>
                  <a:schemeClr val="dk2"/>
                </a:solidFill>
              </a:rPr>
              <a:t>daily identifies new vulnerabilities </a:t>
            </a:r>
            <a:r>
              <a:rPr sz="1800"/>
              <a:t>for every monitored device, using its Device Model</a:t>
            </a:r>
          </a:p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sz="1800"/>
              <a:t>ARIANNA relies on an </a:t>
            </a:r>
            <a:r>
              <a:rPr sz="1800">
                <a:solidFill>
                  <a:schemeClr val="dk2"/>
                </a:solidFill>
              </a:rPr>
              <a:t>internal database </a:t>
            </a:r>
            <a:r>
              <a:rPr sz="1800"/>
              <a:t>that maps hardware and software components to their associated vulnerabilities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400"/>
              <a:t>Public Vulnerabilities Databases are daily monitored to ingest the latest vulnerability updates</a:t>
            </a:r>
          </a:p>
          <a:p xmlns:a="http://schemas.openxmlformats.org/drawingml/2006/main">
            <a:pPr marL="804863" indent="-233363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200"/>
              <a:t>NIST NVD, CVE.ORG, GitHub Security Advisories, European Vulnerability Database (EUVD)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400"/>
              <a:t>For each known vulnerability, ARIANNA retrieves additional data to enable effective </a:t>
            </a:r>
            <a:r>
              <a:rPr sz="1400">
                <a:solidFill>
                  <a:schemeClr val="dk2"/>
                </a:solidFill>
              </a:rPr>
              <a:t>prioritization algorithms </a:t>
            </a:r>
            <a:r>
              <a:rPr sz="1400"/>
              <a:t>and to facilitate the risk evaluation</a:t>
            </a:r>
          </a:p>
          <a:p xmlns:a="http://schemas.openxmlformats.org/drawingml/2006/main">
            <a:pPr marL="804863" indent="-233363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200"/>
              <a:t>CISA Known Exploited Vulnerabilities (CISA KEV) | </a:t>
            </a:r>
            <a:r>
              <a:rPr sz="1100" u="sng">
                <a:solidFill>
                  <a:schemeClr val="hlink"/>
                </a:solidFill>
                <a:hlinkClick xmlns:r="http://schemas.openxmlformats.org/officeDocument/2006/relationships" r:id="R0ed05aeb85cb4da2"/>
              </a:rPr>
              <a:t>https://www.cisa.gov/known-exploited-vulnerabilities-catalog</a:t>
            </a:r>
            <a:r>
              <a:rPr sz="1100"/>
              <a:t> </a:t>
            </a:r>
          </a:p>
          <a:p xmlns:a="http://schemas.openxmlformats.org/drawingml/2006/main">
            <a:pPr marL="804863" indent="-233363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200"/>
              <a:t>Exploit availability &amp; Maturity level (EXPLOIT READY / EXPLOIT POC)</a:t>
            </a:r>
          </a:p>
          <a:p xmlns:a="http://schemas.openxmlformats.org/drawingml/2006/main">
            <a:pPr marL="804863" indent="-233363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200"/>
              <a:t>EPSS index | </a:t>
            </a:r>
            <a:r>
              <a:rPr sz="1100" u="sng">
                <a:solidFill>
                  <a:schemeClr val="hlink"/>
                </a:solidFill>
                <a:hlinkClick xmlns:r="http://schemas.openxmlformats.org/officeDocument/2006/relationships" r:id="Ra4030f51075b45db"/>
              </a:rPr>
              <a:t>https://www.first.org/epss/</a:t>
            </a:r>
          </a:p>
          <a:p xmlns:a="http://schemas.openxmlformats.org/drawingml/2006/main">
            <a:pPr marL="804863" indent="-233363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200"/>
              <a:t>CWE information</a:t>
            </a:r>
          </a:p>
          <a:p xmlns:a="http://schemas.openxmlformats.org/drawingml/2006/main">
            <a:pPr marL="269875" indent="-1174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533400" indent="-1333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</a:pPr>
          </a:p>
        </p:txBody>
      </p:sp>
      <p:sp>
        <p:nvSpPr>
          <p:cNvPr id="165" name="Google Shape;165;p11">
            <a:extLst xmlns:a="http://schemas.openxmlformats.org/drawingml/2006/main">
              <a:ext uri="{FF2B5EF4-FFF2-40B4-BE49-F238E27FC236}">
                <a16:creationId xmlns:a16="http://schemas.microsoft.com/office/drawing/2014/main" id="{F7219C27-E24D-470D-B08B-C1D776E3A4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56" y="131946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Continuous Vulnerability Monitoring</a:t>
            </a:r>
          </a:p>
        </p:txBody>
      </p:sp>
      <p:sp>
        <p:nvSpPr>
          <p:cNvPr id="166" name="Google Shape;166;p11">
            <a:extLst xmlns:a="http://schemas.openxmlformats.org/drawingml/2006/main">
              <a:ext uri="{FF2B5EF4-FFF2-40B4-BE49-F238E27FC236}">
                <a16:creationId xmlns:a16="http://schemas.microsoft.com/office/drawing/2014/main" id="{FEB46483-69E7-4FC0-AF2A-7F5538614F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EA83FA91-883A-0168-8075-96CEB9DCA3C2}" type="slidenum">
              <a:t>15</a:t>
            </a:fld>
          </a:p>
        </p:txBody>
      </p:sp>
    </p:spTree>
    <p:extLst>
      <p:ext uri="{BB962C8B-B14F-4D97-AF65-F5344CB8AC3E}">
        <p14:creationId xmlns:p14="http://schemas.microsoft.com/office/powerpoint/2010/main" val="82634422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1" name="Google Shape;171;p12">
            <a:extLst xmlns:a="http://schemas.openxmlformats.org/drawingml/2006/main">
              <a:ext uri="{FF2B5EF4-FFF2-40B4-BE49-F238E27FC236}">
                <a16:creationId xmlns:a16="http://schemas.microsoft.com/office/drawing/2014/main" id="{B33A6E8C-B7D5-4CB8-81B7-F3AF7F07F8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5531" y="1428344"/>
            <a:ext cx="8406209" cy="1765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3. Vulnerability Management</a:t>
            </a:r>
          </a:p>
        </p:txBody>
      </p:sp>
      <p:sp>
        <p:nvSpPr>
          <p:cNvPr id="172" name="Google Shape;172;p12">
            <a:extLst xmlns:a="http://schemas.openxmlformats.org/drawingml/2006/main">
              <a:ext uri="{FF2B5EF4-FFF2-40B4-BE49-F238E27FC236}">
                <a16:creationId xmlns:a16="http://schemas.microsoft.com/office/drawing/2014/main" id="{EEAA0C58-CD25-49B8-AB00-207D2D12A5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5531" y="3137318"/>
            <a:ext cx="8406209" cy="413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How to manage identified vulnerabilities</a:t>
            </a:r>
          </a:p>
        </p:txBody>
      </p:sp>
    </p:spTree>
    <p:extLst>
      <p:ext uri="{BB962C8B-B14F-4D97-AF65-F5344CB8AC3E}">
        <p14:creationId xmlns:p14="http://schemas.microsoft.com/office/powerpoint/2010/main" val="167282423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7" name="Google Shape;177;p13">
            <a:extLst xmlns:a="http://schemas.openxmlformats.org/drawingml/2006/main">
              <a:ext uri="{FF2B5EF4-FFF2-40B4-BE49-F238E27FC236}">
                <a16:creationId xmlns:a16="http://schemas.microsoft.com/office/drawing/2014/main" id="{80A292C5-C734-471B-91AB-018537573F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0374" y="131950"/>
            <a:ext cx="10200226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Vulnerability Management Process</a:t>
            </a:r>
          </a:p>
        </p:txBody>
      </p:sp>
      <p:cxnSp>
        <p:nvCxnSpPr>
          <p:cNvPr id="216" name="Google Shape;178;p13"/>
          <p:cNvCxnSpPr>
            <a:stCxn xmlns:a="http://schemas.openxmlformats.org/drawingml/2006/main" id="179" idx="6"/>
            <a:endCxn xmlns:a="http://schemas.openxmlformats.org/drawingml/2006/main" id="180" idx="2"/>
          </p:cNvCxnSpPr>
          <p:nvPr/>
        </p:nvCxnSpPr>
        <p:spPr>
          <a:xfrm xmlns:a="http://schemas.openxmlformats.org/drawingml/2006/main">
            <a:off x="4693386" y="3145500"/>
            <a:ext cx="1811400" cy="6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7F7F7F"/>
            </a:solidFill>
            <a:prstDash val="solid"/>
            <a:miter/>
            <a:headEnd type="none" w="sm" len="sm"/>
            <a:tailEnd type="stealth" w="med" len="med"/>
          </a:ln>
        </p:spPr>
      </p:cxnSp>
      <p:sp>
        <p:nvSpPr>
          <p:cNvPr id="181" name="Google Shape;181;p13">
            <a:extLst xmlns:a="http://schemas.openxmlformats.org/drawingml/2006/main">
              <a:ext uri="{FF2B5EF4-FFF2-40B4-BE49-F238E27FC236}">
                <a16:creationId xmlns:a16="http://schemas.microsoft.com/office/drawing/2014/main" id="{2E0BD2D1-DCBA-4F32-9A81-7E6C2D4E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139" y="1742763"/>
            <a:ext cx="1839418" cy="646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VULNERABILITY 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ADDRESSING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2" name="Google Shape;182;p13">
            <a:extLst xmlns:a="http://schemas.openxmlformats.org/drawingml/2006/main">
              <a:ext uri="{FF2B5EF4-FFF2-40B4-BE49-F238E27FC236}">
                <a16:creationId xmlns:a16="http://schemas.microsoft.com/office/drawing/2014/main" id="{0C055138-3061-4DD9-9A99-73B25862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587" y="1727582"/>
            <a:ext cx="2171706" cy="646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VULNERABILITY 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(DIS)CLOSURE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3" name="Google Shape;183;p13">
            <a:extLst xmlns:a="http://schemas.openxmlformats.org/drawingml/2006/main">
              <a:ext uri="{FF2B5EF4-FFF2-40B4-BE49-F238E27FC236}">
                <a16:creationId xmlns:a16="http://schemas.microsoft.com/office/drawing/2014/main" id="{FB91E7A8-D04F-455C-843D-C8807615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352" y="2857500"/>
            <a:ext cx="540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7F7F"/>
          </a:solidFill>
          <a:ln xmlns:a="http://schemas.openxmlformats.org/drawingml/2006/main" w="12700" cmpd="sng">
            <a:solidFill>
              <a:srgbClr val="7F7F7F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4" name="Google Shape;184;p13">
            <a:extLst xmlns:a="http://schemas.openxmlformats.org/drawingml/2006/main">
              <a:ext uri="{FF2B5EF4-FFF2-40B4-BE49-F238E27FC236}">
                <a16:creationId xmlns:a16="http://schemas.microsoft.com/office/drawing/2014/main" id="{BB897499-153E-4827-B632-B67AD9FB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5" y="1763781"/>
            <a:ext cx="1518992" cy="646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VULNERABILITY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IDENTIFICATION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5" name="Google Shape;185;p13">
            <a:extLst xmlns:a="http://schemas.openxmlformats.org/drawingml/2006/main">
              <a:ext uri="{FF2B5EF4-FFF2-40B4-BE49-F238E27FC236}">
                <a16:creationId xmlns:a16="http://schemas.microsoft.com/office/drawing/2014/main" id="{3191A459-1D70-49B3-8319-39AE6EF3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301" y="1740167"/>
            <a:ext cx="1512168" cy="646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VULNERABILITY 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TRIAGE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222" name="Google Shape;186;p13"/>
          <p:cNvCxnSpPr>
            <a:stCxn xmlns:a="http://schemas.openxmlformats.org/drawingml/2006/main" id="185" idx="2"/>
            <a:endCxn xmlns:a="http://schemas.openxmlformats.org/drawingml/2006/main" id="179" idx="0"/>
          </p:cNvCxnSpPr>
          <p:nvPr/>
        </p:nvCxnSpPr>
        <p:spPr>
          <a:xfrm xmlns:a="http://schemas.openxmlformats.org/drawingml/2006/main">
            <a:off x="4423385" y="2386498"/>
            <a:ext cx="0" cy="4710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7F7F7F"/>
            </a:solidFill>
            <a:prstDash val="dot"/>
            <a:miter/>
            <a:headEnd type="oval" w="med" len="med"/>
            <a:tailEnd type="none" w="sm" len="sm"/>
          </a:ln>
        </p:spPr>
      </p:cxnSp>
      <p:cxnSp>
        <p:nvCxnSpPr>
          <p:cNvPr id="223" name="Google Shape;187;p13"/>
          <p:cNvCxnSpPr>
            <a:stCxn xmlns:a="http://schemas.openxmlformats.org/drawingml/2006/main" id="184" idx="2"/>
            <a:endCxn xmlns:a="http://schemas.openxmlformats.org/drawingml/2006/main" id="183" idx="0"/>
          </p:cNvCxnSpPr>
          <p:nvPr/>
        </p:nvCxnSpPr>
        <p:spPr>
          <a:xfrm xmlns:a="http://schemas.openxmlformats.org/drawingml/2006/main">
            <a:off x="790741" y="2410112"/>
            <a:ext cx="600" cy="4473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7F7F7F"/>
            </a:solidFill>
            <a:prstDash val="dot"/>
            <a:miter/>
            <a:headEnd type="oval" w="med" len="med"/>
            <a:tailEnd type="none" w="sm" len="sm"/>
          </a:ln>
        </p:spPr>
      </p:cxnSp>
      <p:cxnSp>
        <p:nvCxnSpPr>
          <p:cNvPr id="224" name="Google Shape;188;p13"/>
          <p:cNvCxnSpPr>
            <a:stCxn xmlns:a="http://schemas.openxmlformats.org/drawingml/2006/main" id="182" idx="2"/>
            <a:endCxn xmlns:a="http://schemas.openxmlformats.org/drawingml/2006/main" id="189" idx="0"/>
          </p:cNvCxnSpPr>
          <p:nvPr/>
        </p:nvCxnSpPr>
        <p:spPr>
          <a:xfrm xmlns:a="http://schemas.openxmlformats.org/drawingml/2006/main">
            <a:off x="9310440" y="2373913"/>
            <a:ext cx="0" cy="4911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7F7F7F"/>
            </a:solidFill>
            <a:prstDash val="dot"/>
            <a:miter/>
            <a:headEnd type="oval" w="med" len="med"/>
            <a:tailEnd type="none" w="sm" len="sm"/>
          </a:ln>
        </p:spPr>
      </p:cxnSp>
      <p:cxnSp>
        <p:nvCxnSpPr>
          <p:cNvPr id="225" name="Google Shape;190;p13"/>
          <p:cNvCxnSpPr>
            <a:stCxn xmlns:a="http://schemas.openxmlformats.org/drawingml/2006/main" id="181" idx="2"/>
            <a:endCxn xmlns:a="http://schemas.openxmlformats.org/drawingml/2006/main" id="180" idx="0"/>
          </p:cNvCxnSpPr>
          <p:nvPr/>
        </p:nvCxnSpPr>
        <p:spPr>
          <a:xfrm xmlns:a="http://schemas.openxmlformats.org/drawingml/2006/main">
            <a:off x="6774848" y="2389094"/>
            <a:ext cx="0" cy="4692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7F7F7F"/>
            </a:solidFill>
            <a:prstDash val="dot"/>
            <a:miter/>
            <a:headEnd type="oval" w="med" len="med"/>
            <a:tailEnd type="none" w="sm" len="sm"/>
          </a:ln>
        </p:spPr>
      </p:cxnSp>
      <p:sp>
        <p:nvSpPr>
          <p:cNvPr id="179" name="Google Shape;179;p13">
            <a:extLst xmlns:a="http://schemas.openxmlformats.org/drawingml/2006/main">
              <a:ext uri="{FF2B5EF4-FFF2-40B4-BE49-F238E27FC236}">
                <a16:creationId xmlns:a16="http://schemas.microsoft.com/office/drawing/2014/main" id="{B98D570E-6446-4AD8-87D6-0AEAB774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3386" y="2857500"/>
            <a:ext cx="540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7F7F"/>
          </a:solidFill>
          <a:ln xmlns:a="http://schemas.openxmlformats.org/drawingml/2006/main" w="12700" cmpd="sng">
            <a:solidFill>
              <a:srgbClr val="7F7F7F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0" name="Google Shape;180;p13">
            <a:extLst xmlns:a="http://schemas.openxmlformats.org/drawingml/2006/main">
              <a:ext uri="{FF2B5EF4-FFF2-40B4-BE49-F238E27FC236}">
                <a16:creationId xmlns:a16="http://schemas.microsoft.com/office/drawing/2014/main" id="{7DB53CC3-B2F2-4B5A-8DE7-22259BE1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4848" y="2858215"/>
            <a:ext cx="540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7F7F"/>
          </a:solidFill>
          <a:ln xmlns:a="http://schemas.openxmlformats.org/drawingml/2006/main" w="12700" cmpd="sng">
            <a:solidFill>
              <a:srgbClr val="7F7F7F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9" name="Google Shape;189;p13">
            <a:extLst xmlns:a="http://schemas.openxmlformats.org/drawingml/2006/main">
              <a:ext uri="{FF2B5EF4-FFF2-40B4-BE49-F238E27FC236}">
                <a16:creationId xmlns:a16="http://schemas.microsoft.com/office/drawing/2014/main" id="{C7D5C6F5-B7C3-4DDC-941A-2D775B5B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440" y="2864968"/>
            <a:ext cx="540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7F7F"/>
          </a:solidFill>
          <a:ln xmlns:a="http://schemas.openxmlformats.org/drawingml/2006/main" w="12700" cmpd="sng">
            <a:solidFill>
              <a:srgbClr val="7F7F7F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cxnSp>
        <p:nvCxnSpPr>
          <p:cNvPr id="229" name="Google Shape;191;p13"/>
          <p:cNvCxnSpPr>
            <a:stCxn xmlns:a="http://schemas.openxmlformats.org/drawingml/2006/main" id="179" idx="4"/>
            <a:endCxn xmlns:a="http://schemas.openxmlformats.org/drawingml/2006/main" id="189" idx="3"/>
          </p:cNvCxnSpPr>
          <p:nvPr/>
        </p:nvCxnSpPr>
        <p:spPr>
          <a:xfrm xmlns:a="http://schemas.openxmlformats.org/drawingml/2006/main" rot="-5400000">
            <a:off x="6733086" y="1047000"/>
            <a:ext cx="76800" cy="4696200"/>
          </a:xfrm>
          <a:prstGeom xmlns:a="http://schemas.openxmlformats.org/drawingml/2006/main" prst="bentConnector3">
            <a:avLst>
              <a:gd name="adj1" fmla="val -819349"/>
            </a:avLst>
          </a:prstGeom>
          <a:ln xmlns:a="http://schemas.openxmlformats.org/drawingml/2006/main" w="38100" cap="flat">
            <a:solidFill>
              <a:srgbClr val="7F7F7F"/>
            </a:solidFill>
            <a:prstDash val="solid"/>
            <a:miter/>
            <a:headEnd type="none" w="sm" len="sm"/>
            <a:tailEnd type="stealth" w="med" len="med"/>
          </a:ln>
        </p:spPr>
      </p:cxnSp>
      <p:cxnSp>
        <p:nvCxnSpPr>
          <p:cNvPr id="230" name="Google Shape;192;p13"/>
          <p:cNvCxnSpPr>
            <a:stCxn xmlns:a="http://schemas.openxmlformats.org/drawingml/2006/main" id="180" idx="6"/>
            <a:endCxn xmlns:a="http://schemas.openxmlformats.org/drawingml/2006/main" id="189" idx="2"/>
          </p:cNvCxnSpPr>
          <p:nvPr/>
        </p:nvCxnSpPr>
        <p:spPr>
          <a:xfrm xmlns:a="http://schemas.openxmlformats.org/drawingml/2006/main">
            <a:off x="7044848" y="3146215"/>
            <a:ext cx="1995600" cy="69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7F7F7F"/>
            </a:solidFill>
            <a:prstDash val="solid"/>
            <a:miter/>
            <a:headEnd type="none" w="sm" len="sm"/>
            <a:tailEnd type="stealth" w="med" len="med"/>
          </a:ln>
        </p:spPr>
      </p:cxnSp>
      <p:cxnSp>
        <p:nvCxnSpPr>
          <p:cNvPr id="231" name="Google Shape;193;p13"/>
          <p:cNvCxnSpPr>
            <a:stCxn xmlns:a="http://schemas.openxmlformats.org/drawingml/2006/main" id="183" idx="6"/>
            <a:endCxn xmlns:a="http://schemas.openxmlformats.org/drawingml/2006/main" id="179" idx="2"/>
          </p:cNvCxnSpPr>
          <p:nvPr/>
        </p:nvCxnSpPr>
        <p:spPr>
          <a:xfrm xmlns:a="http://schemas.openxmlformats.org/drawingml/2006/main">
            <a:off x="1061352" y="3145500"/>
            <a:ext cx="30921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7F7F7F"/>
            </a:solidFill>
            <a:prstDash val="solid"/>
            <a:miter/>
            <a:headEnd type="none" w="sm" len="sm"/>
            <a:tailEnd type="stealth" w="med" len="med"/>
          </a:ln>
        </p:spPr>
      </p:cxnSp>
      <p:sp>
        <p:nvSpPr>
          <p:cNvPr id="194" name="Google Shape;194;p13">
            <a:extLst xmlns:a="http://schemas.openxmlformats.org/drawingml/2006/main">
              <a:ext uri="{FF2B5EF4-FFF2-40B4-BE49-F238E27FC236}">
                <a16:creationId xmlns:a16="http://schemas.microsoft.com/office/drawing/2014/main" id="{42AEA4EB-115F-4698-A31E-5583212C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806" y="4100669"/>
            <a:ext cx="2943684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NOT APPLICABLE | ACCEPTED</a:t>
            </a:r>
          </a:p>
        </p:txBody>
      </p:sp>
      <p:sp>
        <p:nvSpPr>
          <p:cNvPr id="195" name="Google Shape;195;p13">
            <a:extLst xmlns:a="http://schemas.openxmlformats.org/drawingml/2006/main">
              <a:ext uri="{FF2B5EF4-FFF2-40B4-BE49-F238E27FC236}">
                <a16:creationId xmlns:a16="http://schemas.microsoft.com/office/drawing/2014/main" id="{26925A99-C7C4-4E59-9C13-F1493236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3856" y="3192213"/>
            <a:ext cx="1702221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FIXED</a:t>
            </a:r>
            <a:r>
              <a:rPr sz="1200" b="0" i="1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 | </a:t>
            </a:r>
            <a:r>
              <a:rPr sz="1200" b="0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MITIGATED</a:t>
            </a:r>
          </a:p>
        </p:txBody>
      </p:sp>
      <p:sp>
        <p:nvSpPr>
          <p:cNvPr id="196" name="Google Shape;196;p13">
            <a:extLst xmlns:a="http://schemas.openxmlformats.org/drawingml/2006/main">
              <a:ext uri="{FF2B5EF4-FFF2-40B4-BE49-F238E27FC236}">
                <a16:creationId xmlns:a16="http://schemas.microsoft.com/office/drawing/2014/main" id="{CEB4FB65-DC7D-4150-84E2-B9D63C1C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531" y="3188512"/>
            <a:ext cx="1232821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ALL VULNs</a:t>
            </a:r>
          </a:p>
        </p:txBody>
      </p:sp>
      <p:sp>
        <p:nvSpPr>
          <p:cNvPr id="197" name="Google Shape;197;p13">
            <a:extLst xmlns:a="http://schemas.openxmlformats.org/drawingml/2006/main">
              <a:ext uri="{FF2B5EF4-FFF2-40B4-BE49-F238E27FC236}">
                <a16:creationId xmlns:a16="http://schemas.microsoft.com/office/drawing/2014/main" id="{9A4F8455-586B-4F1A-B677-C564F31B79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90F7333B-44AC-F7E9-D49D-FE92F45E0477}" type="slidenum">
              <a:t>17</a:t>
            </a:fld>
          </a:p>
        </p:txBody>
      </p:sp>
    </p:spTree>
    <p:extLst>
      <p:ext uri="{BB962C8B-B14F-4D97-AF65-F5344CB8AC3E}">
        <p14:creationId xmlns:p14="http://schemas.microsoft.com/office/powerpoint/2010/main" val="38082317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2" name="Google Shape;202;p14">
            <a:extLst xmlns:a="http://schemas.openxmlformats.org/drawingml/2006/main">
              <a:ext uri="{FF2B5EF4-FFF2-40B4-BE49-F238E27FC236}">
                <a16:creationId xmlns:a16="http://schemas.microsoft.com/office/drawing/2014/main" id="{B8F79D77-FD4F-4A11-90D9-431F5CCF19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0374" y="131950"/>
            <a:ext cx="10200226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Vulnerability Management with ARIANNA</a:t>
            </a:r>
          </a:p>
        </p:txBody>
      </p:sp>
      <p:sp>
        <p:nvSpPr>
          <p:cNvPr id="203" name="Google Shape;203;p14">
            <a:extLst xmlns:a="http://schemas.openxmlformats.org/drawingml/2006/main">
              <a:ext uri="{FF2B5EF4-FFF2-40B4-BE49-F238E27FC236}">
                <a16:creationId xmlns:a16="http://schemas.microsoft.com/office/drawing/2014/main" id="{2631E6E9-2396-45EA-ACAF-8FBB5925A2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B1C6C81E-38B9-7560-621D-5A151A79DF9B}" type="slidenum">
              <a:t>18</a:t>
            </a:fld>
          </a:p>
        </p:txBody>
      </p:sp>
      <p:sp>
        <p:nvSpPr>
          <p:cNvPr id="204" name="Google Shape;204;p14">
            <a:extLst xmlns:a="http://schemas.openxmlformats.org/drawingml/2006/main">
              <a:ext uri="{FF2B5EF4-FFF2-40B4-BE49-F238E27FC236}">
                <a16:creationId xmlns:a16="http://schemas.microsoft.com/office/drawing/2014/main" id="{666A59C6-35B3-471B-8F55-045CAA54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6184" y="4549666"/>
            <a:ext cx="1728192" cy="4693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rPr>
              <a:t>DEADLINE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rPr>
              <a:t>BASED ON POLICY</a:t>
            </a:r>
          </a:p>
        </p:txBody>
      </p:sp>
      <p:sp>
        <p:nvSpPr>
          <p:cNvPr id="205" name="Google Shape;205;p14">
            <a:extLst xmlns:a="http://schemas.openxmlformats.org/drawingml/2006/main">
              <a:ext uri="{FF2B5EF4-FFF2-40B4-BE49-F238E27FC236}">
                <a16:creationId xmlns:a16="http://schemas.microsoft.com/office/drawing/2014/main" id="{B636BD2A-DE28-4D3E-86E0-67388A82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586" y="4534168"/>
            <a:ext cx="1694695" cy="523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rPr>
              <a:t>VULNERABILITY 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rPr>
              <a:t>NOTIFICATION</a:t>
            </a:r>
          </a:p>
        </p:txBody>
      </p:sp>
      <p:cxnSp>
        <p:nvCxnSpPr>
          <p:cNvPr id="266" name="Google Shape;206;p14"/>
          <p:cNvCxnSpPr>
            <a:stCxn xmlns:a="http://schemas.openxmlformats.org/drawingml/2006/main" id="207" idx="6"/>
            <a:endCxn xmlns:a="http://schemas.openxmlformats.org/drawingml/2006/main" id="208" idx="2"/>
          </p:cNvCxnSpPr>
          <p:nvPr/>
        </p:nvCxnSpPr>
        <p:spPr>
          <a:xfrm xmlns:a="http://schemas.openxmlformats.org/drawingml/2006/main">
            <a:off x="4095047" y="2608533"/>
            <a:ext cx="1375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7F7F7F"/>
            </a:solidFill>
            <a:prstDash val="solid"/>
            <a:miter/>
            <a:headEnd type="none" w="sm" len="sm"/>
            <a:tailEnd type="stealth" w="med" len="med"/>
          </a:ln>
        </p:spPr>
      </p:cxnSp>
      <p:sp>
        <p:nvSpPr>
          <p:cNvPr id="209" name="Google Shape;209;p14">
            <a:extLst xmlns:a="http://schemas.openxmlformats.org/drawingml/2006/main">
              <a:ext uri="{FF2B5EF4-FFF2-40B4-BE49-F238E27FC236}">
                <a16:creationId xmlns:a16="http://schemas.microsoft.com/office/drawing/2014/main" id="{273D8B34-9F72-4FCF-A609-8B2A451F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0926" y="1221800"/>
            <a:ext cx="1839418" cy="646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VULNERABILITY 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ADDRESSING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0" name="Google Shape;210;p14">
            <a:extLst xmlns:a="http://schemas.openxmlformats.org/drawingml/2006/main">
              <a:ext uri="{FF2B5EF4-FFF2-40B4-BE49-F238E27FC236}">
                <a16:creationId xmlns:a16="http://schemas.microsoft.com/office/drawing/2014/main" id="{CC4FB5BF-2EC1-45A8-B9CD-2F031A4E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831" y="2320533"/>
            <a:ext cx="540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7F7F"/>
          </a:solidFill>
          <a:ln xmlns:a="http://schemas.openxmlformats.org/drawingml/2006/main" w="12700" cmpd="sng">
            <a:solidFill>
              <a:srgbClr val="7F7F7F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11" name="Google Shape;211;p14">
            <a:extLst xmlns:a="http://schemas.openxmlformats.org/drawingml/2006/main">
              <a:ext uri="{FF2B5EF4-FFF2-40B4-BE49-F238E27FC236}">
                <a16:creationId xmlns:a16="http://schemas.microsoft.com/office/drawing/2014/main" id="{7847B44A-6536-4CDE-9C05-AF225F08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724" y="1226814"/>
            <a:ext cx="1518992" cy="646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VULNERABILITY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IDENTIFICATION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2" name="Google Shape;212;p14">
            <a:extLst xmlns:a="http://schemas.openxmlformats.org/drawingml/2006/main">
              <a:ext uri="{FF2B5EF4-FFF2-40B4-BE49-F238E27FC236}">
                <a16:creationId xmlns:a16="http://schemas.microsoft.com/office/drawing/2014/main" id="{6DE9770F-916F-4373-AA6E-5EB98E9F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8962" y="1233976"/>
            <a:ext cx="1512168" cy="646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VULNERABILITY 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TRIAGE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271" name="Google Shape;213;p14"/>
          <p:cNvCxnSpPr>
            <a:stCxn xmlns:a="http://schemas.openxmlformats.org/drawingml/2006/main" id="212" idx="2"/>
          </p:cNvCxnSpPr>
          <p:nvPr/>
        </p:nvCxnSpPr>
        <p:spPr>
          <a:xfrm xmlns:a="http://schemas.openxmlformats.org/drawingml/2006/main">
            <a:off x="3825046" y="1880307"/>
            <a:ext cx="0" cy="21018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7F7F7F"/>
            </a:solidFill>
            <a:prstDash val="dot"/>
            <a:miter/>
            <a:headEnd type="oval" w="med" len="med"/>
            <a:tailEnd type="none" w="sm" len="sm"/>
          </a:ln>
        </p:spPr>
      </p:cxnSp>
      <p:cxnSp>
        <p:nvCxnSpPr>
          <p:cNvPr id="272" name="Google Shape;214;p14"/>
          <p:cNvCxnSpPr>
            <a:stCxn xmlns:a="http://schemas.openxmlformats.org/drawingml/2006/main" id="211" idx="2"/>
            <a:endCxn xmlns:a="http://schemas.openxmlformats.org/drawingml/2006/main" id="210" idx="0"/>
          </p:cNvCxnSpPr>
          <p:nvPr/>
        </p:nvCxnSpPr>
        <p:spPr>
          <a:xfrm xmlns:a="http://schemas.openxmlformats.org/drawingml/2006/main">
            <a:off x="1900220" y="1873145"/>
            <a:ext cx="600" cy="4473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7F7F7F"/>
            </a:solidFill>
            <a:prstDash val="dot"/>
            <a:miter/>
            <a:headEnd type="oval" w="med" len="med"/>
            <a:tailEnd type="none" w="sm" len="sm"/>
          </a:ln>
        </p:spPr>
      </p:cxnSp>
      <p:cxnSp>
        <p:nvCxnSpPr>
          <p:cNvPr id="273" name="Google Shape;215;p14"/>
          <p:cNvCxnSpPr>
            <a:endCxn xmlns:a="http://schemas.openxmlformats.org/drawingml/2006/main" id="216" idx="0"/>
          </p:cNvCxnSpPr>
          <p:nvPr/>
        </p:nvCxnSpPr>
        <p:spPr>
          <a:xfrm xmlns:a="http://schemas.openxmlformats.org/drawingml/2006/main">
            <a:off x="7582248" y="1829433"/>
            <a:ext cx="0" cy="4911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7F7F7F"/>
            </a:solidFill>
            <a:prstDash val="dot"/>
            <a:miter/>
            <a:headEnd type="oval" w="med" len="med"/>
            <a:tailEnd type="none" w="sm" len="sm"/>
          </a:ln>
        </p:spPr>
      </p:cxnSp>
      <p:cxnSp>
        <p:nvCxnSpPr>
          <p:cNvPr id="274" name="Google Shape;217;p14"/>
          <p:cNvCxnSpPr>
            <a:stCxn xmlns:a="http://schemas.openxmlformats.org/drawingml/2006/main" id="209" idx="2"/>
          </p:cNvCxnSpPr>
          <p:nvPr/>
        </p:nvCxnSpPr>
        <p:spPr>
          <a:xfrm xmlns:a="http://schemas.openxmlformats.org/drawingml/2006/main">
            <a:off x="5740635" y="1868131"/>
            <a:ext cx="8700" cy="21222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7F7F7F"/>
            </a:solidFill>
            <a:prstDash val="dot"/>
            <a:miter/>
            <a:headEnd type="oval" w="med" len="med"/>
            <a:tailEnd type="none" w="sm" len="sm"/>
          </a:ln>
        </p:spPr>
      </p:cxnSp>
      <p:sp>
        <p:nvSpPr>
          <p:cNvPr id="207" name="Google Shape;207;p14">
            <a:extLst xmlns:a="http://schemas.openxmlformats.org/drawingml/2006/main">
              <a:ext uri="{FF2B5EF4-FFF2-40B4-BE49-F238E27FC236}">
                <a16:creationId xmlns:a16="http://schemas.microsoft.com/office/drawing/2014/main" id="{5268B67A-6CCC-47EA-98D5-406700EB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5047" y="2320533"/>
            <a:ext cx="540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7F7F"/>
          </a:solidFill>
          <a:ln xmlns:a="http://schemas.openxmlformats.org/drawingml/2006/main" w="12700" cmpd="sng">
            <a:solidFill>
              <a:srgbClr val="7F7F7F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8" name="Google Shape;208;p14">
            <a:extLst xmlns:a="http://schemas.openxmlformats.org/drawingml/2006/main">
              <a:ext uri="{FF2B5EF4-FFF2-40B4-BE49-F238E27FC236}">
                <a16:creationId xmlns:a16="http://schemas.microsoft.com/office/drawing/2014/main" id="{F994B9FB-1AB4-4C8D-822D-BE0802A8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0635" y="2320680"/>
            <a:ext cx="540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7F7F"/>
          </a:solidFill>
          <a:ln xmlns:a="http://schemas.openxmlformats.org/drawingml/2006/main" w="12700" cmpd="sng">
            <a:solidFill>
              <a:srgbClr val="7F7F7F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6" name="Google Shape;216;p14">
            <a:extLst xmlns:a="http://schemas.openxmlformats.org/drawingml/2006/main">
              <a:ext uri="{FF2B5EF4-FFF2-40B4-BE49-F238E27FC236}">
                <a16:creationId xmlns:a16="http://schemas.microsoft.com/office/drawing/2014/main" id="{95DC5536-404C-4A88-9BAA-C3A8EC26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2248" y="2320533"/>
            <a:ext cx="540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7F7F"/>
          </a:solidFill>
          <a:ln xmlns:a="http://schemas.openxmlformats.org/drawingml/2006/main" w="12700" cmpd="sng">
            <a:solidFill>
              <a:srgbClr val="7F7F7F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cxnSp>
        <p:nvCxnSpPr>
          <p:cNvPr id="278" name="Google Shape;218;p14"/>
          <p:cNvCxnSpPr>
            <a:stCxn xmlns:a="http://schemas.openxmlformats.org/drawingml/2006/main" id="208" idx="6"/>
            <a:endCxn xmlns:a="http://schemas.openxmlformats.org/drawingml/2006/main" id="216" idx="2"/>
          </p:cNvCxnSpPr>
          <p:nvPr/>
        </p:nvCxnSpPr>
        <p:spPr>
          <a:xfrm xmlns:a="http://schemas.openxmlformats.org/drawingml/2006/main">
            <a:off x="6010635" y="2608680"/>
            <a:ext cx="13017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7F7F7F"/>
            </a:solidFill>
            <a:prstDash val="solid"/>
            <a:miter/>
            <a:headEnd type="none" w="sm" len="sm"/>
            <a:tailEnd type="stealth" w="med" len="med"/>
          </a:ln>
        </p:spPr>
      </p:cxnSp>
      <p:cxnSp>
        <p:nvCxnSpPr>
          <p:cNvPr id="279" name="Google Shape;219;p14"/>
          <p:cNvCxnSpPr>
            <a:stCxn xmlns:a="http://schemas.openxmlformats.org/drawingml/2006/main" id="210" idx="6"/>
            <a:endCxn xmlns:a="http://schemas.openxmlformats.org/drawingml/2006/main" id="207" idx="2"/>
          </p:cNvCxnSpPr>
          <p:nvPr/>
        </p:nvCxnSpPr>
        <p:spPr>
          <a:xfrm xmlns:a="http://schemas.openxmlformats.org/drawingml/2006/main">
            <a:off x="2170831" y="2608533"/>
            <a:ext cx="13842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7F7F7F"/>
            </a:solidFill>
            <a:prstDash val="solid"/>
            <a:miter/>
            <a:headEnd type="none" w="sm" len="sm"/>
            <a:tailEnd type="stealth" w="med" len="med"/>
          </a:ln>
        </p:spPr>
      </p:cxnSp>
      <p:sp>
        <p:nvSpPr>
          <p:cNvPr id="220" name="Google Shape;220;p14">
            <a:extLst xmlns:a="http://schemas.openxmlformats.org/drawingml/2006/main">
              <a:ext uri="{FF2B5EF4-FFF2-40B4-BE49-F238E27FC236}">
                <a16:creationId xmlns:a16="http://schemas.microsoft.com/office/drawing/2014/main" id="{3D64E4CA-4910-4A95-8DC4-1705D05D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692" y="1201316"/>
            <a:ext cx="2171706" cy="646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VULNERABILITY 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(DIS)CLOSURE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281" name="Google Shape;221;p14"/>
          <p:cNvCxnSpPr/>
          <p:nvPr/>
        </p:nvCxnSpPr>
        <p:spPr>
          <a:xfrm xmlns:a="http://schemas.openxmlformats.org/drawingml/2006/main">
            <a:off x="543496" y="3989825"/>
            <a:ext cx="9312460" cy="434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DEDEDE"/>
            </a:solidFill>
            <a:prstDash val="solid"/>
            <a:miter/>
            <a:headEnd type="none" w="sm" len="sm"/>
            <a:tailEnd type="triangle" w="med" len="med"/>
          </a:ln>
        </p:spPr>
      </p:cxnSp>
      <p:cxnSp>
        <p:nvCxnSpPr>
          <p:cNvPr id="282" name="Google Shape;222;p14"/>
          <p:cNvCxnSpPr>
            <a:stCxn xmlns:a="http://schemas.openxmlformats.org/drawingml/2006/main" id="216" idx="4"/>
            <a:endCxn xmlns:a="http://schemas.openxmlformats.org/drawingml/2006/main" id="204" idx="0"/>
          </p:cNvCxnSpPr>
          <p:nvPr/>
        </p:nvCxnSpPr>
        <p:spPr>
          <a:xfrm xmlns:a="http://schemas.openxmlformats.org/drawingml/2006/main">
            <a:off x="7582248" y="2896533"/>
            <a:ext cx="18000" cy="16530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616364"/>
            </a:solidFill>
            <a:prstDash val="dash"/>
            <a:round/>
            <a:headEnd type="triangle" w="med" len="med"/>
            <a:tailEnd type="none" w="sm" len="sm"/>
          </a:ln>
        </p:spPr>
      </p:cxnSp>
      <p:cxnSp>
        <p:nvCxnSpPr>
          <p:cNvPr id="283" name="Google Shape;223;p14"/>
          <p:cNvCxnSpPr/>
          <p:nvPr/>
        </p:nvCxnSpPr>
        <p:spPr>
          <a:xfrm xmlns:a="http://schemas.openxmlformats.org/drawingml/2006/main">
            <a:off x="1896934" y="3989825"/>
            <a:ext cx="1926163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FF0000"/>
            </a:solidFill>
            <a:prstDash val="solid"/>
            <a:miter/>
            <a:headEnd type="none" w="sm" len="sm"/>
            <a:tailEnd type="triangle" w="med" len="med"/>
          </a:ln>
        </p:spPr>
      </p:cxnSp>
      <p:sp>
        <p:nvSpPr>
          <p:cNvPr id="224" name="Google Shape;224;p14">
            <a:extLst xmlns:a="http://schemas.openxmlformats.org/drawingml/2006/main">
              <a:ext uri="{FF2B5EF4-FFF2-40B4-BE49-F238E27FC236}">
                <a16:creationId xmlns:a16="http://schemas.microsoft.com/office/drawing/2014/main" id="{BB5CED5C-81A1-4156-9AB9-4CBAE18D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8757" y="3832871"/>
            <a:ext cx="1465530" cy="3077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FF0000"/>
                </a:solidFill>
                <a:latin typeface="Montserrat"/>
                <a:ea typeface="Montserrat"/>
                <a:cs typeface="Montserrat"/>
              </a:rPr>
              <a:t>UNMANAGED </a:t>
            </a:r>
          </a:p>
        </p:txBody>
      </p:sp>
      <p:cxnSp>
        <p:nvCxnSpPr>
          <p:cNvPr id="285" name="Google Shape;225;p14"/>
          <p:cNvCxnSpPr/>
          <p:nvPr/>
        </p:nvCxnSpPr>
        <p:spPr>
          <a:xfrm xmlns:a="http://schemas.openxmlformats.org/drawingml/2006/main">
            <a:off x="3825046" y="3990259"/>
            <a:ext cx="1924216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E5902A"/>
            </a:solidFill>
            <a:prstDash val="solid"/>
            <a:miter/>
            <a:headEnd type="none" w="sm" len="sm"/>
            <a:tailEnd type="triangle" w="med" len="med"/>
          </a:ln>
        </p:spPr>
      </p:cxnSp>
      <p:sp>
        <p:nvSpPr>
          <p:cNvPr id="226" name="Google Shape;226;p14">
            <a:extLst xmlns:a="http://schemas.openxmlformats.org/drawingml/2006/main">
              <a:ext uri="{FF2B5EF4-FFF2-40B4-BE49-F238E27FC236}">
                <a16:creationId xmlns:a16="http://schemas.microsoft.com/office/drawing/2014/main" id="{7756D636-CF31-4843-A68E-6D023E1F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7649" y="3836369"/>
            <a:ext cx="1160723" cy="3077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E5902A"/>
                </a:solidFill>
                <a:latin typeface="Montserrat"/>
                <a:ea typeface="Montserrat"/>
                <a:cs typeface="Montserrat"/>
              </a:rPr>
              <a:t>IN TRIAGE </a:t>
            </a:r>
          </a:p>
        </p:txBody>
      </p:sp>
      <p:cxnSp>
        <p:nvCxnSpPr>
          <p:cNvPr id="287" name="Google Shape;227;p14"/>
          <p:cNvCxnSpPr/>
          <p:nvPr/>
        </p:nvCxnSpPr>
        <p:spPr>
          <a:xfrm xmlns:a="http://schemas.openxmlformats.org/drawingml/2006/main">
            <a:off x="5749262" y="3990259"/>
            <a:ext cx="1861516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00B0F0"/>
            </a:solidFill>
            <a:prstDash val="solid"/>
            <a:miter/>
            <a:headEnd type="none" w="sm" len="sm"/>
            <a:tailEnd type="triangle" w="med" len="med"/>
          </a:ln>
        </p:spPr>
      </p:cxnSp>
      <p:sp>
        <p:nvSpPr>
          <p:cNvPr id="228" name="Google Shape;228;p14">
            <a:extLst xmlns:a="http://schemas.openxmlformats.org/drawingml/2006/main">
              <a:ext uri="{FF2B5EF4-FFF2-40B4-BE49-F238E27FC236}">
                <a16:creationId xmlns:a16="http://schemas.microsoft.com/office/drawing/2014/main" id="{9C410DDD-83EB-4ADB-A737-758546E8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1734" y="3836370"/>
            <a:ext cx="1452522" cy="3077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00B0F0"/>
                </a:solidFill>
                <a:latin typeface="Montserrat"/>
                <a:ea typeface="Montserrat"/>
                <a:cs typeface="Montserrat"/>
              </a:rPr>
              <a:t>IN PROGRESS </a:t>
            </a:r>
          </a:p>
        </p:txBody>
      </p:sp>
      <p:cxnSp>
        <p:nvCxnSpPr>
          <p:cNvPr id="289" name="Google Shape;229;p14"/>
          <p:cNvCxnSpPr/>
          <p:nvPr/>
        </p:nvCxnSpPr>
        <p:spPr>
          <a:xfrm xmlns:a="http://schemas.openxmlformats.org/drawingml/2006/main" rot="10800000" flipH="1">
            <a:off x="7610778" y="3982076"/>
            <a:ext cx="2245178" cy="398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92D050"/>
            </a:solidFill>
            <a:prstDash val="solid"/>
            <a:miter/>
            <a:headEnd type="none" w="sm" len="sm"/>
            <a:tailEnd type="triangle" w="med" len="med"/>
          </a:ln>
        </p:spPr>
      </p:cxnSp>
      <p:sp>
        <p:nvSpPr>
          <p:cNvPr id="230" name="Google Shape;230;p14">
            <a:extLst xmlns:a="http://schemas.openxmlformats.org/drawingml/2006/main">
              <a:ext uri="{FF2B5EF4-FFF2-40B4-BE49-F238E27FC236}">
                <a16:creationId xmlns:a16="http://schemas.microsoft.com/office/drawing/2014/main" id="{9C7C7FFA-76BB-4FC0-900E-92BC769F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3074" y="3828187"/>
            <a:ext cx="975822" cy="3077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92D050"/>
                </a:solidFill>
                <a:latin typeface="Montserrat"/>
                <a:ea typeface="Montserrat"/>
                <a:cs typeface="Montserrat"/>
              </a:rPr>
              <a:t>CLOSED </a:t>
            </a:r>
          </a:p>
        </p:txBody>
      </p:sp>
      <p:cxnSp>
        <p:nvCxnSpPr>
          <p:cNvPr id="291" name="Google Shape;231;p14"/>
          <p:cNvCxnSpPr>
            <a:stCxn xmlns:a="http://schemas.openxmlformats.org/drawingml/2006/main" id="210" idx="4"/>
            <a:endCxn xmlns:a="http://schemas.openxmlformats.org/drawingml/2006/main" id="205" idx="0"/>
          </p:cNvCxnSpPr>
          <p:nvPr/>
        </p:nvCxnSpPr>
        <p:spPr>
          <a:xfrm xmlns:a="http://schemas.openxmlformats.org/drawingml/2006/main" flipH="1">
            <a:off x="1896931" y="2896533"/>
            <a:ext cx="3900" cy="16377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616364"/>
            </a:solidFill>
            <a:prstDash val="dash"/>
            <a:round/>
            <a:headEnd type="triangle" w="med" len="med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0795235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6" name="Google Shape;236;p15">
            <a:extLst xmlns:a="http://schemas.openxmlformats.org/drawingml/2006/main">
              <a:ext uri="{FF2B5EF4-FFF2-40B4-BE49-F238E27FC236}">
                <a16:creationId xmlns:a16="http://schemas.microsoft.com/office/drawing/2014/main" id="{92BDFA6B-F151-489B-9BE1-231EEF6F51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5654" y="1123284"/>
            <a:ext cx="9202092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>
                <a:solidFill>
                  <a:schemeClr val="accent2"/>
                </a:solidFill>
              </a:rPr>
              <a:t>CVSS not sufficient for prioritization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CVSS useful to measure the potential risk</a:t>
            </a:r>
          </a:p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>
                <a:solidFill>
                  <a:schemeClr val="dk2"/>
                </a:solidFill>
              </a:rPr>
              <a:t>Context matters more than Severity Score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A vulnerability in a component that is not exposed to the network is very different from the same vulnerability in an internet-facing device.</a:t>
            </a:r>
          </a:p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>
                <a:solidFill>
                  <a:schemeClr val="dk2"/>
                </a:solidFill>
              </a:rPr>
              <a:t>Exploitability matters more than quantity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Fixing 50 theoretical vulnerabilities does not improve security as much as fixing 5 vulnerabilities that can really be exploited.</a:t>
            </a:r>
          </a:p>
        </p:txBody>
      </p:sp>
      <p:sp>
        <p:nvSpPr>
          <p:cNvPr id="237" name="Google Shape;237;p15">
            <a:extLst xmlns:a="http://schemas.openxmlformats.org/drawingml/2006/main">
              <a:ext uri="{FF2B5EF4-FFF2-40B4-BE49-F238E27FC236}">
                <a16:creationId xmlns:a16="http://schemas.microsoft.com/office/drawing/2014/main" id="{255C385D-C25E-480A-92C3-EC964A05E7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56" y="131946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Severity alone is no longer enough</a:t>
            </a:r>
          </a:p>
        </p:txBody>
      </p:sp>
      <p:sp>
        <p:nvSpPr>
          <p:cNvPr id="238" name="Google Shape;238;p15">
            <a:extLst xmlns:a="http://schemas.openxmlformats.org/drawingml/2006/main">
              <a:ext uri="{FF2B5EF4-FFF2-40B4-BE49-F238E27FC236}">
                <a16:creationId xmlns:a16="http://schemas.microsoft.com/office/drawing/2014/main" id="{1710E13F-39A1-404F-99F1-79E06F0A5B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CF91274-D221-1BB4-3BF9-836E3AD31EBE}" type="slidenum">
              <a:t>19</a:t>
            </a:fld>
          </a:p>
        </p:txBody>
      </p:sp>
    </p:spTree>
    <p:extLst>
      <p:ext uri="{BB962C8B-B14F-4D97-AF65-F5344CB8AC3E}">
        <p14:creationId xmlns:p14="http://schemas.microsoft.com/office/powerpoint/2010/main" val="71958360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3" name="Google Shape;243;p16">
            <a:extLst xmlns:a="http://schemas.openxmlformats.org/drawingml/2006/main">
              <a:ext uri="{FF2B5EF4-FFF2-40B4-BE49-F238E27FC236}">
                <a16:creationId xmlns:a16="http://schemas.microsoft.com/office/drawing/2014/main" id="{A41A74EB-E140-4DAA-8AFB-B695151AA8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5654" y="1123284"/>
            <a:ext cx="9202092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t>ARIANNA provides a configurable pre-triage engine.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It splits identified vulnerabilities into two classes:</a:t>
            </a:r>
          </a:p>
          <a:p xmlns:a="http://schemas.openxmlformats.org/drawingml/2006/main">
            <a:pPr marL="804863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>
                <a:solidFill>
                  <a:schemeClr val="dk2"/>
                </a:solidFill>
              </a:rPr>
              <a:t>High Priority: immediate triage required</a:t>
            </a:r>
          </a:p>
          <a:p xmlns:a="http://schemas.openxmlformats.org/drawingml/2006/main">
            <a:pPr marL="804863" indent="-233362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>
                <a:solidFill>
                  <a:schemeClr val="dk2"/>
                </a:solidFill>
              </a:rPr>
              <a:t>Low Priority: risk accepted for later management</a:t>
            </a:r>
          </a:p>
          <a:p xmlns:a="http://schemas.openxmlformats.org/drawingml/2006/main">
            <a:pPr marL="533400" indent="-233362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The goal is to reduce analyst workload while preserving full traceability and human decision-making.</a:t>
            </a:r>
          </a:p>
        </p:txBody>
      </p:sp>
      <p:sp>
        <p:nvSpPr>
          <p:cNvPr id="244" name="Google Shape;244;p16">
            <a:extLst xmlns:a="http://schemas.openxmlformats.org/drawingml/2006/main">
              <a:ext uri="{FF2B5EF4-FFF2-40B4-BE49-F238E27FC236}">
                <a16:creationId xmlns:a16="http://schemas.microsoft.com/office/drawing/2014/main" id="{F44DEE84-FC6E-4935-9631-4CF87AEF81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56" y="131946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Configurable Pre-Triage engine</a:t>
            </a:r>
          </a:p>
        </p:txBody>
      </p:sp>
      <p:sp>
        <p:nvSpPr>
          <p:cNvPr id="245" name="Google Shape;245;p16">
            <a:extLst xmlns:a="http://schemas.openxmlformats.org/drawingml/2006/main">
              <a:ext uri="{FF2B5EF4-FFF2-40B4-BE49-F238E27FC236}">
                <a16:creationId xmlns:a16="http://schemas.microsoft.com/office/drawing/2014/main" id="{1F8C7645-8328-4650-B112-183977B8BC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844E025A-983C-6D44-79C6-4612AACD43FC}" type="slidenum">
              <a:t>20</a:t>
            </a:fld>
          </a:p>
        </p:txBody>
      </p:sp>
    </p:spTree>
    <p:extLst>
      <p:ext uri="{BB962C8B-B14F-4D97-AF65-F5344CB8AC3E}">
        <p14:creationId xmlns:p14="http://schemas.microsoft.com/office/powerpoint/2010/main" val="91713712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0" name="Google Shape;250;p17">
            <a:extLst xmlns:a="http://schemas.openxmlformats.org/drawingml/2006/main">
              <a:ext uri="{FF2B5EF4-FFF2-40B4-BE49-F238E27FC236}">
                <a16:creationId xmlns:a16="http://schemas.microsoft.com/office/drawing/2014/main" id="{EFEAFFDC-00CA-4CFD-91C1-A5BAC35EEC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5654" y="1123284"/>
            <a:ext cx="9202092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 fontScale="97338"/>
          </a:bodyPr>
          <a:lstStyle xmlns:a="http://schemas.openxmlformats.org/drawingml/2006/main"/>
          <a:p xmlns:a="http://schemas.openxmlformats.org/drawingml/2006/main">
            <a:pPr marL="457200" indent="-4572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AutoNum type="arabicPeriod"/>
            </a:pPr>
            <a:r>
              <a:rPr>
                <a:solidFill>
                  <a:schemeClr val="dk2"/>
                </a:solidFill>
              </a:rPr>
              <a:t>Prioritize vulnerabilities based on RISK</a:t>
            </a:r>
          </a:p>
          <a:p xmlns:a="http://schemas.openxmlformats.org/drawingml/2006/main">
            <a:pPr marL="533400" indent="-233362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Triage only CRITICAL and HIGH risk findings, according to the project policy</a:t>
            </a:r>
          </a:p>
          <a:p xmlns:a="http://schemas.openxmlformats.org/drawingml/2006/main">
            <a:pPr marL="533400" indent="-233362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Prioritize vulnerabilities based on EXPLOITABILITY</a:t>
            </a:r>
          </a:p>
          <a:p xmlns:a="http://schemas.openxmlformats.org/drawingml/2006/main">
            <a:pPr marL="457200" indent="-4572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AutoNum type="arabicPeriod"/>
            </a:pPr>
            <a:r>
              <a:rPr>
                <a:solidFill>
                  <a:schemeClr val="dk2"/>
                </a:solidFill>
              </a:rPr>
              <a:t>Triage only vulnerabilities that can realistically be exploited on the target device</a:t>
            </a:r>
          </a:p>
          <a:p xmlns:a="http://schemas.openxmlformats.org/drawingml/2006/main">
            <a:pPr marL="533400" indent="-233362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Examples: vulnerabilities in the ARIANNA KEV catalogue, vulnerabilities with a verified exploit, or vulnerabilities with EPSS &gt; 10%</a:t>
            </a:r>
          </a:p>
        </p:txBody>
      </p:sp>
      <p:sp>
        <p:nvSpPr>
          <p:cNvPr id="251" name="Google Shape;251;p17">
            <a:extLst xmlns:a="http://schemas.openxmlformats.org/drawingml/2006/main">
              <a:ext uri="{FF2B5EF4-FFF2-40B4-BE49-F238E27FC236}">
                <a16:creationId xmlns:a16="http://schemas.microsoft.com/office/drawing/2014/main" id="{870CF2A4-ADBD-42A5-AF8B-21EAE24C6D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56" y="131946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Pre-Triage engine configuration</a:t>
            </a:r>
          </a:p>
        </p:txBody>
      </p:sp>
      <p:sp>
        <p:nvSpPr>
          <p:cNvPr id="252" name="Google Shape;252;p17">
            <a:extLst xmlns:a="http://schemas.openxmlformats.org/drawingml/2006/main">
              <a:ext uri="{FF2B5EF4-FFF2-40B4-BE49-F238E27FC236}">
                <a16:creationId xmlns:a16="http://schemas.microsoft.com/office/drawing/2014/main" id="{0BA99F07-63B0-4C23-8F97-3FE28928DA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F6DF2BE2-2DFA-1C03-677D-BDC2260D6D92}" type="slidenum">
              <a:t>21</a:t>
            </a:fld>
          </a:p>
        </p:txBody>
      </p:sp>
    </p:spTree>
    <p:extLst>
      <p:ext uri="{BB962C8B-B14F-4D97-AF65-F5344CB8AC3E}">
        <p14:creationId xmlns:p14="http://schemas.microsoft.com/office/powerpoint/2010/main" val="122422770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0" name="Google Shape;250;p17">
            <a:extLst xmlns:a="http://schemas.openxmlformats.org/drawingml/2006/main">
              <a:ext uri="{FF2B5EF4-FFF2-40B4-BE49-F238E27FC236}">
                <a16:creationId xmlns:a16="http://schemas.microsoft.com/office/drawing/2014/main" id="{EFEAFFDC-00CA-4CFD-91C1-A5BAC35EEC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5654" y="1123284"/>
            <a:ext cx="9202092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 fontScale="97338"/>
          </a:bodyPr>
          <a:lstStyle xmlns:a="http://schemas.openxmlformats.org/drawingml/2006/main"/>
          <a:p xmlns:a="http://schemas.openxmlformats.org/drawingml/2006/main">
            <a:pPr marL="457200" indent="-4572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AutoNum type="arabicPeriod"/>
            </a:pPr>
            <a:r>
              <a:rPr>
                <a:solidFill>
                  <a:schemeClr val="dk2"/>
                </a:solidFill>
              </a:rPr>
              <a:t>Pre-triage does not automatically close or accept vulnerabilities.</a:t>
            </a:r>
          </a:p>
          <a:p xmlns:a="http://schemas.openxmlformats.org/drawingml/2006/main">
            <a:pPr marL="533400" indent="-233362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Low-priority vulnerabilities remain visible and traceable for later review.</a:t>
            </a:r>
          </a:p>
          <a:p xmlns:a="http://schemas.openxmlformats.org/drawingml/2006/main">
            <a:pPr marL="533400" indent="-233362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High-priority vulnerabilities enter analyst triage together with exploitability, reachability, and component context.</a:t>
            </a:r>
          </a:p>
          <a:p xmlns:a="http://schemas.openxmlformats.org/drawingml/2006/main">
            <a:pPr marL="457200" indent="-45720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AutoNum type="arabicPeriod"/>
            </a:pPr>
            <a:r>
              <a:rPr>
                <a:solidFill>
                  <a:schemeClr val="dk2"/>
                </a:solidFill>
              </a:rPr>
              <a:t>The analyst can mark a vulnerability as Not Applicable, Accepted, Mitigated, Fixed, or escalate it for coordinated disclosure.</a:t>
            </a:r>
          </a:p>
          <a:p xmlns:a="http://schemas.openxmlformats.org/drawingml/2006/main">
            <a:pPr marL="533400" indent="-233362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Every decision is logged and reflected in the report history.</a:t>
            </a:r>
          </a:p>
        </p:txBody>
      </p:sp>
      <p:sp>
        <p:nvSpPr>
          <p:cNvPr id="251" name="Google Shape;251;p17">
            <a:extLst xmlns:a="http://schemas.openxmlformats.org/drawingml/2006/main">
              <a:ext uri="{FF2B5EF4-FFF2-40B4-BE49-F238E27FC236}">
                <a16:creationId xmlns:a16="http://schemas.microsoft.com/office/drawing/2014/main" id="{870CF2A4-ADBD-42A5-AF8B-21EAE24C6D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56" y="131946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Triage workflow in ARIANNA</a:t>
            </a:r>
          </a:p>
        </p:txBody>
      </p:sp>
      <p:sp>
        <p:nvSpPr>
          <p:cNvPr id="252" name="Google Shape;252;p17">
            <a:extLst xmlns:a="http://schemas.openxmlformats.org/drawingml/2006/main">
              <a:ext uri="{FF2B5EF4-FFF2-40B4-BE49-F238E27FC236}">
                <a16:creationId xmlns:a16="http://schemas.microsoft.com/office/drawing/2014/main" id="{0BA99F07-63B0-4C23-8F97-3FE28928DA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BB18BA8-60F4-C50D-CD9B-1BB87D3E8506}" type="slidenum">
              <a:t>22</a:t>
            </a:fld>
          </a:p>
        </p:txBody>
      </p:sp>
    </p:spTree>
    <p:extLst>
      <p:ext uri="{BB962C8B-B14F-4D97-AF65-F5344CB8AC3E}">
        <p14:creationId xmlns:p14="http://schemas.microsoft.com/office/powerpoint/2010/main" val="122422770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12" name="Google Shape;257;p18"/>
          <p:cNvCxnSpPr>
            <a:stCxn xmlns:a="http://schemas.openxmlformats.org/drawingml/2006/main" id="258" idx="1"/>
            <a:endCxn xmlns:a="http://schemas.openxmlformats.org/drawingml/2006/main" id="259" idx="7"/>
          </p:cNvCxnSpPr>
          <p:nvPr/>
        </p:nvCxnSpPr>
        <p:spPr>
          <a:xfrm xmlns:a="http://schemas.openxmlformats.org/drawingml/2006/main" rot="5400000">
            <a:off x="5823571" y="-346029"/>
            <a:ext cx="600" cy="6591300"/>
          </a:xfrm>
          <a:prstGeom xmlns:a="http://schemas.openxmlformats.org/drawingml/2006/main" prst="bentConnector3">
            <a:avLst>
              <a:gd name="adj1" fmla="val -51100669"/>
            </a:avLst>
          </a:prstGeom>
          <a:ln xmlns:a="http://schemas.openxmlformats.org/drawingml/2006/main" w="38100" cap="flat">
            <a:solidFill>
              <a:srgbClr val="3FBAB7"/>
            </a:solidFill>
            <a:prstDash val="dash"/>
            <a:miter/>
            <a:headEnd type="none" w="sm" len="sm"/>
            <a:tailEnd type="stealth" w="med" len="med"/>
          </a:ln>
        </p:spPr>
      </p:cxnSp>
      <p:sp>
        <p:nvSpPr>
          <p:cNvPr id="260" name="Google Shape;260;p18">
            <a:extLst xmlns:a="http://schemas.openxmlformats.org/drawingml/2006/main">
              <a:ext uri="{FF2B5EF4-FFF2-40B4-BE49-F238E27FC236}">
                <a16:creationId xmlns:a16="http://schemas.microsoft.com/office/drawing/2014/main" id="{3F55CB76-2F7B-440B-8101-21E079A391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0374" y="131950"/>
            <a:ext cx="10200226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Vulnerability Management Process</a:t>
            </a:r>
          </a:p>
        </p:txBody>
      </p:sp>
      <p:cxnSp>
        <p:nvCxnSpPr>
          <p:cNvPr id="314" name="Google Shape;261;p18"/>
          <p:cNvCxnSpPr>
            <a:stCxn xmlns:a="http://schemas.openxmlformats.org/drawingml/2006/main" id="262" idx="6"/>
            <a:endCxn xmlns:a="http://schemas.openxmlformats.org/drawingml/2006/main" id="263" idx="2"/>
          </p:cNvCxnSpPr>
          <p:nvPr/>
        </p:nvCxnSpPr>
        <p:spPr>
          <a:xfrm xmlns:a="http://schemas.openxmlformats.org/drawingml/2006/main">
            <a:off x="4693386" y="3145500"/>
            <a:ext cx="1811400" cy="6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7F7F7F"/>
            </a:solidFill>
            <a:prstDash val="solid"/>
            <a:miter/>
            <a:headEnd type="none" w="sm" len="sm"/>
            <a:tailEnd type="stealth" w="med" len="med"/>
          </a:ln>
        </p:spPr>
      </p:cxnSp>
      <p:sp>
        <p:nvSpPr>
          <p:cNvPr id="264" name="Google Shape;264;p18">
            <a:extLst xmlns:a="http://schemas.openxmlformats.org/drawingml/2006/main">
              <a:ext uri="{FF2B5EF4-FFF2-40B4-BE49-F238E27FC236}">
                <a16:creationId xmlns:a16="http://schemas.microsoft.com/office/drawing/2014/main" id="{04A8B179-1BDC-4888-8092-E019200B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139" y="1742763"/>
            <a:ext cx="1839418" cy="646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VULNERABILITY 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ADDRESSING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5" name="Google Shape;265;p18">
            <a:extLst xmlns:a="http://schemas.openxmlformats.org/drawingml/2006/main">
              <a:ext uri="{FF2B5EF4-FFF2-40B4-BE49-F238E27FC236}">
                <a16:creationId xmlns:a16="http://schemas.microsoft.com/office/drawing/2014/main" id="{96E1B85C-6BE1-4007-AAB7-32E5E389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587" y="1727582"/>
            <a:ext cx="2171706" cy="646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VULNERABILITY 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(DIS)CLOSURE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6" name="Google Shape;266;p18">
            <a:extLst xmlns:a="http://schemas.openxmlformats.org/drawingml/2006/main">
              <a:ext uri="{FF2B5EF4-FFF2-40B4-BE49-F238E27FC236}">
                <a16:creationId xmlns:a16="http://schemas.microsoft.com/office/drawing/2014/main" id="{87E5015A-B919-4933-A10D-CF4D3062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352" y="2857500"/>
            <a:ext cx="540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7F7F"/>
          </a:solidFill>
          <a:ln xmlns:a="http://schemas.openxmlformats.org/drawingml/2006/main" w="12700" cmpd="sng">
            <a:solidFill>
              <a:srgbClr val="7F7F7F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67" name="Google Shape;267;p18">
            <a:extLst xmlns:a="http://schemas.openxmlformats.org/drawingml/2006/main">
              <a:ext uri="{FF2B5EF4-FFF2-40B4-BE49-F238E27FC236}">
                <a16:creationId xmlns:a16="http://schemas.microsoft.com/office/drawing/2014/main" id="{972C8809-5AE1-4B5F-B443-CFE8690E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5" y="1763781"/>
            <a:ext cx="1518992" cy="646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VULNERABILITY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IDENTIFICATION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8" name="Google Shape;268;p18">
            <a:extLst xmlns:a="http://schemas.openxmlformats.org/drawingml/2006/main">
              <a:ext uri="{FF2B5EF4-FFF2-40B4-BE49-F238E27FC236}">
                <a16:creationId xmlns:a16="http://schemas.microsoft.com/office/drawing/2014/main" id="{2C337FB5-40F4-4E29-B5E8-5A0D6C63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301" y="1740167"/>
            <a:ext cx="1512168" cy="646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VULNERABILITY 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TRIAGE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320" name="Google Shape;269;p18"/>
          <p:cNvCxnSpPr>
            <a:stCxn xmlns:a="http://schemas.openxmlformats.org/drawingml/2006/main" id="268" idx="2"/>
            <a:endCxn xmlns:a="http://schemas.openxmlformats.org/drawingml/2006/main" id="262" idx="0"/>
          </p:cNvCxnSpPr>
          <p:nvPr/>
        </p:nvCxnSpPr>
        <p:spPr>
          <a:xfrm xmlns:a="http://schemas.openxmlformats.org/drawingml/2006/main">
            <a:off x="4423385" y="2386498"/>
            <a:ext cx="0" cy="4710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7F7F7F"/>
            </a:solidFill>
            <a:prstDash val="dot"/>
            <a:miter/>
            <a:headEnd type="oval" w="med" len="med"/>
            <a:tailEnd type="none" w="sm" len="sm"/>
          </a:ln>
        </p:spPr>
      </p:cxnSp>
      <p:cxnSp>
        <p:nvCxnSpPr>
          <p:cNvPr id="321" name="Google Shape;270;p18"/>
          <p:cNvCxnSpPr>
            <a:stCxn xmlns:a="http://schemas.openxmlformats.org/drawingml/2006/main" id="267" idx="2"/>
            <a:endCxn xmlns:a="http://schemas.openxmlformats.org/drawingml/2006/main" id="266" idx="0"/>
          </p:cNvCxnSpPr>
          <p:nvPr/>
        </p:nvCxnSpPr>
        <p:spPr>
          <a:xfrm xmlns:a="http://schemas.openxmlformats.org/drawingml/2006/main">
            <a:off x="790741" y="2410112"/>
            <a:ext cx="600" cy="4473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7F7F7F"/>
            </a:solidFill>
            <a:prstDash val="dot"/>
            <a:miter/>
            <a:headEnd type="oval" w="med" len="med"/>
            <a:tailEnd type="none" w="sm" len="sm"/>
          </a:ln>
        </p:spPr>
      </p:cxnSp>
      <p:cxnSp>
        <p:nvCxnSpPr>
          <p:cNvPr id="322" name="Google Shape;271;p18"/>
          <p:cNvCxnSpPr>
            <a:stCxn xmlns:a="http://schemas.openxmlformats.org/drawingml/2006/main" id="265" idx="2"/>
            <a:endCxn xmlns:a="http://schemas.openxmlformats.org/drawingml/2006/main" id="258" idx="0"/>
          </p:cNvCxnSpPr>
          <p:nvPr/>
        </p:nvCxnSpPr>
        <p:spPr>
          <a:xfrm xmlns:a="http://schemas.openxmlformats.org/drawingml/2006/main">
            <a:off x="9310440" y="2373913"/>
            <a:ext cx="0" cy="4911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7F7F7F"/>
            </a:solidFill>
            <a:prstDash val="dot"/>
            <a:miter/>
            <a:headEnd type="oval" w="med" len="med"/>
            <a:tailEnd type="none" w="sm" len="sm"/>
          </a:ln>
        </p:spPr>
      </p:cxnSp>
      <p:cxnSp>
        <p:nvCxnSpPr>
          <p:cNvPr id="323" name="Google Shape;272;p18"/>
          <p:cNvCxnSpPr>
            <a:stCxn xmlns:a="http://schemas.openxmlformats.org/drawingml/2006/main" id="264" idx="2"/>
            <a:endCxn xmlns:a="http://schemas.openxmlformats.org/drawingml/2006/main" id="263" idx="0"/>
          </p:cNvCxnSpPr>
          <p:nvPr/>
        </p:nvCxnSpPr>
        <p:spPr>
          <a:xfrm xmlns:a="http://schemas.openxmlformats.org/drawingml/2006/main">
            <a:off x="6774848" y="2389094"/>
            <a:ext cx="0" cy="4692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7F7F7F"/>
            </a:solidFill>
            <a:prstDash val="dot"/>
            <a:miter/>
            <a:headEnd type="oval" w="med" len="med"/>
            <a:tailEnd type="none" w="sm" len="sm"/>
          </a:ln>
        </p:spPr>
      </p:cxnSp>
      <p:sp>
        <p:nvSpPr>
          <p:cNvPr id="262" name="Google Shape;262;p18">
            <a:extLst xmlns:a="http://schemas.openxmlformats.org/drawingml/2006/main">
              <a:ext uri="{FF2B5EF4-FFF2-40B4-BE49-F238E27FC236}">
                <a16:creationId xmlns:a16="http://schemas.microsoft.com/office/drawing/2014/main" id="{8DBB2B6D-0B2A-4033-8544-9CC5F305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3386" y="2857500"/>
            <a:ext cx="540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7F7F"/>
          </a:solidFill>
          <a:ln xmlns:a="http://schemas.openxmlformats.org/drawingml/2006/main" w="12700" cmpd="sng">
            <a:solidFill>
              <a:srgbClr val="7F7F7F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63" name="Google Shape;263;p18">
            <a:extLst xmlns:a="http://schemas.openxmlformats.org/drawingml/2006/main">
              <a:ext uri="{FF2B5EF4-FFF2-40B4-BE49-F238E27FC236}">
                <a16:creationId xmlns:a16="http://schemas.microsoft.com/office/drawing/2014/main" id="{1FF6B3E5-F051-48F1-AA08-D8886D51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4848" y="2858215"/>
            <a:ext cx="540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7F7F"/>
          </a:solidFill>
          <a:ln xmlns:a="http://schemas.openxmlformats.org/drawingml/2006/main" w="12700" cmpd="sng">
            <a:solidFill>
              <a:srgbClr val="7F7F7F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8" name="Google Shape;258;p18">
            <a:extLst xmlns:a="http://schemas.openxmlformats.org/drawingml/2006/main">
              <a:ext uri="{FF2B5EF4-FFF2-40B4-BE49-F238E27FC236}">
                <a16:creationId xmlns:a16="http://schemas.microsoft.com/office/drawing/2014/main" id="{34CDEB3D-F2BE-4DC7-A1AA-FF58B25C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440" y="2864968"/>
            <a:ext cx="540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7F7F"/>
          </a:solidFill>
          <a:ln xmlns:a="http://schemas.openxmlformats.org/drawingml/2006/main" w="12700" cmpd="sng">
            <a:solidFill>
              <a:srgbClr val="7F7F7F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cxnSp>
        <p:nvCxnSpPr>
          <p:cNvPr id="327" name="Google Shape;273;p18"/>
          <p:cNvCxnSpPr>
            <a:stCxn xmlns:a="http://schemas.openxmlformats.org/drawingml/2006/main" id="262" idx="4"/>
            <a:endCxn xmlns:a="http://schemas.openxmlformats.org/drawingml/2006/main" id="258" idx="3"/>
          </p:cNvCxnSpPr>
          <p:nvPr/>
        </p:nvCxnSpPr>
        <p:spPr>
          <a:xfrm xmlns:a="http://schemas.openxmlformats.org/drawingml/2006/main" rot="-5400000">
            <a:off x="6733086" y="1047000"/>
            <a:ext cx="76800" cy="4696200"/>
          </a:xfrm>
          <a:prstGeom xmlns:a="http://schemas.openxmlformats.org/drawingml/2006/main" prst="bentConnector3">
            <a:avLst>
              <a:gd name="adj1" fmla="val -819349"/>
            </a:avLst>
          </a:prstGeom>
          <a:ln xmlns:a="http://schemas.openxmlformats.org/drawingml/2006/main" w="38100" cap="flat">
            <a:solidFill>
              <a:srgbClr val="7F7F7F"/>
            </a:solidFill>
            <a:prstDash val="solid"/>
            <a:miter/>
            <a:headEnd type="none" w="sm" len="sm"/>
            <a:tailEnd type="stealth" w="med" len="med"/>
          </a:ln>
        </p:spPr>
      </p:cxnSp>
      <p:cxnSp>
        <p:nvCxnSpPr>
          <p:cNvPr id="328" name="Google Shape;274;p18"/>
          <p:cNvCxnSpPr>
            <a:stCxn xmlns:a="http://schemas.openxmlformats.org/drawingml/2006/main" id="263" idx="6"/>
            <a:endCxn xmlns:a="http://schemas.openxmlformats.org/drawingml/2006/main" id="258" idx="2"/>
          </p:cNvCxnSpPr>
          <p:nvPr/>
        </p:nvCxnSpPr>
        <p:spPr>
          <a:xfrm xmlns:a="http://schemas.openxmlformats.org/drawingml/2006/main">
            <a:off x="7044848" y="3146215"/>
            <a:ext cx="1995600" cy="69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7F7F7F"/>
            </a:solidFill>
            <a:prstDash val="solid"/>
            <a:miter/>
            <a:headEnd type="none" w="sm" len="sm"/>
            <a:tailEnd type="stealth" w="med" len="med"/>
          </a:ln>
        </p:spPr>
      </p:cxnSp>
      <p:cxnSp>
        <p:nvCxnSpPr>
          <p:cNvPr id="329" name="Google Shape;275;p18"/>
          <p:cNvCxnSpPr>
            <a:stCxn xmlns:a="http://schemas.openxmlformats.org/drawingml/2006/main" id="266" idx="6"/>
            <a:endCxn xmlns:a="http://schemas.openxmlformats.org/drawingml/2006/main" id="259" idx="2"/>
          </p:cNvCxnSpPr>
          <p:nvPr/>
        </p:nvCxnSpPr>
        <p:spPr>
          <a:xfrm xmlns:a="http://schemas.openxmlformats.org/drawingml/2006/main">
            <a:off x="1061352" y="3145500"/>
            <a:ext cx="1005900" cy="75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7F7F7F"/>
            </a:solidFill>
            <a:prstDash val="solid"/>
            <a:miter/>
            <a:headEnd type="none" w="sm" len="sm"/>
            <a:tailEnd type="stealth" w="med" len="med"/>
          </a:ln>
        </p:spPr>
      </p:cxnSp>
      <p:sp>
        <p:nvSpPr>
          <p:cNvPr id="276" name="Google Shape;276;p18">
            <a:extLst xmlns:a="http://schemas.openxmlformats.org/drawingml/2006/main">
              <a:ext uri="{FF2B5EF4-FFF2-40B4-BE49-F238E27FC236}">
                <a16:creationId xmlns:a16="http://schemas.microsoft.com/office/drawing/2014/main" id="{7E525657-ABF1-4D46-AA92-A901CBAE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806" y="4100669"/>
            <a:ext cx="2943684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NOT APPLICABLE | ACCEPTED</a:t>
            </a:r>
          </a:p>
        </p:txBody>
      </p:sp>
      <p:sp>
        <p:nvSpPr>
          <p:cNvPr id="277" name="Google Shape;277;p18">
            <a:extLst xmlns:a="http://schemas.openxmlformats.org/drawingml/2006/main">
              <a:ext uri="{FF2B5EF4-FFF2-40B4-BE49-F238E27FC236}">
                <a16:creationId xmlns:a16="http://schemas.microsoft.com/office/drawing/2014/main" id="{D7C02E1B-E362-4D98-A7D7-DFD30E03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3856" y="3192213"/>
            <a:ext cx="1702221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FIXED</a:t>
            </a:r>
            <a:r>
              <a:rPr sz="1200" b="0" i="1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 | </a:t>
            </a:r>
            <a:r>
              <a:rPr sz="1200" b="0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MITIGATED</a:t>
            </a:r>
          </a:p>
        </p:txBody>
      </p:sp>
      <p:sp>
        <p:nvSpPr>
          <p:cNvPr id="259" name="Google Shape;259;p18">
            <a:extLst xmlns:a="http://schemas.openxmlformats.org/drawingml/2006/main">
              <a:ext uri="{FF2B5EF4-FFF2-40B4-BE49-F238E27FC236}">
                <a16:creationId xmlns:a16="http://schemas.microsoft.com/office/drawing/2014/main" id="{1836CB27-5F23-4488-B97B-AEBFE748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369" y="2864968"/>
            <a:ext cx="540000" cy="57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BAB7"/>
          </a:solidFill>
          <a:ln xmlns:a="http://schemas.openxmlformats.org/drawingml/2006/main" w="12700" cmpd="sng">
            <a:solidFill>
              <a:srgbClr val="41BAB7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333" name="Google Shape;278;p18"/>
          <p:cNvCxnSpPr>
            <a:stCxn xmlns:a="http://schemas.openxmlformats.org/drawingml/2006/main" id="259" idx="6"/>
            <a:endCxn xmlns:a="http://schemas.openxmlformats.org/drawingml/2006/main" id="262" idx="2"/>
          </p:cNvCxnSpPr>
          <p:nvPr/>
        </p:nvCxnSpPr>
        <p:spPr>
          <a:xfrm xmlns:a="http://schemas.openxmlformats.org/drawingml/2006/main" rot="10800000" flipH="1">
            <a:off x="2607369" y="3145468"/>
            <a:ext cx="1545900" cy="75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41BAB7"/>
            </a:solidFill>
            <a:prstDash val="solid"/>
            <a:miter/>
            <a:headEnd type="none" w="sm" len="sm"/>
            <a:tailEnd type="stealth" w="med" len="med"/>
          </a:ln>
        </p:spPr>
      </p:cxnSp>
      <p:cxnSp>
        <p:nvCxnSpPr>
          <p:cNvPr id="334" name="Google Shape;279;p18"/>
          <p:cNvCxnSpPr>
            <a:stCxn xmlns:a="http://schemas.openxmlformats.org/drawingml/2006/main" id="280" idx="2"/>
            <a:endCxn xmlns:a="http://schemas.openxmlformats.org/drawingml/2006/main" id="259" idx="0"/>
          </p:cNvCxnSpPr>
          <p:nvPr/>
        </p:nvCxnSpPr>
        <p:spPr>
          <a:xfrm xmlns:a="http://schemas.openxmlformats.org/drawingml/2006/main">
            <a:off x="2337369" y="1658132"/>
            <a:ext cx="0" cy="12069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3FBAB7"/>
            </a:solidFill>
            <a:prstDash val="dot"/>
            <a:miter/>
            <a:headEnd type="oval" w="med" len="med"/>
            <a:tailEnd type="none" w="sm" len="sm"/>
          </a:ln>
        </p:spPr>
      </p:cxnSp>
      <p:sp>
        <p:nvSpPr>
          <p:cNvPr id="280" name="Google Shape;280;p18">
            <a:extLst xmlns:a="http://schemas.openxmlformats.org/drawingml/2006/main">
              <a:ext uri="{FF2B5EF4-FFF2-40B4-BE49-F238E27FC236}">
                <a16:creationId xmlns:a16="http://schemas.microsoft.com/office/drawing/2014/main" id="{43433DDA-A1DB-4B8E-B78D-11762218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285" y="1011801"/>
            <a:ext cx="1512168" cy="646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FBAB7"/>
                </a:solidFill>
                <a:latin typeface="Arial"/>
                <a:ea typeface="Arial"/>
                <a:cs typeface="Arial"/>
              </a:rPr>
              <a:t>VULNERABILITY 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3FBAB7"/>
                </a:solidFill>
                <a:latin typeface="Arial"/>
                <a:ea typeface="Arial"/>
                <a:cs typeface="Arial"/>
              </a:rPr>
              <a:t>PRE-TRIAGE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336" name="Google Shape;281;p18"/>
          <p:cNvCxnSpPr>
            <a:stCxn xmlns:a="http://schemas.openxmlformats.org/drawingml/2006/main" id="259" idx="4"/>
            <a:endCxn xmlns:a="http://schemas.openxmlformats.org/drawingml/2006/main" id="258" idx="4"/>
          </p:cNvCxnSpPr>
          <p:nvPr/>
        </p:nvCxnSpPr>
        <p:spPr>
          <a:xfrm xmlns:a="http://schemas.openxmlformats.org/drawingml/2006/main" rot="-5400000" flipH="1">
            <a:off x="5823669" y="-45332"/>
            <a:ext cx="600" cy="6973200"/>
          </a:xfrm>
          <a:prstGeom xmlns:a="http://schemas.openxmlformats.org/drawingml/2006/main" prst="bentConnector3">
            <a:avLst>
              <a:gd name="adj1" fmla="val 208949249"/>
            </a:avLst>
          </a:prstGeom>
          <a:ln xmlns:a="http://schemas.openxmlformats.org/drawingml/2006/main" w="38100" cap="flat">
            <a:solidFill>
              <a:srgbClr val="3FBAB7"/>
            </a:solidFill>
            <a:prstDash val="solid"/>
            <a:miter/>
            <a:headEnd type="none" w="sm" len="sm"/>
            <a:tailEnd type="stealth" w="med" len="med"/>
          </a:ln>
        </p:spPr>
      </p:cxnSp>
      <p:sp>
        <p:nvSpPr>
          <p:cNvPr id="282" name="Google Shape;282;p18">
            <a:extLst xmlns:a="http://schemas.openxmlformats.org/drawingml/2006/main">
              <a:ext uri="{FF2B5EF4-FFF2-40B4-BE49-F238E27FC236}">
                <a16:creationId xmlns:a16="http://schemas.microsoft.com/office/drawing/2014/main" id="{287D2C2A-483C-4871-9E94-AE749E9B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5447" y="4814341"/>
            <a:ext cx="2943684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rPr>
              <a:t>LOW PRIORITY = ACCEPTED</a:t>
            </a:r>
          </a:p>
        </p:txBody>
      </p:sp>
      <p:sp>
        <p:nvSpPr>
          <p:cNvPr id="283" name="Google Shape;283;p18">
            <a:extLst xmlns:a="http://schemas.openxmlformats.org/drawingml/2006/main">
              <a:ext uri="{FF2B5EF4-FFF2-40B4-BE49-F238E27FC236}">
                <a16:creationId xmlns:a16="http://schemas.microsoft.com/office/drawing/2014/main" id="{D6E83E4B-6BC4-403D-8FE3-951D5644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747" y="3188512"/>
            <a:ext cx="1531639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rPr>
              <a:t>HIGH PRIORITY</a:t>
            </a:r>
          </a:p>
        </p:txBody>
      </p:sp>
      <p:sp>
        <p:nvSpPr>
          <p:cNvPr id="284" name="Google Shape;284;p18">
            <a:extLst xmlns:a="http://schemas.openxmlformats.org/drawingml/2006/main">
              <a:ext uri="{FF2B5EF4-FFF2-40B4-BE49-F238E27FC236}">
                <a16:creationId xmlns:a16="http://schemas.microsoft.com/office/drawing/2014/main" id="{C25AAE9F-B3A9-4C66-A3F3-3DB3434E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531" y="3188512"/>
            <a:ext cx="1232821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ALL VULNs</a:t>
            </a:r>
          </a:p>
        </p:txBody>
      </p:sp>
      <p:sp>
        <p:nvSpPr>
          <p:cNvPr id="285" name="Google Shape;285;p18">
            <a:extLst xmlns:a="http://schemas.openxmlformats.org/drawingml/2006/main">
              <a:ext uri="{FF2B5EF4-FFF2-40B4-BE49-F238E27FC236}">
                <a16:creationId xmlns:a16="http://schemas.microsoft.com/office/drawing/2014/main" id="{B1EDF765-2594-4142-AAC9-E36C356C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4294" y="2346347"/>
            <a:ext cx="1531639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rPr>
              <a:t>RE-EVALUATE</a:t>
            </a:r>
          </a:p>
        </p:txBody>
      </p:sp>
      <p:sp>
        <p:nvSpPr>
          <p:cNvPr id="286" name="Google Shape;286;p18">
            <a:extLst xmlns:a="http://schemas.openxmlformats.org/drawingml/2006/main">
              <a:ext uri="{FF2B5EF4-FFF2-40B4-BE49-F238E27FC236}">
                <a16:creationId xmlns:a16="http://schemas.microsoft.com/office/drawing/2014/main" id="{92CB964F-0A44-43C3-8BAF-0F6B5C5898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4E99CEF-AF55-BA3C-ADF8-4E52E186DD8F}" type="slidenum">
              <a:t>23</a:t>
            </a:fld>
          </a:p>
        </p:txBody>
      </p:sp>
    </p:spTree>
    <p:extLst>
      <p:ext uri="{BB962C8B-B14F-4D97-AF65-F5344CB8AC3E}">
        <p14:creationId xmlns:p14="http://schemas.microsoft.com/office/powerpoint/2010/main" val="175146525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1" name="Google Shape;291;p19">
            <a:extLst xmlns:a="http://schemas.openxmlformats.org/drawingml/2006/main">
              <a:ext uri="{FF2B5EF4-FFF2-40B4-BE49-F238E27FC236}">
                <a16:creationId xmlns:a16="http://schemas.microsoft.com/office/drawing/2014/main" id="{089B9345-0A6A-439B-A81B-58513C5A32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5654" y="1123284"/>
            <a:ext cx="5334426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t>2775 identified vulnerabilities</a:t>
            </a:r>
          </a:p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t>Prioritization based on Severity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CVSS Score &gt; 7.0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>
                <a:solidFill>
                  <a:srgbClr val="C00000"/>
                </a:solidFill>
              </a:rPr>
              <a:t>27 Critical Severity (1%)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>
                <a:solidFill>
                  <a:srgbClr val="FF0000"/>
                </a:solidFill>
              </a:rPr>
              <a:t>807 High Severity (29.1%)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>
                <a:solidFill>
                  <a:srgbClr val="7F7F7F"/>
                </a:solidFill>
              </a:rPr>
              <a:t>834 vulnerabilities to be triaged ASAP</a:t>
            </a:r>
          </a:p>
          <a:p xmlns:a="http://schemas.openxmlformats.org/drawingml/2006/main">
            <a:pPr marL="533400" indent="-1333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533400" indent="-1333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269875" indent="-1174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</a:p>
        </p:txBody>
      </p:sp>
      <p:sp>
        <p:nvSpPr>
          <p:cNvPr id="292" name="Google Shape;292;p19">
            <a:extLst xmlns:a="http://schemas.openxmlformats.org/drawingml/2006/main">
              <a:ext uri="{FF2B5EF4-FFF2-40B4-BE49-F238E27FC236}">
                <a16:creationId xmlns:a16="http://schemas.microsoft.com/office/drawing/2014/main" id="{992AC697-8EFF-43FD-A916-160B915A76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56" y="131946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YOCTO Connected Device</a:t>
            </a:r>
          </a:p>
        </p:txBody>
      </p:sp>
      <p:sp>
        <p:nvSpPr>
          <p:cNvPr id="293" name="Google Shape;293;p19">
            <a:extLst xmlns:a="http://schemas.openxmlformats.org/drawingml/2006/main">
              <a:ext uri="{FF2B5EF4-FFF2-40B4-BE49-F238E27FC236}">
                <a16:creationId xmlns:a16="http://schemas.microsoft.com/office/drawing/2014/main" id="{0DDB9502-92D4-4D08-94B2-D1F4527FCA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4A59AF09-D197-0193-A7DE-FAAF0B691058}" type="slidenum">
              <a:t>24</a:t>
            </a:fld>
          </a:p>
        </p:txBody>
      </p:sp>
      <p:pic>
        <p:nvPicPr>
          <p:cNvPr id="312" name="Google Shape;294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ec61b56d4984b5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57751" y="1119334"/>
            <a:ext cx="3705464" cy="21602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95" name="Google Shape;295;p19">
            <a:extLst xmlns:a="http://schemas.openxmlformats.org/drawingml/2006/main">
              <a:ext uri="{FF2B5EF4-FFF2-40B4-BE49-F238E27FC236}">
                <a16:creationId xmlns:a16="http://schemas.microsoft.com/office/drawing/2014/main" id="{E774E011-4E65-41DB-99D4-A5FB1B21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83" y="1248001"/>
            <a:ext cx="184731" cy="523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14" name="Google Shape;296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423e441c56c464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68232" y="3630103"/>
            <a:ext cx="2664296" cy="15346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cxnSp>
        <p:nvCxnSpPr>
          <p:cNvPr id="315" name="Google Shape;297;p19"/>
          <p:cNvCxnSpPr>
            <a:endCxn xmlns:a="http://schemas.openxmlformats.org/drawingml/2006/main" id="296" idx="1"/>
          </p:cNvCxnSpPr>
          <p:nvPr/>
        </p:nvCxnSpPr>
        <p:spPr>
          <a:xfrm xmlns:a="http://schemas.openxmlformats.org/drawingml/2006/main" rot="-5400000" flipH="1">
            <a:off x="6434282" y="3663471"/>
            <a:ext cx="1251900" cy="216000"/>
          </a:xfrm>
          <a:prstGeom xmlns:a="http://schemas.openxmlformats.org/drawingml/2006/main" prst="bentConnector2">
            <a:avLst/>
          </a:prstGeom>
          <a:ln xmlns:a="http://schemas.openxmlformats.org/drawingml/2006/main" w="22225" cap="flat">
            <a:solidFill>
              <a:schemeClr val="accent2"/>
            </a:solidFill>
            <a:prstDash val="solid"/>
            <a:miter/>
            <a:headEnd type="oval" w="med" len="med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13050565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0" name="Google Shape;302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91957e8d57e4c8d">
            <a:alphaModFix/>
          </a:blip>
          <a:srcRect xmlns:a="http://schemas.openxmlformats.org/drawingml/2006/main" l="0" t="9137" r="0" b="0"/>
          <a:stretch xmlns:a="http://schemas.openxmlformats.org/drawingml/2006/main"/>
        </p:blipFill>
        <p:spPr>
          <a:xfrm xmlns:a="http://schemas.openxmlformats.org/drawingml/2006/main">
            <a:off x="5601178" y="1123284"/>
            <a:ext cx="3816424" cy="20216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11" name="Google Shape;303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befababd2d34938">
            <a:alphaModFix/>
          </a:blip>
          <a:srcRect xmlns:a="http://schemas.openxmlformats.org/drawingml/2006/main" l="0" t="8239" r="0" b="6750"/>
          <a:stretch xmlns:a="http://schemas.openxmlformats.org/drawingml/2006/main"/>
        </p:blipFill>
        <p:spPr>
          <a:xfrm xmlns:a="http://schemas.openxmlformats.org/drawingml/2006/main">
            <a:off x="5785576" y="3073524"/>
            <a:ext cx="3928739" cy="19471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04" name="Google Shape;304;p20">
            <a:extLst xmlns:a="http://schemas.openxmlformats.org/drawingml/2006/main">
              <a:ext uri="{FF2B5EF4-FFF2-40B4-BE49-F238E27FC236}">
                <a16:creationId xmlns:a16="http://schemas.microsoft.com/office/drawing/2014/main" id="{09B196D0-42EA-437B-85A3-D5127A5DFD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5654" y="1123284"/>
            <a:ext cx="5622458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2000"/>
              <a:t>2775 identified vulnerabilities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</a:p>
        </p:txBody>
      </p:sp>
      <p:sp>
        <p:nvSpPr>
          <p:cNvPr id="305" name="Google Shape;305;p20">
            <a:extLst xmlns:a="http://schemas.openxmlformats.org/drawingml/2006/main">
              <a:ext uri="{FF2B5EF4-FFF2-40B4-BE49-F238E27FC236}">
                <a16:creationId xmlns:a16="http://schemas.microsoft.com/office/drawing/2014/main" id="{E86FBFFF-2AC6-4D2A-8EE0-9CDB34E74E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56" y="131946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YOCTO Connected Device</a:t>
            </a:r>
          </a:p>
        </p:txBody>
      </p:sp>
      <p:sp>
        <p:nvSpPr>
          <p:cNvPr id="306" name="Google Shape;306;p20">
            <a:extLst xmlns:a="http://schemas.openxmlformats.org/drawingml/2006/main">
              <a:ext uri="{FF2B5EF4-FFF2-40B4-BE49-F238E27FC236}">
                <a16:creationId xmlns:a16="http://schemas.microsoft.com/office/drawing/2014/main" id="{0347BB23-A670-4F3D-B34E-9A92688476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F3AE1AE4-D79E-94D6-E825-3FC6C21A77D2}" type="slidenum">
              <a:t>25</a:t>
            </a:fld>
          </a:p>
        </p:txBody>
      </p:sp>
      <p:sp>
        <p:nvSpPr>
          <p:cNvPr id="307" name="Google Shape;307;p20">
            <a:extLst xmlns:a="http://schemas.openxmlformats.org/drawingml/2006/main">
              <a:ext uri="{FF2B5EF4-FFF2-40B4-BE49-F238E27FC236}">
                <a16:creationId xmlns:a16="http://schemas.microsoft.com/office/drawing/2014/main" id="{FBD45954-C4C4-499A-B624-1B2078E9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13" y="1345332"/>
            <a:ext cx="5622458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269875" indent="-2063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sz="2000" b="0" i="0" u="none" cap="none">
                <a:solidFill>
                  <a:srgbClr val="C00000"/>
                </a:solidFill>
                <a:latin typeface="Montserrat"/>
                <a:ea typeface="Montserrat"/>
                <a:cs typeface="Montserrat"/>
              </a:rPr>
              <a:t>Prioritization based on Severity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 b="0" i="0" u="none" cap="none">
                <a:solidFill>
                  <a:schemeClr val="accent6"/>
                </a:solidFill>
                <a:latin typeface="Montserrat"/>
                <a:ea typeface="Montserrat"/>
                <a:cs typeface="Montserrat"/>
              </a:rPr>
              <a:t>CVSS Score &gt; 7.0 (Critical &amp; High)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 b="0" i="0" u="none" cap="none">
                <a:solidFill>
                  <a:srgbClr val="C00000"/>
                </a:solidFill>
                <a:latin typeface="Montserrat"/>
                <a:ea typeface="Montserrat"/>
                <a:cs typeface="Montserrat"/>
              </a:rPr>
              <a:t>834 vulnerabilities to triage ASAP (1% + 29.1%)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sz="20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rPr>
              <a:t>Prioritization based on Exploitability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 b="0" i="0" u="none" cap="none">
                <a:solidFill>
                  <a:schemeClr val="accent6"/>
                </a:solidFill>
                <a:latin typeface="Montserrat"/>
                <a:ea typeface="Montserrat"/>
                <a:cs typeface="Montserrat"/>
              </a:rPr>
              <a:t>Proof of Exploitation or Weaponized exploit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 b="0" i="0" u="none" cap="none">
                <a:solidFill>
                  <a:schemeClr val="accent6"/>
                </a:solidFill>
                <a:latin typeface="Montserrat"/>
                <a:ea typeface="Montserrat"/>
                <a:cs typeface="Montserrat"/>
              </a:rPr>
              <a:t>Attack Vector reachable by an attacker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600" b="0" i="0" u="none" cap="none">
                <a:solidFill>
                  <a:schemeClr val="dk2"/>
                </a:solidFill>
                <a:latin typeface="Montserrat"/>
                <a:ea typeface="Montserrat"/>
                <a:cs typeface="Montserrat"/>
              </a:rPr>
              <a:t>10 vulnerabilities to triage ASAP (0.4%)</a:t>
            </a:r>
          </a:p>
          <a:p xmlns:a="http://schemas.openxmlformats.org/drawingml/2006/main">
            <a:pPr marL="269875" indent="-1174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84591640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2" name="Google Shape;312;p21">
            <a:extLst xmlns:a="http://schemas.openxmlformats.org/drawingml/2006/main">
              <a:ext uri="{FF2B5EF4-FFF2-40B4-BE49-F238E27FC236}">
                <a16:creationId xmlns:a16="http://schemas.microsoft.com/office/drawing/2014/main" id="{245C0EB3-0EFE-48F5-B04B-9890AF84A9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5654" y="1123284"/>
            <a:ext cx="9202092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2000"/>
              <a:t>ARIANNA KEV contains vulnerabilities with </a:t>
            </a:r>
            <a:r>
              <a:rPr sz="2000">
                <a:solidFill>
                  <a:schemeClr val="dk2"/>
                </a:solidFill>
              </a:rPr>
              <a:t>evidence of exploitation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400"/>
              <a:t>Vulnerabilities contained in the CISA KEV catalogue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400"/>
              <a:t>Vulnerabilities  with proof of exploitation according to European Vulnerabilities Database (EUVD)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400"/>
              <a:t>Vulnerabilities with a weaponized  or verified exploit detected by ARIANNA</a:t>
            </a:r>
          </a:p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sz="2000">
                <a:solidFill>
                  <a:schemeClr val="accent3"/>
                </a:solidFill>
              </a:rPr>
              <a:t>Broader and faster coverage </a:t>
            </a:r>
            <a:r>
              <a:rPr sz="2000"/>
              <a:t>than CISA KEV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400"/>
              <a:t>Accelerate prioritization and remediation</a:t>
            </a:r>
          </a:p>
          <a:p xmlns:a="http://schemas.openxmlformats.org/drawingml/2006/main">
            <a:pPr marL="533400" indent="-1714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533400" indent="-1333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</a:pPr>
          </a:p>
        </p:txBody>
      </p:sp>
      <p:sp>
        <p:nvSpPr>
          <p:cNvPr id="313" name="Google Shape;313;p21">
            <a:extLst xmlns:a="http://schemas.openxmlformats.org/drawingml/2006/main">
              <a:ext uri="{FF2B5EF4-FFF2-40B4-BE49-F238E27FC236}">
                <a16:creationId xmlns:a16="http://schemas.microsoft.com/office/drawing/2014/main" id="{3A0BCE9D-5FD8-46BC-BFE8-53E6A03FA3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56" y="131946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ARIANNA KEV catalogue</a:t>
            </a:r>
          </a:p>
        </p:txBody>
      </p:sp>
      <p:sp>
        <p:nvSpPr>
          <p:cNvPr id="314" name="Google Shape;314;p21">
            <a:extLst xmlns:a="http://schemas.openxmlformats.org/drawingml/2006/main">
              <a:ext uri="{FF2B5EF4-FFF2-40B4-BE49-F238E27FC236}">
                <a16:creationId xmlns:a16="http://schemas.microsoft.com/office/drawing/2014/main" id="{6DEF3493-F287-4F53-9390-5D26596DA0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5AB55966-FA28-BC73-EA9E-53DF014DF033}" type="slidenum">
              <a:t>26</a:t>
            </a:fld>
          </a:p>
        </p:txBody>
      </p:sp>
    </p:spTree>
    <p:extLst>
      <p:ext uri="{BB962C8B-B14F-4D97-AF65-F5344CB8AC3E}">
        <p14:creationId xmlns:p14="http://schemas.microsoft.com/office/powerpoint/2010/main" val="220308283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9" name="Google Shape;319;p22">
            <a:extLst xmlns:a="http://schemas.openxmlformats.org/drawingml/2006/main">
              <a:ext uri="{FF2B5EF4-FFF2-40B4-BE49-F238E27FC236}">
                <a16:creationId xmlns:a16="http://schemas.microsoft.com/office/drawing/2014/main" id="{FDF98A8B-3C06-4B0A-A337-B010331136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5531" y="1428344"/>
            <a:ext cx="8406209" cy="1765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/>
              <a:t>4. Reporting</a:t>
            </a:r>
          </a:p>
        </p:txBody>
      </p:sp>
      <p:sp>
        <p:nvSpPr>
          <p:cNvPr id="320" name="Google Shape;320;p22">
            <a:extLst xmlns:a="http://schemas.openxmlformats.org/drawingml/2006/main">
              <a:ext uri="{FF2B5EF4-FFF2-40B4-BE49-F238E27FC236}">
                <a16:creationId xmlns:a16="http://schemas.microsoft.com/office/drawing/2014/main" id="{5A860BD1-9F5F-4CD6-8BB7-637F79761E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5531" y="3137318"/>
            <a:ext cx="8406209" cy="413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How to export HBOM, SBOM and vulnerabilities report</a:t>
            </a:r>
          </a:p>
        </p:txBody>
      </p:sp>
    </p:spTree>
    <p:extLst>
      <p:ext uri="{BB962C8B-B14F-4D97-AF65-F5344CB8AC3E}">
        <p14:creationId xmlns:p14="http://schemas.microsoft.com/office/powerpoint/2010/main" val="713809811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5" name="Google Shape;325;p23">
            <a:extLst xmlns:a="http://schemas.openxmlformats.org/drawingml/2006/main">
              <a:ext uri="{FF2B5EF4-FFF2-40B4-BE49-F238E27FC236}">
                <a16:creationId xmlns:a16="http://schemas.microsoft.com/office/drawing/2014/main" id="{92C1C6CB-3EE8-4881-BCE4-2277FEAD0C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5654" y="1123284"/>
            <a:ext cx="9202092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t>SBOM (and HBOM) export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Standard formats (CycloneDX or SPDX)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NTIA Minimum Requirements satisfied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Possibility to exclude components from the exported SBOM</a:t>
            </a:r>
          </a:p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t>Vulnerability Report export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Report on-demand (PDF or VEX format)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Automatic monthly report (PDF format)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All actions taken on vulnerabilities are logged</a:t>
            </a:r>
          </a:p>
          <a:p xmlns:a="http://schemas.openxmlformats.org/drawingml/2006/main">
            <a:pPr marL="804863" indent="-233363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Notification date, Closure date, Status change dates</a:t>
            </a:r>
          </a:p>
          <a:p xmlns:a="http://schemas.openxmlformats.org/drawingml/2006/main">
            <a:pPr marL="533400" indent="-1333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285750" indent="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533400" indent="-1333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</a:pPr>
          </a:p>
        </p:txBody>
      </p:sp>
      <p:sp>
        <p:nvSpPr>
          <p:cNvPr id="326" name="Google Shape;326;p23">
            <a:extLst xmlns:a="http://schemas.openxmlformats.org/drawingml/2006/main">
              <a:ext uri="{FF2B5EF4-FFF2-40B4-BE49-F238E27FC236}">
                <a16:creationId xmlns:a16="http://schemas.microsoft.com/office/drawing/2014/main" id="{1ACA40A4-6EB6-4F4A-83D9-72C00C395F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56" y="131946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Reports for customers &amp; regulatory bodies</a:t>
            </a:r>
          </a:p>
        </p:txBody>
      </p:sp>
      <p:sp>
        <p:nvSpPr>
          <p:cNvPr id="327" name="Google Shape;327;p23">
            <a:extLst xmlns:a="http://schemas.openxmlformats.org/drawingml/2006/main">
              <a:ext uri="{FF2B5EF4-FFF2-40B4-BE49-F238E27FC236}">
                <a16:creationId xmlns:a16="http://schemas.microsoft.com/office/drawing/2014/main" id="{CB2EFBBD-EF80-4824-97E5-C06B9CAFED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8AD4375-9F50-F53A-6F9F-DD8473067C05}" type="slidenum">
              <a:t>28</a:t>
            </a:fld>
          </a:p>
        </p:txBody>
      </p:sp>
    </p:spTree>
    <p:extLst>
      <p:ext uri="{BB962C8B-B14F-4D97-AF65-F5344CB8AC3E}">
        <p14:creationId xmlns:p14="http://schemas.microsoft.com/office/powerpoint/2010/main" val="1723711617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2" name="Google Shape;332;p24">
            <a:extLst xmlns:a="http://schemas.openxmlformats.org/drawingml/2006/main">
              <a:ext uri="{FF2B5EF4-FFF2-40B4-BE49-F238E27FC236}">
                <a16:creationId xmlns:a16="http://schemas.microsoft.com/office/drawing/2014/main" id="{B01A6B47-A876-490E-8D7B-32B77FC29C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5531" y="1428344"/>
            <a:ext cx="8406209" cy="1765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/>
            <a:r>
              <a:rPr sz="2800"/>
              <a:t>5. Collaboration among teams</a:t>
            </a:r>
          </a:p>
        </p:txBody>
      </p:sp>
      <p:sp>
        <p:nvSpPr>
          <p:cNvPr id="333" name="Google Shape;333;p24">
            <a:extLst xmlns:a="http://schemas.openxmlformats.org/drawingml/2006/main">
              <a:ext uri="{FF2B5EF4-FFF2-40B4-BE49-F238E27FC236}">
                <a16:creationId xmlns:a16="http://schemas.microsoft.com/office/drawing/2014/main" id="{B76CC0D4-71B2-42E7-912B-5F3B800391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5531" y="3137318"/>
            <a:ext cx="8406209" cy="413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How to share SBOM, and information on vulnerability management</a:t>
            </a:r>
          </a:p>
        </p:txBody>
      </p:sp>
    </p:spTree>
    <p:extLst>
      <p:ext uri="{BB962C8B-B14F-4D97-AF65-F5344CB8AC3E}">
        <p14:creationId xmlns:p14="http://schemas.microsoft.com/office/powerpoint/2010/main" val="72896251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8" name="Google Shape;338;p25">
            <a:extLst xmlns:a="http://schemas.openxmlformats.org/drawingml/2006/main">
              <a:ext uri="{FF2B5EF4-FFF2-40B4-BE49-F238E27FC236}">
                <a16:creationId xmlns:a16="http://schemas.microsoft.com/office/drawing/2014/main" id="{99058AFF-2C59-4780-9713-AFBB346782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5654" y="1123284"/>
            <a:ext cx="9202092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t>ARIANNA Project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Every time a new device need to be monitored, a new Project must be created in ARIANNA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Only selected Users can access to a Project</a:t>
            </a:r>
          </a:p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t>ARIANNA Users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A User can be added to multiple projects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Same User can have different roles in each project:</a:t>
            </a:r>
          </a:p>
          <a:p xmlns:a="http://schemas.openxmlformats.org/drawingml/2006/main">
            <a:pPr marL="804863" indent="-233363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>
                <a:solidFill>
                  <a:schemeClr val="dk2"/>
                </a:solidFill>
              </a:rPr>
              <a:t>OWNER</a:t>
            </a:r>
            <a:r>
              <a:t>: configure project policies, add/remove users, check vulnerabilities and take actions</a:t>
            </a:r>
          </a:p>
          <a:p xmlns:a="http://schemas.openxmlformats.org/drawingml/2006/main">
            <a:pPr marL="804863" indent="-233363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>
                <a:solidFill>
                  <a:schemeClr val="dk2"/>
                </a:solidFill>
              </a:rPr>
              <a:t>MEMBER</a:t>
            </a:r>
            <a:r>
              <a:t>: check identified vulnerabilities and take actions </a:t>
            </a:r>
          </a:p>
          <a:p xmlns:a="http://schemas.openxmlformats.org/drawingml/2006/main">
            <a:pPr marL="804863" indent="-233363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>
                <a:solidFill>
                  <a:schemeClr val="dk2"/>
                </a:solidFill>
              </a:rPr>
              <a:t>OBSERVER</a:t>
            </a:r>
            <a:r>
              <a:t>: check identified vulnerabilities and download reports, SBOM &amp; HBOM</a:t>
            </a:r>
          </a:p>
          <a:p xmlns:a="http://schemas.openxmlformats.org/drawingml/2006/main">
            <a:pPr marL="533400" indent="-1333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</a:pPr>
          </a:p>
        </p:txBody>
      </p:sp>
      <p:sp>
        <p:nvSpPr>
          <p:cNvPr id="339" name="Google Shape;339;p25">
            <a:extLst xmlns:a="http://schemas.openxmlformats.org/drawingml/2006/main">
              <a:ext uri="{FF2B5EF4-FFF2-40B4-BE49-F238E27FC236}">
                <a16:creationId xmlns:a16="http://schemas.microsoft.com/office/drawing/2014/main" id="{A4D11DC6-26A4-404E-A113-CC7AC1BEFB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56" y="131946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Projects &amp; User Roles</a:t>
            </a:r>
          </a:p>
        </p:txBody>
      </p:sp>
      <p:sp>
        <p:nvSpPr>
          <p:cNvPr id="340" name="Google Shape;340;p25">
            <a:extLst xmlns:a="http://schemas.openxmlformats.org/drawingml/2006/main">
              <a:ext uri="{FF2B5EF4-FFF2-40B4-BE49-F238E27FC236}">
                <a16:creationId xmlns:a16="http://schemas.microsoft.com/office/drawing/2014/main" id="{D774CBA0-BD30-4642-8682-736C79E506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5FEBBBCE-9E16-527A-0EE3-E5839422D847}" type="slidenum">
              <a:t>30</a:t>
            </a:fld>
          </a:p>
        </p:txBody>
      </p:sp>
    </p:spTree>
    <p:extLst>
      <p:ext uri="{BB962C8B-B14F-4D97-AF65-F5344CB8AC3E}">
        <p14:creationId xmlns:p14="http://schemas.microsoft.com/office/powerpoint/2010/main" val="1974041199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5" name="Google Shape;345;p26">
            <a:extLst xmlns:a="http://schemas.openxmlformats.org/drawingml/2006/main">
              <a:ext uri="{FF2B5EF4-FFF2-40B4-BE49-F238E27FC236}">
                <a16:creationId xmlns:a16="http://schemas.microsoft.com/office/drawing/2014/main" id="{7EA01923-44A9-4EF1-B279-CDFC301720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56" y="131946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Collaboration among teams in ARIANNA</a:t>
            </a:r>
          </a:p>
        </p:txBody>
      </p:sp>
      <p:sp>
        <p:nvSpPr>
          <p:cNvPr id="346" name="Google Shape;346;p26">
            <a:extLst xmlns:a="http://schemas.openxmlformats.org/drawingml/2006/main">
              <a:ext uri="{FF2B5EF4-FFF2-40B4-BE49-F238E27FC236}">
                <a16:creationId xmlns:a16="http://schemas.microsoft.com/office/drawing/2014/main" id="{07FCE3FA-B77B-4723-8A61-860938258C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D172A7C5-A0CC-7B36-F236-345181E6AD72}" type="slidenum">
              <a:t>31</a:t>
            </a:fld>
          </a:p>
        </p:txBody>
      </p:sp>
      <p:pic>
        <p:nvPicPr>
          <p:cNvPr id="362" name="Google Shape;347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3ed7f9d65fa407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767147" y="1561356"/>
            <a:ext cx="1088503" cy="108850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63" name="Google Shape;348;p2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da36a705a8a42e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771213" y="3354453"/>
            <a:ext cx="1088503" cy="108850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49" name="Google Shape;349;p26">
            <a:extLst xmlns:a="http://schemas.openxmlformats.org/drawingml/2006/main">
              <a:ext uri="{FF2B5EF4-FFF2-40B4-BE49-F238E27FC236}">
                <a16:creationId xmlns:a16="http://schemas.microsoft.com/office/drawing/2014/main" id="{4013BA38-B516-4C36-BEDF-957F2D3E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156" y="2388249"/>
            <a:ext cx="1080120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88B24B"/>
                </a:solidFill>
                <a:latin typeface="Arial"/>
                <a:ea typeface="Arial"/>
                <a:cs typeface="Arial"/>
              </a:rPr>
              <a:t>TEAM A</a:t>
            </a:r>
          </a:p>
        </p:txBody>
      </p:sp>
      <p:sp>
        <p:nvSpPr>
          <p:cNvPr id="350" name="Google Shape;350;p26">
            <a:extLst xmlns:a="http://schemas.openxmlformats.org/drawingml/2006/main">
              <a:ext uri="{FF2B5EF4-FFF2-40B4-BE49-F238E27FC236}">
                <a16:creationId xmlns:a16="http://schemas.microsoft.com/office/drawing/2014/main" id="{C65FD19A-F3D6-4CFE-9867-E39233C9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819" y="1479363"/>
            <a:ext cx="2254199" cy="1198692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19050" cmpd="sng">
            <a:solidFill>
              <a:srgbClr val="B4AFAC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A5A5A5"/>
                </a:solidFill>
                <a:latin typeface="Arial"/>
                <a:ea typeface="Arial"/>
                <a:cs typeface="Arial"/>
              </a:rPr>
              <a:t>PROJECT A</a:t>
            </a:r>
          </a:p>
        </p:txBody>
      </p:sp>
      <p:sp>
        <p:nvSpPr>
          <p:cNvPr id="351" name="Google Shape;351;p26">
            <a:extLst xmlns:a="http://schemas.openxmlformats.org/drawingml/2006/main">
              <a:ext uri="{FF2B5EF4-FFF2-40B4-BE49-F238E27FC236}">
                <a16:creationId xmlns:a16="http://schemas.microsoft.com/office/drawing/2014/main" id="{40F405E0-797A-4F57-97BF-7CD5B2C6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944" y="3258607"/>
            <a:ext cx="2259074" cy="1192795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19050" cmpd="sng">
            <a:solidFill>
              <a:srgbClr val="B4AFAC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A5A5A5"/>
                </a:solidFill>
                <a:latin typeface="Arial"/>
                <a:ea typeface="Arial"/>
                <a:cs typeface="Arial"/>
              </a:rPr>
              <a:t>PROJECT B</a:t>
            </a:r>
          </a:p>
        </p:txBody>
      </p:sp>
      <p:sp>
        <p:nvSpPr>
          <p:cNvPr id="352" name="Google Shape;352;p26">
            <a:extLst xmlns:a="http://schemas.openxmlformats.org/drawingml/2006/main">
              <a:ext uri="{FF2B5EF4-FFF2-40B4-BE49-F238E27FC236}">
                <a16:creationId xmlns:a16="http://schemas.microsoft.com/office/drawing/2014/main" id="{14D1AFEB-CC9E-4A7D-AF73-2ADCF6CC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390" y="1652549"/>
            <a:ext cx="864096" cy="72007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SBOM &amp; HBOM</a:t>
            </a:r>
          </a:p>
        </p:txBody>
      </p:sp>
      <p:sp>
        <p:nvSpPr>
          <p:cNvPr id="353" name="Google Shape;353;p26">
            <a:extLst xmlns:a="http://schemas.openxmlformats.org/drawingml/2006/main">
              <a:ext uri="{FF2B5EF4-FFF2-40B4-BE49-F238E27FC236}">
                <a16:creationId xmlns:a16="http://schemas.microsoft.com/office/drawing/2014/main" id="{7C4A9A22-B4AA-4F95-8C58-6C3E30FB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440" y="4181346"/>
            <a:ext cx="1080120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ED9181"/>
                </a:solidFill>
                <a:latin typeface="Arial"/>
                <a:ea typeface="Arial"/>
                <a:cs typeface="Arial"/>
              </a:rPr>
              <a:t>TEAM B</a:t>
            </a:r>
          </a:p>
        </p:txBody>
      </p:sp>
      <p:sp>
        <p:nvSpPr>
          <p:cNvPr id="354" name="Google Shape;354;p26">
            <a:extLst xmlns:a="http://schemas.openxmlformats.org/drawingml/2006/main">
              <a:ext uri="{FF2B5EF4-FFF2-40B4-BE49-F238E27FC236}">
                <a16:creationId xmlns:a16="http://schemas.microsoft.com/office/drawing/2014/main" id="{11916E4A-8DDC-4C9A-BAB5-E56E59E4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390" y="3363189"/>
            <a:ext cx="864096" cy="72007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918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SBOM &amp; HBOM</a:t>
            </a:r>
          </a:p>
        </p:txBody>
      </p:sp>
      <p:sp>
        <p:nvSpPr>
          <p:cNvPr id="355" name="Google Shape;355;p26">
            <a:extLst xmlns:a="http://schemas.openxmlformats.org/drawingml/2006/main">
              <a:ext uri="{FF2B5EF4-FFF2-40B4-BE49-F238E27FC236}">
                <a16:creationId xmlns:a16="http://schemas.microsoft.com/office/drawing/2014/main" id="{E971C5B5-77A5-4955-960C-E15671AB6C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5654" y="1123284"/>
            <a:ext cx="3857487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200">
                <a:solidFill>
                  <a:srgbClr val="88B24B"/>
                </a:solidFill>
              </a:rPr>
              <a:t>TeamA</a:t>
            </a:r>
            <a:r>
              <a:rPr sz="1200"/>
              <a:t> &amp; </a:t>
            </a:r>
            <a:r>
              <a:rPr sz="1200">
                <a:solidFill>
                  <a:srgbClr val="ED9181"/>
                </a:solidFill>
              </a:rPr>
              <a:t>TeamB</a:t>
            </a:r>
            <a:r>
              <a:rPr sz="1200"/>
              <a:t> work on 2 different projects, both monitored in ARIANNA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200"/>
              <a:t>Each team take care of the vulnerability management of its own project</a:t>
            </a:r>
          </a:p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sz="1200">
                <a:solidFill>
                  <a:schemeClr val="dk2"/>
                </a:solidFill>
              </a:rPr>
              <a:t>TeamC</a:t>
            </a:r>
            <a:r>
              <a:rPr sz="1200"/>
              <a:t> integrates ProjectA and ProjectB in a system, and open a new project in ARIANNA</a:t>
            </a:r>
          </a:p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sz="1200">
                <a:solidFill>
                  <a:schemeClr val="dk2"/>
                </a:solidFill>
              </a:rPr>
              <a:t>TeamC</a:t>
            </a:r>
            <a:r>
              <a:rPr sz="1200"/>
              <a:t> would like to piggyback on vulnerability management of </a:t>
            </a:r>
            <a:r>
              <a:rPr sz="1200">
                <a:solidFill>
                  <a:srgbClr val="88B24B"/>
                </a:solidFill>
              </a:rPr>
              <a:t>TeamA</a:t>
            </a:r>
            <a:r>
              <a:rPr sz="1200"/>
              <a:t> &amp; </a:t>
            </a:r>
            <a:r>
              <a:rPr sz="1200">
                <a:solidFill>
                  <a:srgbClr val="ED9181"/>
                </a:solidFill>
              </a:rPr>
              <a:t>TeamB</a:t>
            </a:r>
            <a:r>
              <a:rPr sz="1200"/>
              <a:t> for the components coming from ProjectA and ProjectB respectively</a:t>
            </a:r>
          </a:p>
          <a:p xmlns:a="http://schemas.openxmlformats.org/drawingml/2006/main">
            <a:pPr marL="285750" indent="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533400" indent="-1841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</a:pPr>
          </a:p>
        </p:txBody>
      </p:sp>
      <p:sp>
        <p:nvSpPr>
          <p:cNvPr id="356" name="Google Shape;356;p26">
            <a:extLst xmlns:a="http://schemas.openxmlformats.org/drawingml/2006/main">
              <a:ext uri="{FF2B5EF4-FFF2-40B4-BE49-F238E27FC236}">
                <a16:creationId xmlns:a16="http://schemas.microsoft.com/office/drawing/2014/main" id="{A64DD66F-8D18-4DAE-AFDD-DF2D9F3F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62" y="1156063"/>
            <a:ext cx="864096" cy="60995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accent4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chemeClr val="accent4"/>
                </a:solidFill>
                <a:latin typeface="Arial"/>
                <a:ea typeface="Arial"/>
                <a:cs typeface="Arial"/>
              </a:rPr>
              <a:t>VULNs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chemeClr val="accent4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357" name="Google Shape;357;p26">
            <a:extLst xmlns:a="http://schemas.openxmlformats.org/drawingml/2006/main">
              <a:ext uri="{FF2B5EF4-FFF2-40B4-BE49-F238E27FC236}">
                <a16:creationId xmlns:a16="http://schemas.microsoft.com/office/drawing/2014/main" id="{A141422B-3765-420D-9809-F7F16E73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356" y="2857500"/>
            <a:ext cx="864096" cy="60995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rgbClr val="ED9181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ED9181"/>
                </a:solidFill>
                <a:latin typeface="Arial"/>
                <a:ea typeface="Arial"/>
                <a:cs typeface="Arial"/>
              </a:rPr>
              <a:t>VULNs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ED9181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</p:spTree>
    <p:extLst>
      <p:ext uri="{BB962C8B-B14F-4D97-AF65-F5344CB8AC3E}">
        <p14:creationId xmlns:p14="http://schemas.microsoft.com/office/powerpoint/2010/main" val="1501542670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2" name="Google Shape;362;p27">
            <a:extLst xmlns:a="http://schemas.openxmlformats.org/drawingml/2006/main">
              <a:ext uri="{FF2B5EF4-FFF2-40B4-BE49-F238E27FC236}">
                <a16:creationId xmlns:a16="http://schemas.microsoft.com/office/drawing/2014/main" id="{C16BDFD0-CD78-425A-A191-FF65B5C639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56" y="131946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Collaboration among teams in ARIANNA</a:t>
            </a:r>
          </a:p>
        </p:txBody>
      </p:sp>
      <p:sp>
        <p:nvSpPr>
          <p:cNvPr id="363" name="Google Shape;363;p27">
            <a:extLst xmlns:a="http://schemas.openxmlformats.org/drawingml/2006/main">
              <a:ext uri="{FF2B5EF4-FFF2-40B4-BE49-F238E27FC236}">
                <a16:creationId xmlns:a16="http://schemas.microsoft.com/office/drawing/2014/main" id="{F2572C86-4E44-4886-8EC6-C70750A969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6C3428B-053E-6B4E-39FF-75B44F3F33F6}" type="slidenum">
              <a:t>32</a:t>
            </a:fld>
          </a:p>
        </p:txBody>
      </p:sp>
      <p:pic>
        <p:nvPicPr>
          <p:cNvPr id="412" name="Google Shape;364;p2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584c93ee3c047a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92439" y="1725923"/>
            <a:ext cx="618195" cy="6181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13" name="Google Shape;365;p2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b3d598d99144da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18364" y="3034535"/>
            <a:ext cx="1088503" cy="108850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66" name="Google Shape;366;p27">
            <a:extLst xmlns:a="http://schemas.openxmlformats.org/drawingml/2006/main">
              <a:ext uri="{FF2B5EF4-FFF2-40B4-BE49-F238E27FC236}">
                <a16:creationId xmlns:a16="http://schemas.microsoft.com/office/drawing/2014/main" id="{9790E740-8EEA-436E-A8F4-41576E77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6252" y="2240454"/>
            <a:ext cx="1140931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rPr>
              <a:t>TEAM C OBSERVER</a:t>
            </a:r>
          </a:p>
        </p:txBody>
      </p:sp>
      <p:pic>
        <p:nvPicPr>
          <p:cNvPr id="415" name="Google Shape;367;p2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584c93ee3c047a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945354" y="3511863"/>
            <a:ext cx="618195" cy="6181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68" name="Google Shape;368;p27">
            <a:extLst xmlns:a="http://schemas.openxmlformats.org/drawingml/2006/main">
              <a:ext uri="{FF2B5EF4-FFF2-40B4-BE49-F238E27FC236}">
                <a16:creationId xmlns:a16="http://schemas.microsoft.com/office/drawing/2014/main" id="{23DB4BC5-810E-4E4A-A4A1-49CF9589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4087" y="4035245"/>
            <a:ext cx="1140931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rPr>
              <a:t>TEAM C as OBSERVER</a:t>
            </a:r>
          </a:p>
        </p:txBody>
      </p:sp>
      <p:sp>
        <p:nvSpPr>
          <p:cNvPr id="369" name="Google Shape;369;p27">
            <a:extLst xmlns:a="http://schemas.openxmlformats.org/drawingml/2006/main">
              <a:ext uri="{FF2B5EF4-FFF2-40B4-BE49-F238E27FC236}">
                <a16:creationId xmlns:a16="http://schemas.microsoft.com/office/drawing/2014/main" id="{3ACFE494-B0B4-4534-9D46-73BDA988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2618" y="2929508"/>
            <a:ext cx="1633925" cy="1226998"/>
          </a:xfrm>
          <a:prstGeom xmlns:a="http://schemas.openxmlformats.org/drawingml/2006/main" prst="roundRect">
            <a:avLst>
              <a:gd name="adj" fmla="val 12790"/>
            </a:avLst>
          </a:prstGeom>
          <a:noFill xmlns:a="http://schemas.openxmlformats.org/drawingml/2006/main"/>
          <a:ln xmlns:a="http://schemas.openxmlformats.org/drawingml/2006/main" w="19050" cmpd="sng">
            <a:solidFill>
              <a:srgbClr val="B4AFAC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A5A5A5"/>
                </a:solidFill>
                <a:latin typeface="Arial"/>
                <a:ea typeface="Arial"/>
                <a:cs typeface="Arial"/>
              </a:rPr>
              <a:t>PROJECT C</a:t>
            </a:r>
          </a:p>
        </p:txBody>
      </p:sp>
      <p:sp>
        <p:nvSpPr>
          <p:cNvPr id="370" name="Google Shape;370;p27">
            <a:extLst xmlns:a="http://schemas.openxmlformats.org/drawingml/2006/main">
              <a:ext uri="{FF2B5EF4-FFF2-40B4-BE49-F238E27FC236}">
                <a16:creationId xmlns:a16="http://schemas.microsoft.com/office/drawing/2014/main" id="{3CF4E135-5A8E-4232-8432-411F3BC3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4328" y="3861428"/>
            <a:ext cx="1080120" cy="261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rPr>
              <a:t>TEAM C</a:t>
            </a:r>
          </a:p>
        </p:txBody>
      </p:sp>
      <p:sp>
        <p:nvSpPr>
          <p:cNvPr id="371" name="Google Shape;371;p27">
            <a:extLst xmlns:a="http://schemas.openxmlformats.org/drawingml/2006/main">
              <a:ext uri="{FF2B5EF4-FFF2-40B4-BE49-F238E27FC236}">
                <a16:creationId xmlns:a16="http://schemas.microsoft.com/office/drawing/2014/main" id="{D5E85DC3-2776-4843-AAE1-3F2246DC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6826" y="2065412"/>
            <a:ext cx="977311" cy="196983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8AD6D4"/>
          </a:solidFill>
          <a:ln xmlns:a="http://schemas.openxmlformats.org/drawingml/2006/main" w="19050" cmpd="sng">
            <a:solidFill>
              <a:schemeClr val="dk2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420" name="Google Shape;372;p27"/>
          <p:cNvCxnSpPr>
            <a:stCxn xmlns:a="http://schemas.openxmlformats.org/drawingml/2006/main" id="373" idx="2"/>
            <a:endCxn xmlns:a="http://schemas.openxmlformats.org/drawingml/2006/main" id="374" idx="1"/>
          </p:cNvCxnSpPr>
          <p:nvPr/>
        </p:nvCxnSpPr>
        <p:spPr>
          <a:xfrm xmlns:a="http://schemas.openxmlformats.org/drawingml/2006/main" rot="-5400000" flipH="1">
            <a:off x="7134238" y="2205828"/>
            <a:ext cx="412800" cy="746400"/>
          </a:xfrm>
          <a:prstGeom xmlns:a="http://schemas.openxmlformats.org/drawingml/2006/main" prst="curvedConnector2">
            <a:avLst/>
          </a:prstGeom>
          <a:ln xmlns:a="http://schemas.openxmlformats.org/drawingml/2006/main" w="47625" cap="flat">
            <a:solidFill>
              <a:srgbClr val="88B24B"/>
            </a:solidFill>
            <a:prstDash val="solid"/>
            <a:miter/>
            <a:headEnd type="none" w="sm" len="sm"/>
            <a:tailEnd type="triangle" w="med" len="med"/>
          </a:ln>
        </p:spPr>
      </p:cxnSp>
      <p:cxnSp>
        <p:nvCxnSpPr>
          <p:cNvPr id="421" name="Google Shape;375;p27"/>
          <p:cNvCxnSpPr>
            <a:stCxn xmlns:a="http://schemas.openxmlformats.org/drawingml/2006/main" id="376" idx="2"/>
            <a:endCxn xmlns:a="http://schemas.openxmlformats.org/drawingml/2006/main" id="377" idx="1"/>
          </p:cNvCxnSpPr>
          <p:nvPr/>
        </p:nvCxnSpPr>
        <p:spPr>
          <a:xfrm xmlns:a="http://schemas.openxmlformats.org/drawingml/2006/main" rot="-5400000">
            <a:off x="7087738" y="3457168"/>
            <a:ext cx="505800" cy="746400"/>
          </a:xfrm>
          <a:prstGeom xmlns:a="http://schemas.openxmlformats.org/drawingml/2006/main" prst="curvedConnector4">
            <a:avLst>
              <a:gd name="adj1" fmla="val -45196"/>
              <a:gd name="adj2" fmla="val 78946"/>
            </a:avLst>
          </a:prstGeom>
          <a:ln xmlns:a="http://schemas.openxmlformats.org/drawingml/2006/main" w="47625" cap="flat">
            <a:solidFill>
              <a:srgbClr val="ED9181"/>
            </a:solidFill>
            <a:prstDash val="solid"/>
            <a:miter/>
            <a:headEnd type="none" w="sm" len="sm"/>
            <a:tailEnd type="triangle" w="med" len="med"/>
          </a:ln>
        </p:spPr>
      </p:cxnSp>
      <p:sp>
        <p:nvSpPr>
          <p:cNvPr id="378" name="Google Shape;378;p27">
            <a:extLst xmlns:a="http://schemas.openxmlformats.org/drawingml/2006/main">
              <a:ext uri="{FF2B5EF4-FFF2-40B4-BE49-F238E27FC236}">
                <a16:creationId xmlns:a16="http://schemas.microsoft.com/office/drawing/2014/main" id="{4AD336B1-BB0A-405A-8A7C-EC2FFE34CC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5654" y="1123284"/>
            <a:ext cx="4052455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200">
                <a:solidFill>
                  <a:schemeClr val="dk2"/>
                </a:solidFill>
              </a:rPr>
              <a:t>TeamC</a:t>
            </a:r>
            <a:r>
              <a:rPr sz="1200"/>
              <a:t> requests to be OBSERVER of ProjectA and ProjectB</a:t>
            </a:r>
          </a:p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sz="1200"/>
              <a:t>As observer, </a:t>
            </a:r>
            <a:r>
              <a:rPr sz="1200">
                <a:solidFill>
                  <a:schemeClr val="dk2"/>
                </a:solidFill>
              </a:rPr>
              <a:t>TeamC</a:t>
            </a:r>
            <a:r>
              <a:rPr sz="1200"/>
              <a:t> can: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200"/>
              <a:t>Access to SBOM &amp; HBOM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200"/>
              <a:t>Export relevant list of components and import the list of components in the newly created ProjectC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200"/>
              <a:t>Be notified when </a:t>
            </a:r>
            <a:r>
              <a:rPr sz="1200">
                <a:solidFill>
                  <a:srgbClr val="88B24B"/>
                </a:solidFill>
              </a:rPr>
              <a:t>TeamA</a:t>
            </a:r>
            <a:r>
              <a:rPr sz="1200"/>
              <a:t> &amp; </a:t>
            </a:r>
            <a:r>
              <a:rPr sz="1200">
                <a:solidFill>
                  <a:srgbClr val="ED9181"/>
                </a:solidFill>
              </a:rPr>
              <a:t>TeamB</a:t>
            </a:r>
            <a:r>
              <a:rPr sz="1200"/>
              <a:t> take actions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200"/>
              <a:t>Check the vulnerabilities evaluation done by </a:t>
            </a:r>
            <a:r>
              <a:rPr sz="1200">
                <a:solidFill>
                  <a:srgbClr val="88B24B"/>
                </a:solidFill>
              </a:rPr>
              <a:t>TeamA</a:t>
            </a:r>
            <a:r>
              <a:rPr sz="1200"/>
              <a:t> &amp; </a:t>
            </a:r>
            <a:r>
              <a:rPr sz="1200">
                <a:solidFill>
                  <a:srgbClr val="ED9181"/>
                </a:solidFill>
              </a:rPr>
              <a:t>TeamB</a:t>
            </a:r>
            <a:r>
              <a:rPr sz="1200"/>
              <a:t> in their projects, and adopt them in ProjectC</a:t>
            </a:r>
          </a:p>
          <a:p xmlns:a="http://schemas.openxmlformats.org/drawingml/2006/main">
            <a:pPr marL="269875" indent="-1555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285750" indent="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533400" indent="-1841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</a:pPr>
          </a:p>
        </p:txBody>
      </p:sp>
      <p:sp>
        <p:nvSpPr>
          <p:cNvPr id="374" name="Google Shape;374;p27">
            <a:extLst xmlns:a="http://schemas.openxmlformats.org/drawingml/2006/main">
              <a:ext uri="{FF2B5EF4-FFF2-40B4-BE49-F238E27FC236}">
                <a16:creationId xmlns:a16="http://schemas.microsoft.com/office/drawing/2014/main" id="{95F6061C-81D3-4A0B-9049-797B0208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905" y="2425452"/>
            <a:ext cx="864096" cy="72007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SBOM &amp; HBOM</a:t>
            </a:r>
          </a:p>
        </p:txBody>
      </p:sp>
      <p:sp>
        <p:nvSpPr>
          <p:cNvPr id="377" name="Google Shape;377;p27">
            <a:extLst xmlns:a="http://schemas.openxmlformats.org/drawingml/2006/main">
              <a:ext uri="{FF2B5EF4-FFF2-40B4-BE49-F238E27FC236}">
                <a16:creationId xmlns:a16="http://schemas.microsoft.com/office/drawing/2014/main" id="{741061BC-2396-412F-B303-E29362CF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905" y="3217540"/>
            <a:ext cx="864096" cy="72007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918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SBOM &amp; HBOM</a:t>
            </a:r>
          </a:p>
        </p:txBody>
      </p:sp>
      <p:sp>
        <p:nvSpPr>
          <p:cNvPr id="379" name="Google Shape;379;p27">
            <a:extLst xmlns:a="http://schemas.openxmlformats.org/drawingml/2006/main">
              <a:ext uri="{FF2B5EF4-FFF2-40B4-BE49-F238E27FC236}">
                <a16:creationId xmlns:a16="http://schemas.microsoft.com/office/drawing/2014/main" id="{70869DCF-4B54-483E-B487-DE3F4BAD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268" y="1717685"/>
            <a:ext cx="864096" cy="60995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dk2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rPr>
              <a:t>VULNs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pic>
        <p:nvPicPr>
          <p:cNvPr id="426" name="Google Shape;380;p2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9fd0779b879483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767147" y="1561356"/>
            <a:ext cx="1088503" cy="108850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27" name="Google Shape;381;p2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d830d2534f947c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771213" y="3354453"/>
            <a:ext cx="1088503" cy="108850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82" name="Google Shape;382;p27">
            <a:extLst xmlns:a="http://schemas.openxmlformats.org/drawingml/2006/main">
              <a:ext uri="{FF2B5EF4-FFF2-40B4-BE49-F238E27FC236}">
                <a16:creationId xmlns:a16="http://schemas.microsoft.com/office/drawing/2014/main" id="{4FBA6EF5-EE7D-405C-868C-79EE51F5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156" y="2388249"/>
            <a:ext cx="1080120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88B24B"/>
                </a:solidFill>
                <a:latin typeface="Arial"/>
                <a:ea typeface="Arial"/>
                <a:cs typeface="Arial"/>
              </a:rPr>
              <a:t>TEAM A</a:t>
            </a:r>
          </a:p>
        </p:txBody>
      </p:sp>
      <p:sp>
        <p:nvSpPr>
          <p:cNvPr id="383" name="Google Shape;383;p27">
            <a:extLst xmlns:a="http://schemas.openxmlformats.org/drawingml/2006/main">
              <a:ext uri="{FF2B5EF4-FFF2-40B4-BE49-F238E27FC236}">
                <a16:creationId xmlns:a16="http://schemas.microsoft.com/office/drawing/2014/main" id="{FF6A5567-61C7-4263-B782-0DCCD7E8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0819" y="1479363"/>
            <a:ext cx="2254199" cy="1198692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19050" cmpd="sng">
            <a:solidFill>
              <a:srgbClr val="B4AFAC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A5A5A5"/>
                </a:solidFill>
                <a:latin typeface="Arial"/>
                <a:ea typeface="Arial"/>
                <a:cs typeface="Arial"/>
              </a:rPr>
              <a:t>PROJECT A</a:t>
            </a:r>
          </a:p>
        </p:txBody>
      </p:sp>
      <p:sp>
        <p:nvSpPr>
          <p:cNvPr id="384" name="Google Shape;384;p27">
            <a:extLst xmlns:a="http://schemas.openxmlformats.org/drawingml/2006/main">
              <a:ext uri="{FF2B5EF4-FFF2-40B4-BE49-F238E27FC236}">
                <a16:creationId xmlns:a16="http://schemas.microsoft.com/office/drawing/2014/main" id="{2E47D898-ECF6-42C7-A069-A9B8B3D0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944" y="3258607"/>
            <a:ext cx="2259074" cy="1192795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19050" cmpd="sng">
            <a:solidFill>
              <a:srgbClr val="B4AFAC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A5A5A5"/>
                </a:solidFill>
                <a:latin typeface="Arial"/>
                <a:ea typeface="Arial"/>
                <a:cs typeface="Arial"/>
              </a:rPr>
              <a:t>PROJECT B</a:t>
            </a:r>
          </a:p>
        </p:txBody>
      </p:sp>
      <p:sp>
        <p:nvSpPr>
          <p:cNvPr id="373" name="Google Shape;373;p27">
            <a:extLst xmlns:a="http://schemas.openxmlformats.org/drawingml/2006/main">
              <a:ext uri="{FF2B5EF4-FFF2-40B4-BE49-F238E27FC236}">
                <a16:creationId xmlns:a16="http://schemas.microsoft.com/office/drawing/2014/main" id="{29B49D98-7692-4721-9429-1BDD3739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390" y="1652549"/>
            <a:ext cx="864096" cy="72007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SBOM &amp; HBOM</a:t>
            </a:r>
          </a:p>
        </p:txBody>
      </p:sp>
      <p:sp>
        <p:nvSpPr>
          <p:cNvPr id="385" name="Google Shape;385;p27">
            <a:extLst xmlns:a="http://schemas.openxmlformats.org/drawingml/2006/main">
              <a:ext uri="{FF2B5EF4-FFF2-40B4-BE49-F238E27FC236}">
                <a16:creationId xmlns:a16="http://schemas.microsoft.com/office/drawing/2014/main" id="{F9BBF9E9-41B1-4D37-99AB-371CB15B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2440" y="4181346"/>
            <a:ext cx="1080120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ED9181"/>
                </a:solidFill>
                <a:latin typeface="Arial"/>
                <a:ea typeface="Arial"/>
                <a:cs typeface="Arial"/>
              </a:rPr>
              <a:t>TEAM B</a:t>
            </a:r>
          </a:p>
        </p:txBody>
      </p:sp>
      <p:sp>
        <p:nvSpPr>
          <p:cNvPr id="376" name="Google Shape;376;p27">
            <a:extLst xmlns:a="http://schemas.openxmlformats.org/drawingml/2006/main">
              <a:ext uri="{FF2B5EF4-FFF2-40B4-BE49-F238E27FC236}">
                <a16:creationId xmlns:a16="http://schemas.microsoft.com/office/drawing/2014/main" id="{43B04728-39EC-41EA-914B-3557AC76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5390" y="3363189"/>
            <a:ext cx="864096" cy="72007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918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SBOM &amp; HBOM</a:t>
            </a:r>
          </a:p>
        </p:txBody>
      </p:sp>
      <p:sp>
        <p:nvSpPr>
          <p:cNvPr id="386" name="Google Shape;386;p27">
            <a:extLst xmlns:a="http://schemas.openxmlformats.org/drawingml/2006/main">
              <a:ext uri="{FF2B5EF4-FFF2-40B4-BE49-F238E27FC236}">
                <a16:creationId xmlns:a16="http://schemas.microsoft.com/office/drawing/2014/main" id="{0A38F3F5-966F-45F8-B2DD-BE0F18FB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62" y="1156063"/>
            <a:ext cx="864096" cy="60995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chemeClr val="accent4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chemeClr val="accent4"/>
                </a:solidFill>
                <a:latin typeface="Arial"/>
                <a:ea typeface="Arial"/>
                <a:cs typeface="Arial"/>
              </a:rPr>
              <a:t>VULNs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chemeClr val="accent4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387" name="Google Shape;387;p27">
            <a:extLst xmlns:a="http://schemas.openxmlformats.org/drawingml/2006/main">
              <a:ext uri="{FF2B5EF4-FFF2-40B4-BE49-F238E27FC236}">
                <a16:creationId xmlns:a16="http://schemas.microsoft.com/office/drawing/2014/main" id="{46CE2EB5-F998-4590-9208-B734B191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356" y="2857500"/>
            <a:ext cx="864096" cy="60995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rgbClr val="ED9181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ED9181"/>
                </a:solidFill>
                <a:latin typeface="Arial"/>
                <a:ea typeface="Arial"/>
                <a:cs typeface="Arial"/>
              </a:rPr>
              <a:t>VULNs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ED9181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</p:spTree>
    <p:extLst>
      <p:ext uri="{BB962C8B-B14F-4D97-AF65-F5344CB8AC3E}">
        <p14:creationId xmlns:p14="http://schemas.microsoft.com/office/powerpoint/2010/main" val="1661899422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2" name="Google Shape;392;p28">
            <a:extLst xmlns:a="http://schemas.openxmlformats.org/drawingml/2006/main">
              <a:ext uri="{FF2B5EF4-FFF2-40B4-BE49-F238E27FC236}">
                <a16:creationId xmlns:a16="http://schemas.microsoft.com/office/drawing/2014/main" id="{6DD6AEE8-1705-451E-B41E-431BDCF44F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5654" y="1123284"/>
            <a:ext cx="9202092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t>ARIANNA Project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Every time a new device need to be monitored, a new Project must be created in ARIANNA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Only selected Users can access to a Project</a:t>
            </a:r>
          </a:p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t>ARIANNA Users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A User can be added to multiple projects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t>Same User can have different roles in each project:</a:t>
            </a:r>
          </a:p>
          <a:p xmlns:a="http://schemas.openxmlformats.org/drawingml/2006/main">
            <a:pPr marL="804863" indent="-233363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>
                <a:solidFill>
                  <a:schemeClr val="dk2"/>
                </a:solidFill>
              </a:rPr>
              <a:t>OWNER</a:t>
            </a:r>
            <a:r>
              <a:t>: configure project policies, add/remove users, check vulnerabilities and take actions</a:t>
            </a:r>
          </a:p>
          <a:p xmlns:a="http://schemas.openxmlformats.org/drawingml/2006/main">
            <a:pPr marL="804863" indent="-233363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>
                <a:solidFill>
                  <a:schemeClr val="dk2"/>
                </a:solidFill>
              </a:rPr>
              <a:t>MEMBER</a:t>
            </a:r>
            <a:r>
              <a:t>: check identified vulnerabilities and take actions </a:t>
            </a:r>
          </a:p>
          <a:p xmlns:a="http://schemas.openxmlformats.org/drawingml/2006/main">
            <a:pPr marL="804863" indent="-233363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>
                <a:solidFill>
                  <a:schemeClr val="dk2"/>
                </a:solidFill>
              </a:rPr>
              <a:t>OBSERVER</a:t>
            </a:r>
            <a:r>
              <a:t>: check identified vulnerabilities and download reports, SBOM &amp; HBOM</a:t>
            </a:r>
          </a:p>
          <a:p xmlns:a="http://schemas.openxmlformats.org/drawingml/2006/main">
            <a:pPr marL="533400" indent="-1333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</a:pPr>
          </a:p>
        </p:txBody>
      </p:sp>
      <p:sp>
        <p:nvSpPr>
          <p:cNvPr id="393" name="Google Shape;393;p28">
            <a:extLst xmlns:a="http://schemas.openxmlformats.org/drawingml/2006/main">
              <a:ext uri="{FF2B5EF4-FFF2-40B4-BE49-F238E27FC236}">
                <a16:creationId xmlns:a16="http://schemas.microsoft.com/office/drawing/2014/main" id="{37119575-EAA1-4599-8D77-A6C636C0BC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56" y="131946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Projects &amp; User Roles</a:t>
            </a:r>
          </a:p>
        </p:txBody>
      </p:sp>
      <p:sp>
        <p:nvSpPr>
          <p:cNvPr id="394" name="Google Shape;394;p28">
            <a:extLst xmlns:a="http://schemas.openxmlformats.org/drawingml/2006/main">
              <a:ext uri="{FF2B5EF4-FFF2-40B4-BE49-F238E27FC236}">
                <a16:creationId xmlns:a16="http://schemas.microsoft.com/office/drawing/2014/main" id="{D83457E4-A93E-4552-96E4-DC807C51FB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59F9B2FD-F323-2D0A-D581-D6E61055F9A8}" type="slidenum">
              <a:t>33</a:t>
            </a:fld>
          </a:p>
        </p:txBody>
      </p:sp>
    </p:spTree>
    <p:extLst>
      <p:ext uri="{BB962C8B-B14F-4D97-AF65-F5344CB8AC3E}">
        <p14:creationId xmlns:p14="http://schemas.microsoft.com/office/powerpoint/2010/main" val="1904817815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9" name="Google Shape;399;p29">
            <a:extLst xmlns:a="http://schemas.openxmlformats.org/drawingml/2006/main">
              <a:ext uri="{FF2B5EF4-FFF2-40B4-BE49-F238E27FC236}">
                <a16:creationId xmlns:a16="http://schemas.microsoft.com/office/drawing/2014/main" id="{22B2ABF0-5FAC-4C94-B8CD-BAF00486CD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5531" y="1428344"/>
            <a:ext cx="8406209" cy="1765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/>
            <a:r>
              <a:rPr sz="2800"/>
              <a:t>6. Demo</a:t>
            </a:r>
          </a:p>
        </p:txBody>
      </p:sp>
      <p:sp>
        <p:nvSpPr>
          <p:cNvPr id="400" name="Google Shape;400;p29">
            <a:extLst xmlns:a="http://schemas.openxmlformats.org/drawingml/2006/main">
              <a:ext uri="{FF2B5EF4-FFF2-40B4-BE49-F238E27FC236}">
                <a16:creationId xmlns:a16="http://schemas.microsoft.com/office/drawing/2014/main" id="{CB60246A-6E25-4C42-83B6-8E0A89DF38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5531" y="3137318"/>
            <a:ext cx="8406209" cy="413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940322753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5" name="Google Shape;405;p30">
            <a:extLst xmlns:a="http://schemas.openxmlformats.org/drawingml/2006/main">
              <a:ext uri="{FF2B5EF4-FFF2-40B4-BE49-F238E27FC236}">
                <a16:creationId xmlns:a16="http://schemas.microsoft.com/office/drawing/2014/main" id="{5266FA6C-5A34-41FA-B61C-ADEFDA610A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65654" y="1123284"/>
            <a:ext cx="6558562" cy="371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0000" tIns="45700" rIns="91425" bIns="45700" anchor="t">
            <a:normAutofit fontScale="85000" lnSpcReduction="20000"/>
          </a:bodyPr>
          <a:lstStyle xmlns:a="http://schemas.openxmlformats.org/drawingml/2006/main"/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rPr sz="1400"/>
              <a:t>Connected Device with 3 Processing Units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100"/>
              <a:t>PU1: iMX93 MPU with YOCTO + Javascript application + Python application 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100"/>
              <a:t>PU2: STM32F4 MCU with bootloader firmware + application firmware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100"/>
              <a:t>PU3: ESP32 MCU with application firmware</a:t>
            </a:r>
          </a:p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sz="1400"/>
              <a:t>Two device model provided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100"/>
              <a:t>1.0 - Initial model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100"/>
              <a:t>2.0 - Updated model (new ESP32 firmware)</a:t>
            </a:r>
          </a:p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sz="1400"/>
              <a:t>Prioritization based on exploitability</a:t>
            </a:r>
          </a:p>
          <a:p xmlns:a="http://schemas.openxmlformats.org/drawingml/2006/main">
            <a:pPr marL="269875" indent="-26987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har char="●"/>
            </a:pPr>
            <a:r>
              <a:rPr sz="1400"/>
              <a:t>SUGGESTED ACTIONS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200"/>
              <a:t>Check the report of device model 1.0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200"/>
              <a:t>Check the report of device model 2.0 and see the differences</a:t>
            </a:r>
          </a:p>
          <a:p xmlns:a="http://schemas.openxmlformats.org/drawingml/2006/main">
            <a:pPr marL="804863" indent="-233363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800"/>
              <a:t>New vulnerabilities identified</a:t>
            </a:r>
          </a:p>
          <a:p xmlns:a="http://schemas.openxmlformats.org/drawingml/2006/main">
            <a:pPr marL="804863" indent="-233363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800"/>
              <a:t>Some old vulnerability automatically closed due to ESP32 firmware update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200"/>
              <a:t>Check the High Priority vulnerabilities of device model 2.0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200"/>
              <a:t>Change the configuration of the Prioritization Engine and evaluate the effects in the report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200"/>
              <a:t>Change vulnerabilities status and evaluate the effects in the report</a:t>
            </a:r>
          </a:p>
          <a:p xmlns:a="http://schemas.openxmlformats.org/drawingml/2006/main">
            <a:pPr marL="533400" indent="-247650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har char="o"/>
            </a:pPr>
            <a:r>
              <a:rPr sz="1200"/>
              <a:t>Export the report</a:t>
            </a:r>
          </a:p>
          <a:p xmlns:a="http://schemas.openxmlformats.org/drawingml/2006/main">
            <a:pPr marL="533400" indent="-193675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269875" indent="-183515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533400" indent="-150495" algn="l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None/>
            </a:pPr>
          </a:p>
        </p:txBody>
      </p:sp>
      <p:sp>
        <p:nvSpPr>
          <p:cNvPr id="406" name="Google Shape;406;p30">
            <a:extLst xmlns:a="http://schemas.openxmlformats.org/drawingml/2006/main">
              <a:ext uri="{FF2B5EF4-FFF2-40B4-BE49-F238E27FC236}">
                <a16:creationId xmlns:a16="http://schemas.microsoft.com/office/drawing/2014/main" id="{36A46AB7-017D-467D-B780-844306139D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7156" y="131946"/>
            <a:ext cx="9559088" cy="585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Demo description</a:t>
            </a:r>
          </a:p>
        </p:txBody>
      </p:sp>
      <p:sp>
        <p:nvSpPr>
          <p:cNvPr id="407" name="Google Shape;407;p30">
            <a:extLst xmlns:a="http://schemas.openxmlformats.org/drawingml/2006/main">
              <a:ext uri="{FF2B5EF4-FFF2-40B4-BE49-F238E27FC236}">
                <a16:creationId xmlns:a16="http://schemas.microsoft.com/office/drawing/2014/main" id="{31C5B9D3-2EC3-470B-86B0-AAA46217E4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17602" y="5321837"/>
            <a:ext cx="656167" cy="3042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4A4FA566-8B12-6DD2-DDB5-FA6393938FB6}" type="slidenum">
              <a:t>35</a:t>
            </a:fld>
          </a:p>
        </p:txBody>
      </p:sp>
      <p:pic>
        <p:nvPicPr>
          <p:cNvPr id="428" name="Google Shape;408;p3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000918f1c97430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68232" y="3630103"/>
            <a:ext cx="2664296" cy="15346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09" name="Google Shape;409;p30">
            <a:extLst xmlns:a="http://schemas.openxmlformats.org/drawingml/2006/main">
              <a:ext uri="{FF2B5EF4-FFF2-40B4-BE49-F238E27FC236}">
                <a16:creationId xmlns:a16="http://schemas.microsoft.com/office/drawing/2014/main" id="{F5B07C5D-9A73-4869-9B04-BC1BD2BC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433" y="1080071"/>
            <a:ext cx="1289774" cy="34851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2"/>
          </a:solidFill>
          <a:ln xmlns:a="http://schemas.openxmlformats.org/drawingml/2006/main" w="22225" cmpd="sng">
            <a:solidFill>
              <a:schemeClr val="accent2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PU3|ESP32</a:t>
            </a:r>
          </a:p>
        </p:txBody>
      </p:sp>
      <p:cxnSp>
        <p:nvCxnSpPr>
          <p:cNvPr id="430" name="Google Shape;410;p30"/>
          <p:cNvCxnSpPr>
            <a:stCxn xmlns:a="http://schemas.openxmlformats.org/drawingml/2006/main" id="411" idx="2"/>
          </p:cNvCxnSpPr>
          <p:nvPr/>
        </p:nvCxnSpPr>
        <p:spPr>
          <a:xfrm xmlns:a="http://schemas.openxmlformats.org/drawingml/2006/main">
            <a:off x="8400929" y="2086996"/>
            <a:ext cx="0" cy="18543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accent4"/>
            </a:solidFill>
            <a:prstDash val="solid"/>
            <a:miter/>
            <a:headEnd type="none" w="sm" len="sm"/>
            <a:tailEnd type="oval" w="med" len="med"/>
          </a:ln>
        </p:spPr>
      </p:cxnSp>
      <p:cxnSp>
        <p:nvCxnSpPr>
          <p:cNvPr id="431" name="Google Shape;412;p30"/>
          <p:cNvCxnSpPr>
            <a:stCxn xmlns:a="http://schemas.openxmlformats.org/drawingml/2006/main" id="413" idx="2"/>
          </p:cNvCxnSpPr>
          <p:nvPr/>
        </p:nvCxnSpPr>
        <p:spPr>
          <a:xfrm xmlns:a="http://schemas.openxmlformats.org/drawingml/2006/main">
            <a:off x="8971666" y="3456339"/>
            <a:ext cx="0" cy="3768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rgbClr val="FD9600"/>
            </a:solidFill>
            <a:prstDash val="solid"/>
            <a:miter/>
            <a:headEnd type="none" w="sm" len="sm"/>
            <a:tailEnd type="oval" w="med" len="med"/>
          </a:ln>
        </p:spPr>
      </p:cxnSp>
      <p:cxnSp>
        <p:nvCxnSpPr>
          <p:cNvPr id="432" name="Google Shape;414;p30"/>
          <p:cNvCxnSpPr>
            <a:stCxn xmlns:a="http://schemas.openxmlformats.org/drawingml/2006/main" id="409" idx="2"/>
          </p:cNvCxnSpPr>
          <p:nvPr/>
        </p:nvCxnSpPr>
        <p:spPr>
          <a:xfrm xmlns:a="http://schemas.openxmlformats.org/drawingml/2006/main">
            <a:off x="7960320" y="1428585"/>
            <a:ext cx="0" cy="2526000"/>
          </a:xfrm>
          <a:prstGeom xmlns:a="http://schemas.openxmlformats.org/drawingml/2006/main" prst="straightConnector1">
            <a:avLst/>
          </a:prstGeom>
          <a:ln xmlns:a="http://schemas.openxmlformats.org/drawingml/2006/main" w="19050" cap="flat">
            <a:solidFill>
              <a:schemeClr val="accent2"/>
            </a:solidFill>
            <a:prstDash val="solid"/>
            <a:miter/>
            <a:headEnd type="none" w="sm" len="sm"/>
            <a:tailEnd type="oval" w="med" len="med"/>
          </a:ln>
        </p:spPr>
      </p:cxnSp>
      <p:sp>
        <p:nvSpPr>
          <p:cNvPr id="411" name="Google Shape;411;p30">
            <a:extLst xmlns:a="http://schemas.openxmlformats.org/drawingml/2006/main">
              <a:ext uri="{FF2B5EF4-FFF2-40B4-BE49-F238E27FC236}">
                <a16:creationId xmlns:a16="http://schemas.microsoft.com/office/drawing/2014/main" id="{EA395822-C58A-4A84-8700-EC6D414F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296" y="1738482"/>
            <a:ext cx="1313266" cy="34851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4"/>
          </a:solidFill>
          <a:ln xmlns:a="http://schemas.openxmlformats.org/drawingml/2006/main" w="22225" cmpd="sng">
            <a:solidFill>
              <a:schemeClr val="accent4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PU1 | i.MX 93</a:t>
            </a:r>
          </a:p>
        </p:txBody>
      </p:sp>
      <p:sp>
        <p:nvSpPr>
          <p:cNvPr id="413" name="Google Shape;413;p30">
            <a:extLst xmlns:a="http://schemas.openxmlformats.org/drawingml/2006/main">
              <a:ext uri="{FF2B5EF4-FFF2-40B4-BE49-F238E27FC236}">
                <a16:creationId xmlns:a16="http://schemas.microsoft.com/office/drawing/2014/main" id="{7FDF9C09-DDB6-474C-98B6-CD821760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7298" y="3107825"/>
            <a:ext cx="1288736" cy="34851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9600"/>
          </a:solidFill>
          <a:ln xmlns:a="http://schemas.openxmlformats.org/drawingml/2006/main" w="22225" cmpd="sng">
            <a:solidFill>
              <a:srgbClr val="FD9600"/>
            </a:solidFill>
            <a:prstDash val="solid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PU2 | STM32F4</a:t>
            </a:r>
          </a:p>
        </p:txBody>
      </p:sp>
    </p:spTree>
    <p:extLst>
      <p:ext uri="{BB962C8B-B14F-4D97-AF65-F5344CB8AC3E}">
        <p14:creationId xmlns:p14="http://schemas.microsoft.com/office/powerpoint/2010/main" val="1067471482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9" name="Google Shape;419;p31">
            <a:extLst xmlns:a="http://schemas.openxmlformats.org/drawingml/2006/main">
              <a:ext uri="{FF2B5EF4-FFF2-40B4-BE49-F238E27FC236}">
                <a16:creationId xmlns:a16="http://schemas.microsoft.com/office/drawing/2014/main" id="{4D5BE058-A694-41DA-BF15-2F52733109E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1448" y="2641476"/>
            <a:ext cx="9931400" cy="4648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Thank You!</a:t>
            </a:r>
          </a:p>
        </p:txBody>
      </p:sp>
      <p:pic>
        <p:nvPicPr>
          <p:cNvPr id="422" name="Google Shape;420;p3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73b02b4b6e94c5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83456" y="4873724"/>
            <a:ext cx="2133144" cy="68210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462747701"/>
      </p:ext>
    </p:extLst>
  </p:cSld>
</p:sld>
</file>

<file path=ppt/theme/theme1.xml><?xml version="1.0" encoding="utf-8"?>
<a:theme xmlns:a="http://schemas.openxmlformats.org/drawingml/2006/main" name="Tema4">
  <a:themeElements>
    <a:clrScheme name="Security Pattern Color">
      <a:dk1>
        <a:srgbClr val="000000"/>
      </a:dk1>
      <a:lt1>
        <a:srgbClr val="FFFFFF"/>
      </a:lt1>
      <a:dk2>
        <a:srgbClr val="41BAB6"/>
      </a:dk2>
      <a:lt2>
        <a:srgbClr val="C5C6C7"/>
      </a:lt2>
      <a:accent1>
        <a:srgbClr val="F7F0EC"/>
      </a:accent1>
      <a:accent2>
        <a:srgbClr val="E2492F"/>
      </a:accent2>
      <a:accent3>
        <a:srgbClr val="41BAB6"/>
      </a:accent3>
      <a:accent4>
        <a:srgbClr val="88B04B"/>
      </a:accent4>
      <a:accent5>
        <a:srgbClr val="F1C300"/>
      </a:accent5>
      <a:accent6>
        <a:srgbClr val="5E5E5E"/>
      </a:accent6>
      <a:hlink>
        <a:srgbClr val="41BAB6"/>
      </a:hlink>
      <a:folHlink>
        <a:srgbClr val="41BAB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ecurity Pattern 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2026-06-24T07:02:24.9630000Z</dcterms:created>
  <dcterms:modified xsi:type="dcterms:W3CDTF">2026-06-24T07:02:24.9630000Z</dcterms:modified>
</coreProperties>
</file>