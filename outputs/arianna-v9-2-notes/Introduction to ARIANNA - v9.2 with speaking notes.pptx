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0160000" cy="5715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3"/>
  </p:normalViewPr>
  <p:slideViewPr>
    <p:cSldViewPr snapToGrid="0">
      <p:cViewPr varScale="1">
        <p:scale>
          <a:sx n="138" d="100"/>
          <a:sy n="138" d="100"/>
        </p:scale>
        <p:origin x="3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Today I want to show how ARIANNA helps manufacturers operationalize product security. The focus is on HBOM and SBOM creation, continuous monitoring, and vulnerability management in one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The challenge is not only understanding CRA requirements, but making them work in daily operations. Many companies have parts of the puzzle, but not a scalable end-to-end process.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Connected products are different from classic IT systems. They combine hardware and software, stay in the field for years, and create a vulnerability management challenge that manual processes simply cannot handle.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core problem we solve. A device can contain thousands of known vulnerabilities, but teams do not need thousands of actions. They need a short, relevant list of what actually matters.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ARIANNA is designed to make vulnerability management operational. It starts from the device model, continuously monitors new vulnerabilities, prioritizes based on real risk, and supports reporting to all relevant stakeholders.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69850" algn="l">
              <a:spcBef>
                <a:spcPts val="0"/>
              </a:spcBef>
              <a:spcAft>
                <a:spcPts val="0"/>
              </a:spcAft>
              <a:buChar char="●"/>
            </a:pPr>
            <a:r>
              <a:rPr sz="1100" b="0" i="0" u="none">
                <a:solidFill>
                  <a:schemeClr val="dk1"/>
                </a:solidFill>
                <a:latin typeface="Arial"/>
                <a:ea typeface="Arial"/>
                <a:cs typeface="Arial"/>
              </a:rPr>
              <a:t>In smart connected products, hardware matters just as much as software. If you do not model the hardware context, you miss critical assets, exposure assumptions, and important filtering logic.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The first step is to model the hardware building blocks of the device. In ARIANNA, each of these is represented as a processing unit, and that creates the HBOM foundation.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For each processing unit, ARIANNA supports the creation of the relevant SBOMs. This is important because embedded devices usually contain multiple software layers that need to be analyzed separately but understood together.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The device model is not static. HBOM is usually stable, but SBOM evolves with each release, and that directly affects which vulnerabilities are identified, remain open, or can be closed.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Once the device model exists, ARIANNA continuously monitors new vulnerabilities against it. The goal is not just detection, but detection enriched with the information needed for meaningful prioritization.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69850" algn="l">
              <a:spcBef>
                <a:spcPts val="0"/>
              </a:spcBef>
              <a:spcAft>
                <a:spcPts val="0"/>
              </a:spcAft>
              <a:buChar char="●"/>
            </a:pPr>
            <a:r>
              <a:rPr sz="1100" b="0" i="0" u="none">
                <a:solidFill>
                  <a:schemeClr val="dk1"/>
                </a:solidFill>
                <a:latin typeface="Arial"/>
                <a:ea typeface="Arial"/>
                <a:cs typeface="Arial"/>
              </a:rPr>
              <a:t>Traditional vulnerability management relies heavily on CVSS, but severity alone does not tell us what matters most for a specific device. Device context and exploitability are what make prioritization actionable.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This is where ARIANNA reduces workload. Instead of forcing teams to review everything with the same intensity, it creates a focused triage queue so analysts spend time where it matters most.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69850" algn="l">
              <a:spcBef>
                <a:spcPts val="0"/>
              </a:spcBef>
              <a:spcAft>
                <a:spcPts val="0"/>
              </a:spcAft>
              <a:buChar char="●"/>
            </a:pPr>
            <a:r>
              <a:t>This example shows the practical effect. Without context-based prioritization, teams face hundreds of issues. With ARIANNA's approach, the workload is narrowed down to a very small set of high-value 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One differentiator is ARIANNA KEV. We do not rely only on public KEV lists, but enrich them with additional exploitation evidence to accelerate prioritization and remediation.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ARIANNA also turns the process into something auditable and shareable. SBOMs, HBOMs, and vulnerability reports can be exported in standard formats for customers, internal teams, and regulators.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This is important in real organizations: multiple teams work on related products and components. ARIANNA allows them to reuse visibility and decisions, reducing duplicated effort and improving consistency.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In the demo, I will show one connected device with multiple processing units and two model versions. We will look at the delta between versions, the resulting vulnerability changes, and the final prioritized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The key message is that ARIANNA helps transform vulnerability management from a compliance burden into an operational process. The natural next step is to onboard one device and validate the workflow in practice.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irst/Last" type="title">
  <p:cSld name="TITLE">
    <p:bg>
      <p:bgPr>
        <a:solidFill>
          <a:schemeClr val="lt1"/>
        </a:solidFill>
        <a:effectLst/>
      </p:bgPr>
    </p:bg>
    <p:spTree>
      <p:nvGrpSpPr>
        <p:cNvPr id="1" name=""/>
        <p:cNvGrpSpPr/>
        <p:nvPr/>
      </p:nvGrpSpPr>
      <p:grpSpPr>
        <a:xfrm>
          <a:off x="0" y="0"/>
          <a:ext cx="0" cy="0"/>
          <a:chOff x="0" y="0"/>
          <a:chExt cx="0" cy="0"/>
        </a:xfrm>
      </p:grpSpPr>
      <p:sp>
        <p:nvSpPr>
          <p:cNvPr id="10" name="Google Shape;10;p33">
            <a:extLst>
              <a:ext uri="{FF2B5EF4-FFF2-40B4-BE49-F238E27FC236}">
                <a16:creationId xmlns:a16="http://schemas.microsoft.com/office/drawing/2014/main" id="{34912226-AFB2-4AF8-A982-EE1D00B82883}"/>
              </a:ext>
            </a:extLst>
          </p:cNvPr>
          <p:cNvSpPr>
            <a:spLocks noGrp="1"/>
          </p:cNvSpPr>
          <p:nvPr>
            <p:ph type="ctrTitle"/>
          </p:nvPr>
        </p:nvSpPr>
        <p:spPr>
          <a:xfrm>
            <a:off x="111760" y="3718216"/>
            <a:ext cx="9931400" cy="464820"/>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None/>
              <a:defRPr sz="2000" b="0" i="0">
                <a:latin typeface="Montserrat"/>
                <a:ea typeface="Montserrat"/>
                <a:cs typeface="Montserrat"/>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1" name="Google Shape;11;p33">
            <a:extLst>
              <a:ext uri="{FF2B5EF4-FFF2-40B4-BE49-F238E27FC236}">
                <a16:creationId xmlns:a16="http://schemas.microsoft.com/office/drawing/2014/main" id="{726D5D76-C91C-4581-8B23-1BDD333864B3}"/>
              </a:ext>
            </a:extLst>
          </p:cNvPr>
          <p:cNvSpPr>
            <a:spLocks noGrp="1"/>
          </p:cNvSpPr>
          <p:nvPr>
            <p:ph type="subTitle" idx="1"/>
          </p:nvPr>
        </p:nvSpPr>
        <p:spPr>
          <a:xfrm>
            <a:off x="111760" y="4125939"/>
            <a:ext cx="9931400" cy="274320"/>
          </a:xfrm>
          <a:prstGeom prst="rect">
            <a:avLst/>
          </a:prstGeom>
          <a:noFill/>
          <a:ln>
            <a:noFill/>
          </a:ln>
        </p:spPr>
        <p:txBody>
          <a:bodyPr spcFirstLastPara="1" wrap="square" lIns="91425" tIns="45700" rIns="91425" bIns="45700" anchor="ctr">
            <a:noAutofit/>
          </a:bodyPr>
          <a:lstStyle>
            <a:lvl1pPr algn="ctr">
              <a:lnSpc>
                <a:spcPct val="100000"/>
              </a:lnSpc>
              <a:spcBef>
                <a:spcPts val="667"/>
              </a:spcBef>
              <a:spcAft>
                <a:spcPts val="0"/>
              </a:spcAft>
              <a:buNone/>
              <a:defRPr sz="1600" b="1" i="0">
                <a:solidFill>
                  <a:schemeClr val="dk1"/>
                </a:solidFill>
                <a:latin typeface="Montserrat"/>
                <a:ea typeface="Montserrat"/>
                <a:cs typeface="Montserrat"/>
              </a:defRPr>
            </a:lvl1pPr>
            <a:lvl2pPr algn="ctr">
              <a:lnSpc>
                <a:spcPct val="100000"/>
              </a:lnSpc>
              <a:spcBef>
                <a:spcPts val="667"/>
              </a:spcBef>
              <a:spcAft>
                <a:spcPts val="0"/>
              </a:spcAft>
              <a:buNone/>
              <a:defRPr sz="1250"/>
            </a:lvl2pPr>
            <a:lvl3pPr algn="ctr">
              <a:lnSpc>
                <a:spcPct val="100000"/>
              </a:lnSpc>
              <a:spcBef>
                <a:spcPts val="667"/>
              </a:spcBef>
              <a:spcAft>
                <a:spcPts val="0"/>
              </a:spcAft>
              <a:buNone/>
              <a:defRPr sz="1125"/>
            </a:lvl3pPr>
            <a:lvl4pPr algn="ctr">
              <a:lnSpc>
                <a:spcPct val="100000"/>
              </a:lnSpc>
              <a:spcBef>
                <a:spcPts val="667"/>
              </a:spcBef>
              <a:spcAft>
                <a:spcPts val="0"/>
              </a:spcAft>
              <a:buNone/>
              <a:defRPr sz="1000"/>
            </a:lvl4pPr>
            <a:lvl5pPr algn="ctr">
              <a:lnSpc>
                <a:spcPct val="100000"/>
              </a:lnSpc>
              <a:spcBef>
                <a:spcPts val="667"/>
              </a:spcBef>
              <a:spcAft>
                <a:spcPts val="0"/>
              </a:spcAft>
              <a:buNone/>
              <a:defRPr sz="1000"/>
            </a:lvl5pPr>
            <a:lvl6pPr algn="ctr">
              <a:lnSpc>
                <a:spcPct val="90000"/>
              </a:lnSpc>
              <a:spcBef>
                <a:spcPts val="312"/>
              </a:spcBef>
              <a:spcAft>
                <a:spcPts val="0"/>
              </a:spcAft>
              <a:buNone/>
              <a:defRPr sz="1000"/>
            </a:lvl6pPr>
            <a:lvl7pPr algn="ctr">
              <a:lnSpc>
                <a:spcPct val="90000"/>
              </a:lnSpc>
              <a:spcBef>
                <a:spcPts val="312"/>
              </a:spcBef>
              <a:spcAft>
                <a:spcPts val="0"/>
              </a:spcAft>
              <a:buNone/>
              <a:defRPr sz="1000"/>
            </a:lvl7pPr>
            <a:lvl8pPr algn="ctr">
              <a:lnSpc>
                <a:spcPct val="90000"/>
              </a:lnSpc>
              <a:spcBef>
                <a:spcPts val="312"/>
              </a:spcBef>
              <a:spcAft>
                <a:spcPts val="0"/>
              </a:spcAft>
              <a:buNone/>
              <a:defRPr sz="1000"/>
            </a:lvl8pPr>
            <a:lvl9pPr algn="ctr">
              <a:lnSpc>
                <a:spcPct val="90000"/>
              </a:lnSpc>
              <a:spcBef>
                <a:spcPts val="312"/>
              </a:spcBef>
              <a:spcAft>
                <a:spcPts val="0"/>
              </a:spcAft>
              <a:buNone/>
              <a:defRPr sz="1000"/>
            </a:lvl9pPr>
          </a:lstStyle>
          <a:p>
            <a:endParaRPr/>
          </a:p>
        </p:txBody>
      </p:sp>
      <p:pic>
        <p:nvPicPr>
          <p:cNvPr id="12" name="Google Shape;12;p33"/>
          <p:cNvPicPr>
            <a:picLocks noChangeAspect="1"/>
          </p:cNvPicPr>
          <p:nvPr/>
        </p:nvPicPr>
        <p:blipFill rotWithShape="1">
          <a:blip r:embed="rId2">
            <a:alphaModFix/>
          </a:blip>
          <a:srcRect/>
          <a:stretch/>
        </p:blipFill>
        <p:spPr>
          <a:xfrm>
            <a:off x="8176344" y="5017740"/>
            <a:ext cx="1820900" cy="486152"/>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bg>
      <p:bgPr>
        <a:solidFill>
          <a:schemeClr val="lt1"/>
        </a:solidFill>
        <a:effectLst/>
      </p:bgPr>
    </p:bg>
    <p:spTree>
      <p:nvGrpSpPr>
        <p:cNvPr id="1" name=""/>
        <p:cNvGrpSpPr/>
        <p:nvPr/>
      </p:nvGrpSpPr>
      <p:grpSpPr>
        <a:xfrm>
          <a:off x="0" y="0"/>
          <a:ext cx="0" cy="0"/>
          <a:chOff x="0" y="0"/>
          <a:chExt cx="0" cy="0"/>
        </a:xfrm>
      </p:grpSpPr>
      <p:sp>
        <p:nvSpPr>
          <p:cNvPr id="14" name="Google Shape;14;p34">
            <a:extLst>
              <a:ext uri="{FF2B5EF4-FFF2-40B4-BE49-F238E27FC236}">
                <a16:creationId xmlns:a16="http://schemas.microsoft.com/office/drawing/2014/main" id="{588DCA2B-DD5A-489F-B15B-6C5076B49B9B}"/>
              </a:ext>
            </a:extLst>
          </p:cNvPr>
          <p:cNvSpPr>
            <a:spLocks noGrp="1"/>
          </p:cNvSpPr>
          <p:nvPr/>
        </p:nvSpPr>
        <p:spPr>
          <a:xfrm>
            <a:off x="0" y="0"/>
            <a:ext cx="10160000" cy="849600"/>
          </a:xfrm>
          <a:prstGeom prst="rect">
            <a:avLst/>
          </a:prstGeom>
          <a:solidFill>
            <a:srgbClr val="41BAB7"/>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endParaRPr/>
          </a:p>
        </p:txBody>
      </p:sp>
      <p:sp>
        <p:nvSpPr>
          <p:cNvPr id="15" name="Google Shape;15;p34">
            <a:extLst>
              <a:ext uri="{FF2B5EF4-FFF2-40B4-BE49-F238E27FC236}">
                <a16:creationId xmlns:a16="http://schemas.microsoft.com/office/drawing/2014/main" id="{1B16FB58-D9FB-4522-889E-534E981444C0}"/>
              </a:ext>
            </a:extLst>
          </p:cNvPr>
          <p:cNvSpPr>
            <a:spLocks noGrp="1"/>
          </p:cNvSpPr>
          <p:nvPr>
            <p:ph type="body" idx="1"/>
          </p:nvPr>
        </p:nvSpPr>
        <p:spPr>
          <a:xfrm>
            <a:off x="465654" y="1123284"/>
            <a:ext cx="9202092" cy="3719172"/>
          </a:xfrm>
          <a:prstGeom prst="rect">
            <a:avLst/>
          </a:prstGeom>
          <a:noFill/>
          <a:ln>
            <a:noFill/>
          </a:ln>
        </p:spPr>
        <p:txBody>
          <a:bodyPr spcFirstLastPara="1" wrap="square" lIns="90000" tIns="45700" rIns="91425" bIns="45700" anchor="t">
            <a:normAutofit/>
          </a:bodyPr>
          <a:lstStyle>
            <a:lvl1pPr marL="457200" indent="-381000" algn="l">
              <a:lnSpc>
                <a:spcPct val="100000"/>
              </a:lnSpc>
              <a:spcBef>
                <a:spcPts val="1000"/>
              </a:spcBef>
              <a:spcAft>
                <a:spcPts val="0"/>
              </a:spcAft>
              <a:buChar char="●"/>
              <a:defRPr sz="2400" b="0">
                <a:latin typeface="Montserrat"/>
                <a:ea typeface="Montserrat"/>
                <a:cs typeface="Montserrat"/>
              </a:defRPr>
            </a:lvl1pPr>
            <a:lvl2pPr marL="914400" indent="-342900" algn="l">
              <a:lnSpc>
                <a:spcPct val="100000"/>
              </a:lnSpc>
              <a:spcBef>
                <a:spcPts val="667"/>
              </a:spcBef>
              <a:spcAft>
                <a:spcPts val="0"/>
              </a:spcAft>
              <a:buChar char="o"/>
              <a:defRPr sz="1800" b="0" i="0">
                <a:solidFill>
                  <a:schemeClr val="accent6"/>
                </a:solidFill>
                <a:latin typeface="Montserrat"/>
                <a:ea typeface="Montserrat"/>
                <a:cs typeface="Montserrat"/>
              </a:defRPr>
            </a:lvl2pPr>
            <a:lvl3pPr marL="1371600" indent="-317500" algn="l">
              <a:lnSpc>
                <a:spcPct val="100000"/>
              </a:lnSpc>
              <a:spcBef>
                <a:spcPts val="667"/>
              </a:spcBef>
              <a:spcAft>
                <a:spcPts val="0"/>
              </a:spcAft>
              <a:buChar char="o"/>
              <a:defRPr sz="1400">
                <a:solidFill>
                  <a:schemeClr val="accent6"/>
                </a:solidFill>
                <a:latin typeface="Montserrat"/>
                <a:ea typeface="Montserrat"/>
                <a:cs typeface="Montserrat"/>
              </a:defRPr>
            </a:lvl3pPr>
            <a:lvl4pPr marL="1828800" indent="-228600" algn="l">
              <a:lnSpc>
                <a:spcPct val="100000"/>
              </a:lnSpc>
              <a:spcBef>
                <a:spcPts val="667"/>
              </a:spcBef>
              <a:spcAft>
                <a:spcPts val="0"/>
              </a:spcAft>
              <a:buNone/>
              <a:defRPr/>
            </a:lvl4pPr>
            <a:lvl5pPr marL="2286000" indent="-228600" algn="l">
              <a:lnSpc>
                <a:spcPct val="100000"/>
              </a:lnSpc>
              <a:spcBef>
                <a:spcPts val="667"/>
              </a:spcBef>
              <a:spcAft>
                <a:spcPts val="0"/>
              </a:spcAft>
              <a:buNone/>
              <a:defRPr/>
            </a:lvl5pPr>
            <a:lvl6pPr marL="2743200" indent="-342900" algn="l">
              <a:lnSpc>
                <a:spcPct val="90000"/>
              </a:lnSpc>
              <a:spcBef>
                <a:spcPts val="312"/>
              </a:spcBef>
              <a:spcAft>
                <a:spcPts val="0"/>
              </a:spcAft>
              <a:buChar char="•"/>
              <a:defRPr/>
            </a:lvl6pPr>
            <a:lvl7pPr marL="3200400" indent="-342900" algn="l">
              <a:lnSpc>
                <a:spcPct val="90000"/>
              </a:lnSpc>
              <a:spcBef>
                <a:spcPts val="312"/>
              </a:spcBef>
              <a:spcAft>
                <a:spcPts val="0"/>
              </a:spcAft>
              <a:buChar char="•"/>
              <a:defRPr/>
            </a:lvl7pPr>
            <a:lvl8pPr marL="3657600" indent="-342900" algn="l">
              <a:lnSpc>
                <a:spcPct val="90000"/>
              </a:lnSpc>
              <a:spcBef>
                <a:spcPts val="312"/>
              </a:spcBef>
              <a:spcAft>
                <a:spcPts val="0"/>
              </a:spcAft>
              <a:buChar char="•"/>
              <a:defRPr/>
            </a:lvl8pPr>
            <a:lvl9pPr marL="4114800" indent="-342900" algn="l">
              <a:lnSpc>
                <a:spcPct val="90000"/>
              </a:lnSpc>
              <a:spcBef>
                <a:spcPts val="312"/>
              </a:spcBef>
              <a:spcAft>
                <a:spcPts val="0"/>
              </a:spcAft>
              <a:buChar char="•"/>
              <a:defRPr/>
            </a:lvl9pPr>
          </a:lstStyle>
          <a:p>
            <a:endParaRPr/>
          </a:p>
        </p:txBody>
      </p:sp>
      <p:sp>
        <p:nvSpPr>
          <p:cNvPr id="16" name="Google Shape;16;p34">
            <a:extLst>
              <a:ext uri="{FF2B5EF4-FFF2-40B4-BE49-F238E27FC236}">
                <a16:creationId xmlns:a16="http://schemas.microsoft.com/office/drawing/2014/main" id="{EB06AEBF-F102-40AB-89FD-332108A39737}"/>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lvl1pPr algn="l">
              <a:lnSpc>
                <a:spcPct val="90000"/>
              </a:lnSpc>
              <a:spcBef>
                <a:spcPts val="0"/>
              </a:spcBef>
              <a:spcAft>
                <a:spcPts val="0"/>
              </a:spcAft>
              <a:buNone/>
              <a:defRPr sz="3200">
                <a:solidFill>
                  <a:schemeClr val="lt1"/>
                </a:solidFill>
                <a:latin typeface="Montserrat"/>
                <a:ea typeface="Montserrat"/>
                <a:cs typeface="Montserrat"/>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7" name="Google Shape;17;p34">
            <a:extLst>
              <a:ext uri="{FF2B5EF4-FFF2-40B4-BE49-F238E27FC236}">
                <a16:creationId xmlns:a16="http://schemas.microsoft.com/office/drawing/2014/main" id="{67CB6D57-56DF-4415-BB1E-82630828FA69}"/>
              </a:ext>
            </a:extLst>
          </p:cNvPr>
          <p:cNvSpPr>
            <a:spLocks noGrp="1"/>
          </p:cNvSpPr>
          <p:nvPr/>
        </p:nvSpPr>
        <p:spPr>
          <a:xfrm>
            <a:off x="933175" y="5399937"/>
            <a:ext cx="8406487" cy="215444"/>
          </a:xfrm>
          <a:prstGeom prst="rect">
            <a:avLst/>
          </a:prstGeom>
          <a:noFill/>
          <a:ln>
            <a:noFill/>
          </a:ln>
        </p:spPr>
        <p:txBody>
          <a:bodyPr spcFirstLastPara="1" wrap="square" lIns="91425" tIns="45700" rIns="91425" bIns="45700" anchor="t">
            <a:spAutoFit/>
          </a:bodyPr>
          <a:lstStyle/>
          <a:p>
            <a:pPr marL="0" indent="0" algn="ctr">
              <a:lnSpc>
                <a:spcPct val="100000"/>
              </a:lnSpc>
              <a:spcBef>
                <a:spcPts val="0"/>
              </a:spcBef>
              <a:spcAft>
                <a:spcPts val="0"/>
              </a:spcAft>
              <a:buNone/>
            </a:pPr>
            <a:r>
              <a:rPr sz="800" b="0" i="0" u="none" cap="none">
                <a:solidFill>
                  <a:srgbClr val="000000"/>
                </a:solidFill>
                <a:latin typeface="Montserrat"/>
                <a:ea typeface="Montserrat"/>
                <a:cs typeface="Montserrat"/>
              </a:rPr>
              <a:t>Private &amp; Confidential | Copyright © 2025 Security Pattern s.r.l.</a:t>
            </a:r>
          </a:p>
        </p:txBody>
      </p:sp>
      <p:sp>
        <p:nvSpPr>
          <p:cNvPr id="18" name="Google Shape;18;p34">
            <a:extLst>
              <a:ext uri="{FF2B5EF4-FFF2-40B4-BE49-F238E27FC236}">
                <a16:creationId xmlns:a16="http://schemas.microsoft.com/office/drawing/2014/main" id="{2CB57257-476B-443A-BCE2-1F101C403DE7}"/>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lvl1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1pPr>
            <a:lvl2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2pPr>
            <a:lvl3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3pPr>
            <a:lvl4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4pPr>
            <a:lvl5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5pPr>
            <a:lvl6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6pPr>
            <a:lvl7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7pPr>
            <a:lvl8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8pPr>
            <a:lvl9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9pPr>
          </a:lstStyle>
          <a:p>
            <a:pPr marL="0" indent="0" algn="r">
              <a:spcBef>
                <a:spcPts val="0"/>
              </a:spcBef>
              <a:spcAft>
                <a:spcPts val="0"/>
              </a:spcAft>
              <a:buNone/>
            </a:pPr>
            <a:fld id="{00000000-1234-1234-1234-123412341234}" type="slidenum">
              <a:t>‹nr.›</a:t>
            </a:fld>
            <a:endParaRPr/>
          </a:p>
        </p:txBody>
      </p:sp>
      <p:pic>
        <p:nvPicPr>
          <p:cNvPr id="19" name="Google Shape;19;p34"/>
          <p:cNvPicPr>
            <a:picLocks noChangeAspect="1"/>
          </p:cNvPicPr>
          <p:nvPr/>
        </p:nvPicPr>
        <p:blipFill rotWithShape="1">
          <a:blip r:embed="rId2">
            <a:alphaModFix/>
          </a:blip>
          <a:srcRect/>
          <a:stretch/>
        </p:blipFill>
        <p:spPr>
          <a:xfrm>
            <a:off x="206400" y="5075910"/>
            <a:ext cx="489600" cy="489000"/>
          </a:xfrm>
          <a:prstGeom prst="rect">
            <a:avLst/>
          </a:prstGeom>
          <a:ln>
            <a:noFill/>
          </a:ln>
        </p:spPr>
      </p:pic>
      <p:pic>
        <p:nvPicPr>
          <p:cNvPr id="20" name="Google Shape;20;p34"/>
          <p:cNvPicPr>
            <a:picLocks noChangeAspect="1"/>
          </p:cNvPicPr>
          <p:nvPr/>
        </p:nvPicPr>
        <p:blipFill rotWithShape="1">
          <a:blip r:embed="rId3">
            <a:alphaModFix/>
          </a:blip>
          <a:srcRect/>
          <a:stretch/>
        </p:blipFill>
        <p:spPr>
          <a:xfrm>
            <a:off x="214665" y="5084040"/>
            <a:ext cx="1656184" cy="529589"/>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p:cSld name="Section">
    <p:bg>
      <p:bgPr>
        <a:solidFill>
          <a:srgbClr val="41BAB7"/>
        </a:solidFill>
        <a:effectLst/>
      </p:bgPr>
    </p:bg>
    <p:spTree>
      <p:nvGrpSpPr>
        <p:cNvPr id="1" name=""/>
        <p:cNvGrpSpPr/>
        <p:nvPr/>
      </p:nvGrpSpPr>
      <p:grpSpPr>
        <a:xfrm>
          <a:off x="0" y="0"/>
          <a:ext cx="0" cy="0"/>
          <a:chOff x="0" y="0"/>
          <a:chExt cx="0" cy="0"/>
        </a:xfrm>
      </p:grpSpPr>
      <p:sp>
        <p:nvSpPr>
          <p:cNvPr id="22" name="Google Shape;22;p35">
            <a:extLst>
              <a:ext uri="{FF2B5EF4-FFF2-40B4-BE49-F238E27FC236}">
                <a16:creationId xmlns:a16="http://schemas.microsoft.com/office/drawing/2014/main" id="{93B9BB04-0BF6-488B-9DF7-FF750D32554A}"/>
              </a:ext>
            </a:extLst>
          </p:cNvPr>
          <p:cNvSpPr>
            <a:spLocks noGrp="1"/>
          </p:cNvSpPr>
          <p:nvPr>
            <p:ph type="title"/>
          </p:nvPr>
        </p:nvSpPr>
        <p:spPr>
          <a:xfrm>
            <a:off x="855531" y="1428344"/>
            <a:ext cx="8406209" cy="1765463"/>
          </a:xfrm>
          <a:prstGeom prst="rect">
            <a:avLst/>
          </a:prstGeom>
          <a:noFill/>
          <a:ln>
            <a:noFill/>
          </a:ln>
        </p:spPr>
        <p:txBody>
          <a:bodyPr spcFirstLastPara="1" wrap="square" lIns="91425" tIns="45700" rIns="91425" bIns="45700" anchor="b">
            <a:noAutofit/>
          </a:bodyPr>
          <a:lstStyle>
            <a:lvl1pPr algn="l">
              <a:lnSpc>
                <a:spcPct val="90000"/>
              </a:lnSpc>
              <a:spcBef>
                <a:spcPts val="0"/>
              </a:spcBef>
              <a:spcAft>
                <a:spcPts val="0"/>
              </a:spcAft>
              <a:buNone/>
              <a:defRPr sz="3600">
                <a:solidFill>
                  <a:schemeClr val="lt1"/>
                </a:solidFill>
                <a:latin typeface="Montserrat"/>
                <a:ea typeface="Montserrat"/>
                <a:cs typeface="Montserrat"/>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3" name="Google Shape;23;p35">
            <a:extLst>
              <a:ext uri="{FF2B5EF4-FFF2-40B4-BE49-F238E27FC236}">
                <a16:creationId xmlns:a16="http://schemas.microsoft.com/office/drawing/2014/main" id="{F60B23AA-A484-4898-BB09-AC9ED8EC3947}"/>
              </a:ext>
            </a:extLst>
          </p:cNvPr>
          <p:cNvSpPr>
            <a:spLocks noGrp="1"/>
          </p:cNvSpPr>
          <p:nvPr>
            <p:ph type="body" idx="1"/>
          </p:nvPr>
        </p:nvSpPr>
        <p:spPr>
          <a:xfrm>
            <a:off x="855531" y="3137318"/>
            <a:ext cx="8406209" cy="413720"/>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667"/>
              </a:spcBef>
              <a:spcAft>
                <a:spcPts val="0"/>
              </a:spcAft>
              <a:buNone/>
              <a:defRPr sz="1800" b="0" i="0">
                <a:solidFill>
                  <a:schemeClr val="lt1"/>
                </a:solidFill>
                <a:latin typeface="Montserrat"/>
                <a:ea typeface="Montserrat"/>
                <a:cs typeface="Montserrat"/>
              </a:defRPr>
            </a:lvl1pPr>
            <a:lvl2pPr marL="914400" indent="-342900" algn="l">
              <a:lnSpc>
                <a:spcPct val="100000"/>
              </a:lnSpc>
              <a:spcBef>
                <a:spcPts val="667"/>
              </a:spcBef>
              <a:spcAft>
                <a:spcPts val="0"/>
              </a:spcAft>
              <a:buChar char="o"/>
              <a:defRPr/>
            </a:lvl2pPr>
            <a:lvl3pPr marL="1371600" indent="-342900" algn="l">
              <a:lnSpc>
                <a:spcPct val="100000"/>
              </a:lnSpc>
              <a:spcBef>
                <a:spcPts val="667"/>
              </a:spcBef>
              <a:spcAft>
                <a:spcPts val="0"/>
              </a:spcAft>
              <a:buChar char="o"/>
              <a:defRPr/>
            </a:lvl3pPr>
            <a:lvl4pPr marL="1828800" indent="-342900" algn="l">
              <a:lnSpc>
                <a:spcPct val="100000"/>
              </a:lnSpc>
              <a:spcBef>
                <a:spcPts val="667"/>
              </a:spcBef>
              <a:spcAft>
                <a:spcPts val="0"/>
              </a:spcAft>
              <a:buChar char="o"/>
              <a:defRPr/>
            </a:lvl4pPr>
            <a:lvl5pPr marL="2286000" indent="-342900" algn="l">
              <a:lnSpc>
                <a:spcPct val="100000"/>
              </a:lnSpc>
              <a:spcBef>
                <a:spcPts val="667"/>
              </a:spcBef>
              <a:spcAft>
                <a:spcPts val="0"/>
              </a:spcAft>
              <a:buChar char="o"/>
              <a:defRPr/>
            </a:lvl5pPr>
            <a:lvl6pPr marL="2743200" indent="-342900" algn="l">
              <a:lnSpc>
                <a:spcPct val="90000"/>
              </a:lnSpc>
              <a:spcBef>
                <a:spcPts val="312"/>
              </a:spcBef>
              <a:spcAft>
                <a:spcPts val="0"/>
              </a:spcAft>
              <a:buChar char="•"/>
              <a:defRPr/>
            </a:lvl6pPr>
            <a:lvl7pPr marL="3200400" indent="-342900" algn="l">
              <a:lnSpc>
                <a:spcPct val="90000"/>
              </a:lnSpc>
              <a:spcBef>
                <a:spcPts val="312"/>
              </a:spcBef>
              <a:spcAft>
                <a:spcPts val="0"/>
              </a:spcAft>
              <a:buChar char="•"/>
              <a:defRPr/>
            </a:lvl7pPr>
            <a:lvl8pPr marL="3657600" indent="-342900" algn="l">
              <a:lnSpc>
                <a:spcPct val="90000"/>
              </a:lnSpc>
              <a:spcBef>
                <a:spcPts val="312"/>
              </a:spcBef>
              <a:spcAft>
                <a:spcPts val="0"/>
              </a:spcAft>
              <a:buChar char="•"/>
              <a:defRPr/>
            </a:lvl8pPr>
            <a:lvl9pPr marL="4114800" indent="-342900" algn="l">
              <a:lnSpc>
                <a:spcPct val="90000"/>
              </a:lnSpc>
              <a:spcBef>
                <a:spcPts val="312"/>
              </a:spcBef>
              <a:spcAft>
                <a:spcPts val="0"/>
              </a:spcAft>
              <a:buChar char="•"/>
              <a:defRPr/>
            </a:lvl9pPr>
          </a:lstStyle>
          <a:p>
            <a:endParaRPr/>
          </a:p>
        </p:txBody>
      </p:sp>
      <p:pic>
        <p:nvPicPr>
          <p:cNvPr id="24" name="Google Shape;24;p35"/>
          <p:cNvPicPr>
            <a:picLocks noChangeAspect="1"/>
          </p:cNvPicPr>
          <p:nvPr/>
        </p:nvPicPr>
        <p:blipFill rotWithShape="1">
          <a:blip r:embed="rId2">
            <a:alphaModFix/>
          </a:blip>
          <a:srcRect/>
          <a:stretch/>
        </p:blipFill>
        <p:spPr>
          <a:xfrm>
            <a:off x="183456" y="5076942"/>
            <a:ext cx="1669161" cy="538439"/>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OT Section">
  <p:cSld name="IOT Section">
    <p:bg>
      <p:bgPr>
        <a:solidFill>
          <a:srgbClr val="3C3C3B"/>
        </a:solidFill>
        <a:effectLst/>
      </p:bgPr>
    </p:bg>
    <p:spTree>
      <p:nvGrpSpPr>
        <p:cNvPr id="1" name=""/>
        <p:cNvGrpSpPr/>
        <p:nvPr/>
      </p:nvGrpSpPr>
      <p:grpSpPr>
        <a:xfrm>
          <a:off x="0" y="0"/>
          <a:ext cx="0" cy="0"/>
          <a:chOff x="0" y="0"/>
          <a:chExt cx="0" cy="0"/>
        </a:xfrm>
      </p:grpSpPr>
      <p:sp>
        <p:nvSpPr>
          <p:cNvPr id="26" name="Google Shape;26;p36">
            <a:extLst>
              <a:ext uri="{FF2B5EF4-FFF2-40B4-BE49-F238E27FC236}">
                <a16:creationId xmlns:a16="http://schemas.microsoft.com/office/drawing/2014/main" id="{59C4E349-DB66-42C1-8824-FA58FDC33DBE}"/>
              </a:ext>
            </a:extLst>
          </p:cNvPr>
          <p:cNvSpPr>
            <a:spLocks noGrp="1"/>
          </p:cNvSpPr>
          <p:nvPr>
            <p:ph type="title"/>
          </p:nvPr>
        </p:nvSpPr>
        <p:spPr>
          <a:xfrm>
            <a:off x="855531" y="1428344"/>
            <a:ext cx="8406209" cy="1765463"/>
          </a:xfrm>
          <a:prstGeom prst="rect">
            <a:avLst/>
          </a:prstGeom>
          <a:noFill/>
          <a:ln>
            <a:noFill/>
          </a:ln>
        </p:spPr>
        <p:txBody>
          <a:bodyPr spcFirstLastPara="1" wrap="square" lIns="91425" tIns="45700" rIns="91425" bIns="45700" anchor="b">
            <a:noAutofit/>
          </a:bodyPr>
          <a:lstStyle>
            <a:lvl1pPr algn="l">
              <a:lnSpc>
                <a:spcPct val="90000"/>
              </a:lnSpc>
              <a:spcBef>
                <a:spcPts val="0"/>
              </a:spcBef>
              <a:spcAft>
                <a:spcPts val="0"/>
              </a:spcAft>
              <a:buNone/>
              <a:defRPr sz="3600">
                <a:solidFill>
                  <a:schemeClr val="lt1"/>
                </a:solidFill>
                <a:latin typeface="Montserrat"/>
                <a:ea typeface="Montserrat"/>
                <a:cs typeface="Montserrat"/>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7" name="Google Shape;27;p36">
            <a:extLst>
              <a:ext uri="{FF2B5EF4-FFF2-40B4-BE49-F238E27FC236}">
                <a16:creationId xmlns:a16="http://schemas.microsoft.com/office/drawing/2014/main" id="{193A7C33-6008-4FA5-A23F-534A00C92D82}"/>
              </a:ext>
            </a:extLst>
          </p:cNvPr>
          <p:cNvSpPr>
            <a:spLocks noGrp="1"/>
          </p:cNvSpPr>
          <p:nvPr>
            <p:ph type="body" idx="1"/>
          </p:nvPr>
        </p:nvSpPr>
        <p:spPr>
          <a:xfrm>
            <a:off x="855531" y="3137318"/>
            <a:ext cx="8406209" cy="413720"/>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667"/>
              </a:spcBef>
              <a:spcAft>
                <a:spcPts val="0"/>
              </a:spcAft>
              <a:buNone/>
              <a:defRPr sz="1800" b="0" i="0">
                <a:solidFill>
                  <a:schemeClr val="lt1"/>
                </a:solidFill>
                <a:latin typeface="Montserrat"/>
                <a:ea typeface="Montserrat"/>
                <a:cs typeface="Montserrat"/>
              </a:defRPr>
            </a:lvl1pPr>
            <a:lvl2pPr marL="914400" indent="-342900" algn="l">
              <a:lnSpc>
                <a:spcPct val="100000"/>
              </a:lnSpc>
              <a:spcBef>
                <a:spcPts val="667"/>
              </a:spcBef>
              <a:spcAft>
                <a:spcPts val="0"/>
              </a:spcAft>
              <a:buChar char="o"/>
              <a:defRPr/>
            </a:lvl2pPr>
            <a:lvl3pPr marL="1371600" indent="-342900" algn="l">
              <a:lnSpc>
                <a:spcPct val="100000"/>
              </a:lnSpc>
              <a:spcBef>
                <a:spcPts val="667"/>
              </a:spcBef>
              <a:spcAft>
                <a:spcPts val="0"/>
              </a:spcAft>
              <a:buChar char="o"/>
              <a:defRPr/>
            </a:lvl3pPr>
            <a:lvl4pPr marL="1828800" indent="-342900" algn="l">
              <a:lnSpc>
                <a:spcPct val="100000"/>
              </a:lnSpc>
              <a:spcBef>
                <a:spcPts val="667"/>
              </a:spcBef>
              <a:spcAft>
                <a:spcPts val="0"/>
              </a:spcAft>
              <a:buChar char="o"/>
              <a:defRPr/>
            </a:lvl4pPr>
            <a:lvl5pPr marL="2286000" indent="-342900" algn="l">
              <a:lnSpc>
                <a:spcPct val="100000"/>
              </a:lnSpc>
              <a:spcBef>
                <a:spcPts val="667"/>
              </a:spcBef>
              <a:spcAft>
                <a:spcPts val="0"/>
              </a:spcAft>
              <a:buChar char="o"/>
              <a:defRPr/>
            </a:lvl5pPr>
            <a:lvl6pPr marL="2743200" indent="-342900" algn="l">
              <a:lnSpc>
                <a:spcPct val="90000"/>
              </a:lnSpc>
              <a:spcBef>
                <a:spcPts val="312"/>
              </a:spcBef>
              <a:spcAft>
                <a:spcPts val="0"/>
              </a:spcAft>
              <a:buChar char="•"/>
              <a:defRPr/>
            </a:lvl6pPr>
            <a:lvl7pPr marL="3200400" indent="-342900" algn="l">
              <a:lnSpc>
                <a:spcPct val="90000"/>
              </a:lnSpc>
              <a:spcBef>
                <a:spcPts val="312"/>
              </a:spcBef>
              <a:spcAft>
                <a:spcPts val="0"/>
              </a:spcAft>
              <a:buChar char="•"/>
              <a:defRPr/>
            </a:lvl7pPr>
            <a:lvl8pPr marL="3657600" indent="-342900" algn="l">
              <a:lnSpc>
                <a:spcPct val="90000"/>
              </a:lnSpc>
              <a:spcBef>
                <a:spcPts val="312"/>
              </a:spcBef>
              <a:spcAft>
                <a:spcPts val="0"/>
              </a:spcAft>
              <a:buChar char="•"/>
              <a:defRPr/>
            </a:lvl8pPr>
            <a:lvl9pPr marL="4114800" indent="-342900" algn="l">
              <a:lnSpc>
                <a:spcPct val="90000"/>
              </a:lnSpc>
              <a:spcBef>
                <a:spcPts val="312"/>
              </a:spcBef>
              <a:spcAft>
                <a:spcPts val="0"/>
              </a:spcAft>
              <a:buChar char="•"/>
              <a:defRPr/>
            </a:lvl9pPr>
          </a:lstStyle>
          <a:p>
            <a:endParaRPr/>
          </a:p>
        </p:txBody>
      </p:sp>
      <p:pic>
        <p:nvPicPr>
          <p:cNvPr id="28" name="Google Shape;28;p36"/>
          <p:cNvPicPr>
            <a:picLocks noChangeAspect="1"/>
          </p:cNvPicPr>
          <p:nvPr/>
        </p:nvPicPr>
        <p:blipFill rotWithShape="1">
          <a:blip r:embed="rId2">
            <a:alphaModFix/>
          </a:blip>
          <a:srcRect/>
          <a:stretch/>
        </p:blipFill>
        <p:spPr>
          <a:xfrm>
            <a:off x="183456" y="5076942"/>
            <a:ext cx="1669161" cy="538439"/>
          </a:xfrm>
          <a:prstGeom prst="rect">
            <a:avLst/>
          </a:prstGeom>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mpty">
  <p:cSld name="Empty">
    <p:bg>
      <p:bgPr>
        <a:solidFill>
          <a:schemeClr val="lt1"/>
        </a:solidFill>
        <a:effectLst/>
      </p:bgPr>
    </p:bg>
    <p:spTree>
      <p:nvGrpSpPr>
        <p:cNvPr id="1" name=""/>
        <p:cNvGrpSpPr/>
        <p:nvPr/>
      </p:nvGrpSpPr>
      <p:grpSpPr>
        <a:xfrm>
          <a:off x="0" y="0"/>
          <a:ext cx="0" cy="0"/>
          <a:chOff x="0" y="0"/>
          <a:chExt cx="0" cy="0"/>
        </a:xfrm>
      </p:grpSpPr>
      <p:sp>
        <p:nvSpPr>
          <p:cNvPr id="30" name="Google Shape;30;p37">
            <a:extLst>
              <a:ext uri="{FF2B5EF4-FFF2-40B4-BE49-F238E27FC236}">
                <a16:creationId xmlns:a16="http://schemas.microsoft.com/office/drawing/2014/main" id="{D0897A4F-87D7-44D5-8DB9-7F8E15DA1E68}"/>
              </a:ext>
            </a:extLst>
          </p:cNvPr>
          <p:cNvSpPr>
            <a:spLocks noGrp="1"/>
          </p:cNvSpPr>
          <p:nvPr/>
        </p:nvSpPr>
        <p:spPr>
          <a:xfrm>
            <a:off x="0" y="0"/>
            <a:ext cx="10160000" cy="849600"/>
          </a:xfrm>
          <a:prstGeom prst="rect">
            <a:avLst/>
          </a:prstGeom>
          <a:solidFill>
            <a:srgbClr val="41BAB7"/>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endParaRPr/>
          </a:p>
        </p:txBody>
      </p:sp>
      <p:sp>
        <p:nvSpPr>
          <p:cNvPr id="31" name="Google Shape;31;p37">
            <a:extLst>
              <a:ext uri="{FF2B5EF4-FFF2-40B4-BE49-F238E27FC236}">
                <a16:creationId xmlns:a16="http://schemas.microsoft.com/office/drawing/2014/main" id="{E9AD88D0-75A0-4A0E-B8D5-939F98F67D12}"/>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lvl1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1pPr>
            <a:lvl2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2pPr>
            <a:lvl3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3pPr>
            <a:lvl4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4pPr>
            <a:lvl5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5pPr>
            <a:lvl6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6pPr>
            <a:lvl7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7pPr>
            <a:lvl8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8pPr>
            <a:lvl9pPr marL="0" indent="0" algn="r">
              <a:lnSpc>
                <a:spcPct val="100000"/>
              </a:lnSpc>
              <a:spcBef>
                <a:spcPts val="0"/>
              </a:spcBef>
              <a:spcAft>
                <a:spcPts val="0"/>
              </a:spcAft>
              <a:buNone/>
              <a:defRPr sz="1400" b="1" i="0" u="none" cap="none">
                <a:solidFill>
                  <a:srgbClr val="41BAB7"/>
                </a:solidFill>
                <a:latin typeface="Montserrat"/>
                <a:ea typeface="Montserrat"/>
                <a:cs typeface="Montserrat"/>
              </a:defRPr>
            </a:lvl9pPr>
          </a:lstStyle>
          <a:p>
            <a:pPr marL="0" indent="0" algn="r">
              <a:spcBef>
                <a:spcPts val="0"/>
              </a:spcBef>
              <a:spcAft>
                <a:spcPts val="0"/>
              </a:spcAft>
              <a:buNone/>
            </a:pPr>
            <a:fld id="{00000000-1234-1234-1234-123412341234}" type="slidenum">
              <a:t>‹nr.›</a:t>
            </a:fld>
            <a:endParaRPr/>
          </a:p>
        </p:txBody>
      </p:sp>
      <p:sp>
        <p:nvSpPr>
          <p:cNvPr id="32" name="Google Shape;32;p37">
            <a:extLst>
              <a:ext uri="{FF2B5EF4-FFF2-40B4-BE49-F238E27FC236}">
                <a16:creationId xmlns:a16="http://schemas.microsoft.com/office/drawing/2014/main" id="{07F6E540-54BE-4C8E-A8C0-DF7EAE5B356B}"/>
              </a:ext>
            </a:extLst>
          </p:cNvPr>
          <p:cNvSpPr>
            <a:spLocks noGrp="1"/>
          </p:cNvSpPr>
          <p:nvPr>
            <p:ph type="title"/>
          </p:nvPr>
        </p:nvSpPr>
        <p:spPr>
          <a:xfrm>
            <a:off x="280375" y="131950"/>
            <a:ext cx="9559088" cy="585707"/>
          </a:xfrm>
          <a:prstGeom prst="rect">
            <a:avLst/>
          </a:prstGeom>
          <a:noFill/>
          <a:ln>
            <a:noFill/>
          </a:ln>
        </p:spPr>
        <p:txBody>
          <a:bodyPr spcFirstLastPara="1" wrap="square" lIns="91425" tIns="45700" rIns="91425" bIns="45700" anchor="ctr">
            <a:noAutofit/>
          </a:bodyPr>
          <a:lstStyle>
            <a:lvl1pPr algn="l">
              <a:lnSpc>
                <a:spcPct val="90000"/>
              </a:lnSpc>
              <a:spcBef>
                <a:spcPts val="0"/>
              </a:spcBef>
              <a:spcAft>
                <a:spcPts val="0"/>
              </a:spcAft>
              <a:buNone/>
              <a:defRPr sz="3200">
                <a:solidFill>
                  <a:schemeClr val="lt1"/>
                </a:solidFill>
                <a:latin typeface="Montserrat"/>
                <a:ea typeface="Montserrat"/>
                <a:cs typeface="Montserrat"/>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3" name="Google Shape;33;p37">
            <a:extLst>
              <a:ext uri="{FF2B5EF4-FFF2-40B4-BE49-F238E27FC236}">
                <a16:creationId xmlns:a16="http://schemas.microsoft.com/office/drawing/2014/main" id="{785D5FF3-2E11-412F-A3FB-B5A131D2CDE7}"/>
              </a:ext>
            </a:extLst>
          </p:cNvPr>
          <p:cNvSpPr>
            <a:spLocks noGrp="1"/>
          </p:cNvSpPr>
          <p:nvPr/>
        </p:nvSpPr>
        <p:spPr>
          <a:xfrm>
            <a:off x="933175" y="5399937"/>
            <a:ext cx="8406487" cy="215444"/>
          </a:xfrm>
          <a:prstGeom prst="rect">
            <a:avLst/>
          </a:prstGeom>
          <a:noFill/>
          <a:ln>
            <a:noFill/>
          </a:ln>
        </p:spPr>
        <p:txBody>
          <a:bodyPr spcFirstLastPara="1" wrap="square" lIns="91425" tIns="45700" rIns="91425" bIns="45700" anchor="t">
            <a:spAutoFit/>
          </a:bodyPr>
          <a:lstStyle/>
          <a:p>
            <a:pPr marL="0" indent="0" algn="ctr">
              <a:lnSpc>
                <a:spcPct val="100000"/>
              </a:lnSpc>
              <a:spcBef>
                <a:spcPts val="0"/>
              </a:spcBef>
              <a:spcAft>
                <a:spcPts val="0"/>
              </a:spcAft>
              <a:buNone/>
            </a:pPr>
            <a:r>
              <a:rPr sz="800" b="0" i="0" u="none" cap="none">
                <a:solidFill>
                  <a:srgbClr val="000000"/>
                </a:solidFill>
                <a:latin typeface="Montserrat"/>
                <a:ea typeface="Montserrat"/>
                <a:cs typeface="Montserrat"/>
              </a:rPr>
              <a:t>Private &amp; Confidential | Copyright © 2025 Security Pattern s.r.l.</a:t>
            </a:r>
          </a:p>
        </p:txBody>
      </p:sp>
      <p:pic>
        <p:nvPicPr>
          <p:cNvPr id="34" name="Google Shape;34;p37"/>
          <p:cNvPicPr>
            <a:picLocks noChangeAspect="1"/>
          </p:cNvPicPr>
          <p:nvPr/>
        </p:nvPicPr>
        <p:blipFill rotWithShape="1">
          <a:blip r:embed="rId2">
            <a:alphaModFix/>
          </a:blip>
          <a:srcRect/>
          <a:stretch/>
        </p:blipFill>
        <p:spPr>
          <a:xfrm>
            <a:off x="206400" y="5075910"/>
            <a:ext cx="489600" cy="489000"/>
          </a:xfrm>
          <a:prstGeom prst="rect">
            <a:avLst/>
          </a:prstGeom>
          <a:ln>
            <a:noFill/>
          </a:ln>
        </p:spPr>
      </p:pic>
      <p:pic>
        <p:nvPicPr>
          <p:cNvPr id="35" name="Google Shape;35;p37"/>
          <p:cNvPicPr>
            <a:picLocks noChangeAspect="1"/>
          </p:cNvPicPr>
          <p:nvPr/>
        </p:nvPicPr>
        <p:blipFill rotWithShape="1">
          <a:blip r:embed="rId3">
            <a:alphaModFix/>
          </a:blip>
          <a:srcRect/>
          <a:stretch/>
        </p:blipFill>
        <p:spPr>
          <a:xfrm>
            <a:off x="214665" y="5084040"/>
            <a:ext cx="1656184" cy="529589"/>
          </a:xfrm>
          <a:prstGeom prst="rect">
            <a:avLst/>
          </a:prstGeom>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laim Red!">
  <p:cSld name="Claim Red!">
    <p:bg>
      <p:bgPr>
        <a:solidFill>
          <a:schemeClr val="accent2"/>
        </a:solidFill>
        <a:effectLst/>
      </p:bgPr>
    </p:bg>
    <p:spTree>
      <p:nvGrpSpPr>
        <p:cNvPr id="1" name=""/>
        <p:cNvGrpSpPr/>
        <p:nvPr/>
      </p:nvGrpSpPr>
      <p:grpSpPr>
        <a:xfrm>
          <a:off x="0" y="0"/>
          <a:ext cx="0" cy="0"/>
          <a:chOff x="0" y="0"/>
          <a:chExt cx="0" cy="0"/>
        </a:xfrm>
      </p:grpSpPr>
      <p:sp>
        <p:nvSpPr>
          <p:cNvPr id="37" name="Google Shape;37;p38">
            <a:extLst>
              <a:ext uri="{FF2B5EF4-FFF2-40B4-BE49-F238E27FC236}">
                <a16:creationId xmlns:a16="http://schemas.microsoft.com/office/drawing/2014/main" id="{F225510D-2F5B-42A9-96F3-1C844C52B8F3}"/>
              </a:ext>
            </a:extLst>
          </p:cNvPr>
          <p:cNvSpPr>
            <a:spLocks noGrp="1"/>
          </p:cNvSpPr>
          <p:nvPr>
            <p:ph type="title"/>
          </p:nvPr>
        </p:nvSpPr>
        <p:spPr>
          <a:xfrm>
            <a:off x="2594219" y="2044244"/>
            <a:ext cx="4971567" cy="1626512"/>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None/>
              <a:defRPr sz="3600">
                <a:solidFill>
                  <a:schemeClr val="lt1"/>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8" name="Google Shape;38;p38">
            <a:extLst>
              <a:ext uri="{FF2B5EF4-FFF2-40B4-BE49-F238E27FC236}">
                <a16:creationId xmlns:a16="http://schemas.microsoft.com/office/drawing/2014/main" id="{8AC6AE9A-B7C0-431B-83DB-29F0CB424D7A}"/>
              </a:ext>
            </a:extLst>
          </p:cNvPr>
          <p:cNvSpPr>
            <a:spLocks noGrp="1"/>
          </p:cNvSpPr>
          <p:nvPr/>
        </p:nvSpPr>
        <p:spPr>
          <a:xfrm>
            <a:off x="933175" y="5399937"/>
            <a:ext cx="8406487" cy="215444"/>
          </a:xfrm>
          <a:prstGeom prst="rect">
            <a:avLst/>
          </a:prstGeom>
          <a:noFill/>
          <a:ln>
            <a:noFill/>
          </a:ln>
        </p:spPr>
        <p:txBody>
          <a:bodyPr spcFirstLastPara="1" wrap="square" lIns="91425" tIns="45700" rIns="91425" bIns="45700" anchor="t">
            <a:spAutoFit/>
          </a:bodyPr>
          <a:lstStyle/>
          <a:p>
            <a:pPr marL="0" indent="0" algn="ctr">
              <a:lnSpc>
                <a:spcPct val="100000"/>
              </a:lnSpc>
              <a:spcBef>
                <a:spcPts val="0"/>
              </a:spcBef>
              <a:spcAft>
                <a:spcPts val="0"/>
              </a:spcAft>
              <a:buNone/>
            </a:pPr>
            <a:r>
              <a:rPr sz="800" b="0" i="0" u="none" cap="none">
                <a:solidFill>
                  <a:schemeClr val="lt1"/>
                </a:solidFill>
                <a:latin typeface="Montserrat"/>
                <a:ea typeface="Montserrat"/>
                <a:cs typeface="Montserrat"/>
              </a:rPr>
              <a:t>Private &amp; Confidential | Copyright © 2025 Security Pattern s.r.l.</a:t>
            </a:r>
          </a:p>
        </p:txBody>
      </p:sp>
      <p:sp>
        <p:nvSpPr>
          <p:cNvPr id="39" name="Google Shape;39;p38">
            <a:extLst>
              <a:ext uri="{FF2B5EF4-FFF2-40B4-BE49-F238E27FC236}">
                <a16:creationId xmlns:a16="http://schemas.microsoft.com/office/drawing/2014/main" id="{2F862C8E-A47D-4461-AD13-FD5FB0CE186E}"/>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lvl1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1pPr>
            <a:lvl2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2pPr>
            <a:lvl3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3pPr>
            <a:lvl4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4pPr>
            <a:lvl5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5pPr>
            <a:lvl6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6pPr>
            <a:lvl7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7pPr>
            <a:lvl8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8pPr>
            <a:lvl9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9pPr>
          </a:lstStyle>
          <a:p>
            <a:pPr marL="0" indent="0" algn="r">
              <a:spcBef>
                <a:spcPts val="0"/>
              </a:spcBef>
              <a:spcAft>
                <a:spcPts val="0"/>
              </a:spcAft>
              <a:buNone/>
            </a:pPr>
            <a:fld id="{00000000-1234-1234-1234-123412341234}" type="slidenum">
              <a:t>‹nr.›</a:t>
            </a:fld>
            <a:endParaRPr/>
          </a:p>
        </p:txBody>
      </p:sp>
      <p:pic>
        <p:nvPicPr>
          <p:cNvPr id="40" name="Google Shape;40;p38"/>
          <p:cNvPicPr>
            <a:picLocks noChangeAspect="1"/>
          </p:cNvPicPr>
          <p:nvPr/>
        </p:nvPicPr>
        <p:blipFill rotWithShape="1">
          <a:blip r:embed="rId2">
            <a:alphaModFix/>
          </a:blip>
          <a:srcRect/>
          <a:stretch/>
        </p:blipFill>
        <p:spPr>
          <a:xfrm>
            <a:off x="206400" y="5075910"/>
            <a:ext cx="489600" cy="489600"/>
          </a:xfrm>
          <a:prstGeom prst="rect">
            <a:avLst/>
          </a:prstGeom>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laim Green!">
  <p:cSld name="Claim Green!">
    <p:bg>
      <p:bgPr>
        <a:solidFill>
          <a:schemeClr val="accent4"/>
        </a:solidFill>
        <a:effectLst/>
      </p:bgPr>
    </p:bg>
    <p:spTree>
      <p:nvGrpSpPr>
        <p:cNvPr id="1" name=""/>
        <p:cNvGrpSpPr/>
        <p:nvPr/>
      </p:nvGrpSpPr>
      <p:grpSpPr>
        <a:xfrm>
          <a:off x="0" y="0"/>
          <a:ext cx="0" cy="0"/>
          <a:chOff x="0" y="0"/>
          <a:chExt cx="0" cy="0"/>
        </a:xfrm>
      </p:grpSpPr>
      <p:sp>
        <p:nvSpPr>
          <p:cNvPr id="42" name="Google Shape;42;p39">
            <a:extLst>
              <a:ext uri="{FF2B5EF4-FFF2-40B4-BE49-F238E27FC236}">
                <a16:creationId xmlns:a16="http://schemas.microsoft.com/office/drawing/2014/main" id="{63C71FCB-744B-42BE-88C8-A1D35A08DD9D}"/>
              </a:ext>
            </a:extLst>
          </p:cNvPr>
          <p:cNvSpPr>
            <a:spLocks noGrp="1"/>
          </p:cNvSpPr>
          <p:nvPr>
            <p:ph type="title"/>
          </p:nvPr>
        </p:nvSpPr>
        <p:spPr>
          <a:xfrm>
            <a:off x="2594219" y="2044244"/>
            <a:ext cx="4971567" cy="1626512"/>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None/>
              <a:defRPr sz="3600">
                <a:solidFill>
                  <a:schemeClr val="lt1"/>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43" name="Google Shape;43;p39">
            <a:extLst>
              <a:ext uri="{FF2B5EF4-FFF2-40B4-BE49-F238E27FC236}">
                <a16:creationId xmlns:a16="http://schemas.microsoft.com/office/drawing/2014/main" id="{E4274C19-7C55-4CCE-8CA8-1461844463CC}"/>
              </a:ext>
            </a:extLst>
          </p:cNvPr>
          <p:cNvSpPr>
            <a:spLocks noGrp="1"/>
          </p:cNvSpPr>
          <p:nvPr/>
        </p:nvSpPr>
        <p:spPr>
          <a:xfrm>
            <a:off x="933175" y="5399937"/>
            <a:ext cx="8406487" cy="215444"/>
          </a:xfrm>
          <a:prstGeom prst="rect">
            <a:avLst/>
          </a:prstGeom>
          <a:noFill/>
          <a:ln>
            <a:noFill/>
          </a:ln>
        </p:spPr>
        <p:txBody>
          <a:bodyPr spcFirstLastPara="1" wrap="square" lIns="91425" tIns="45700" rIns="91425" bIns="45700" anchor="t">
            <a:spAutoFit/>
          </a:bodyPr>
          <a:lstStyle/>
          <a:p>
            <a:pPr marL="0" indent="0" algn="ctr">
              <a:lnSpc>
                <a:spcPct val="100000"/>
              </a:lnSpc>
              <a:spcBef>
                <a:spcPts val="0"/>
              </a:spcBef>
              <a:spcAft>
                <a:spcPts val="0"/>
              </a:spcAft>
              <a:buNone/>
            </a:pPr>
            <a:r>
              <a:rPr sz="800" b="0" i="0" u="none" cap="none">
                <a:solidFill>
                  <a:schemeClr val="lt1"/>
                </a:solidFill>
                <a:latin typeface="Montserrat"/>
                <a:ea typeface="Montserrat"/>
                <a:cs typeface="Montserrat"/>
              </a:rPr>
              <a:t>Private &amp; Confidential | Copyright © 2025 Security Pattern s.r.l.</a:t>
            </a:r>
          </a:p>
        </p:txBody>
      </p:sp>
      <p:sp>
        <p:nvSpPr>
          <p:cNvPr id="44" name="Google Shape;44;p39">
            <a:extLst>
              <a:ext uri="{FF2B5EF4-FFF2-40B4-BE49-F238E27FC236}">
                <a16:creationId xmlns:a16="http://schemas.microsoft.com/office/drawing/2014/main" id="{D16423BC-404A-43E7-B910-8BC215F4D9BE}"/>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lvl1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1pPr>
            <a:lvl2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2pPr>
            <a:lvl3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3pPr>
            <a:lvl4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4pPr>
            <a:lvl5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5pPr>
            <a:lvl6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6pPr>
            <a:lvl7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7pPr>
            <a:lvl8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8pPr>
            <a:lvl9pPr marL="0" indent="0" algn="r">
              <a:lnSpc>
                <a:spcPct val="100000"/>
              </a:lnSpc>
              <a:spcBef>
                <a:spcPts val="0"/>
              </a:spcBef>
              <a:spcAft>
                <a:spcPts val="0"/>
              </a:spcAft>
              <a:buNone/>
              <a:defRPr sz="1400" b="1" i="0" u="none" cap="none">
                <a:solidFill>
                  <a:schemeClr val="lt1"/>
                </a:solidFill>
                <a:latin typeface="Montserrat"/>
                <a:ea typeface="Montserrat"/>
                <a:cs typeface="Montserrat"/>
              </a:defRPr>
            </a:lvl9pPr>
          </a:lstStyle>
          <a:p>
            <a:pPr marL="0" indent="0" algn="r">
              <a:spcBef>
                <a:spcPts val="0"/>
              </a:spcBef>
              <a:spcAft>
                <a:spcPts val="0"/>
              </a:spcAft>
              <a:buNone/>
            </a:pPr>
            <a:fld id="{00000000-1234-1234-1234-123412341234}" type="slidenum">
              <a:t>‹nr.›</a:t>
            </a:fld>
            <a:endParaRPr/>
          </a:p>
        </p:txBody>
      </p:sp>
      <p:pic>
        <p:nvPicPr>
          <p:cNvPr id="45" name="Google Shape;45;p39"/>
          <p:cNvPicPr>
            <a:picLocks noChangeAspect="1"/>
          </p:cNvPicPr>
          <p:nvPr/>
        </p:nvPicPr>
        <p:blipFill rotWithShape="1">
          <a:blip r:embed="rId2">
            <a:alphaModFix/>
          </a:blip>
          <a:srcRect/>
          <a:stretch/>
        </p:blipFill>
        <p:spPr>
          <a:xfrm>
            <a:off x="206400" y="5075910"/>
            <a:ext cx="489600" cy="489600"/>
          </a:xfrm>
          <a:prstGeom prst="rect">
            <a:avLst/>
          </a:prstGeom>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aim Yellow!">
  <p:cSld name="Claim Yellow!">
    <p:bg>
      <p:bgPr>
        <a:solidFill>
          <a:schemeClr val="accent5"/>
        </a:solidFill>
        <a:effectLst/>
      </p:bgPr>
    </p:bg>
    <p:spTree>
      <p:nvGrpSpPr>
        <p:cNvPr id="1" name=""/>
        <p:cNvGrpSpPr/>
        <p:nvPr/>
      </p:nvGrpSpPr>
      <p:grpSpPr>
        <a:xfrm>
          <a:off x="0" y="0"/>
          <a:ext cx="0" cy="0"/>
          <a:chOff x="0" y="0"/>
          <a:chExt cx="0" cy="0"/>
        </a:xfrm>
      </p:grpSpPr>
      <p:sp>
        <p:nvSpPr>
          <p:cNvPr id="47" name="Google Shape;47;p40">
            <a:extLst>
              <a:ext uri="{FF2B5EF4-FFF2-40B4-BE49-F238E27FC236}">
                <a16:creationId xmlns:a16="http://schemas.microsoft.com/office/drawing/2014/main" id="{B6A09ECF-FD26-463B-B9F9-E0BB49D0B5B2}"/>
              </a:ext>
            </a:extLst>
          </p:cNvPr>
          <p:cNvSpPr>
            <a:spLocks noGrp="1"/>
          </p:cNvSpPr>
          <p:nvPr>
            <p:ph type="title"/>
          </p:nvPr>
        </p:nvSpPr>
        <p:spPr>
          <a:xfrm>
            <a:off x="2594219" y="2044244"/>
            <a:ext cx="4971567" cy="1626512"/>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None/>
              <a:defRPr sz="3600">
                <a:solidFill>
                  <a:schemeClr val="dk1"/>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48" name="Google Shape;48;p40">
            <a:extLst>
              <a:ext uri="{FF2B5EF4-FFF2-40B4-BE49-F238E27FC236}">
                <a16:creationId xmlns:a16="http://schemas.microsoft.com/office/drawing/2014/main" id="{F010A678-6632-41B1-8BC4-535B53368C48}"/>
              </a:ext>
            </a:extLst>
          </p:cNvPr>
          <p:cNvSpPr>
            <a:spLocks noGrp="1"/>
          </p:cNvSpPr>
          <p:nvPr/>
        </p:nvSpPr>
        <p:spPr>
          <a:xfrm>
            <a:off x="933175" y="5399937"/>
            <a:ext cx="8406487" cy="215444"/>
          </a:xfrm>
          <a:prstGeom prst="rect">
            <a:avLst/>
          </a:prstGeom>
          <a:noFill/>
          <a:ln>
            <a:noFill/>
          </a:ln>
        </p:spPr>
        <p:txBody>
          <a:bodyPr spcFirstLastPara="1" wrap="square" lIns="91425" tIns="45700" rIns="91425" bIns="45700" anchor="t">
            <a:spAutoFit/>
          </a:bodyPr>
          <a:lstStyle/>
          <a:p>
            <a:pPr marL="0" indent="0" algn="ctr">
              <a:lnSpc>
                <a:spcPct val="100000"/>
              </a:lnSpc>
              <a:spcBef>
                <a:spcPts val="0"/>
              </a:spcBef>
              <a:spcAft>
                <a:spcPts val="0"/>
              </a:spcAft>
              <a:buNone/>
            </a:pPr>
            <a:r>
              <a:rPr sz="800" b="0" i="0" u="none" cap="none">
                <a:solidFill>
                  <a:schemeClr val="dk1"/>
                </a:solidFill>
                <a:latin typeface="Montserrat"/>
                <a:ea typeface="Montserrat"/>
                <a:cs typeface="Montserrat"/>
              </a:rPr>
              <a:t>Private &amp; Confidential | Copyright © 2025 Security Pattern s.r.l.</a:t>
            </a:r>
          </a:p>
        </p:txBody>
      </p:sp>
      <p:sp>
        <p:nvSpPr>
          <p:cNvPr id="49" name="Google Shape;49;p40">
            <a:extLst>
              <a:ext uri="{FF2B5EF4-FFF2-40B4-BE49-F238E27FC236}">
                <a16:creationId xmlns:a16="http://schemas.microsoft.com/office/drawing/2014/main" id="{5415075A-C516-4258-880A-BCD021F57E65}"/>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lvl1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1pPr>
            <a:lvl2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2pPr>
            <a:lvl3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3pPr>
            <a:lvl4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4pPr>
            <a:lvl5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5pPr>
            <a:lvl6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6pPr>
            <a:lvl7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7pPr>
            <a:lvl8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8pPr>
            <a:lvl9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9pPr>
          </a:lstStyle>
          <a:p>
            <a:pPr marL="0" indent="0" algn="r">
              <a:spcBef>
                <a:spcPts val="0"/>
              </a:spcBef>
              <a:spcAft>
                <a:spcPts val="0"/>
              </a:spcAft>
              <a:buNone/>
            </a:pPr>
            <a:fld id="{00000000-1234-1234-1234-123412341234}" type="slidenum">
              <a:t>‹nr.›</a:t>
            </a:fld>
            <a:endParaRPr/>
          </a:p>
        </p:txBody>
      </p:sp>
      <p:pic>
        <p:nvPicPr>
          <p:cNvPr id="50" name="Google Shape;50;p40"/>
          <p:cNvPicPr>
            <a:picLocks noChangeAspect="1"/>
          </p:cNvPicPr>
          <p:nvPr/>
        </p:nvPicPr>
        <p:blipFill rotWithShape="1">
          <a:blip r:embed="rId2">
            <a:alphaModFix/>
          </a:blip>
          <a:srcRect/>
          <a:stretch/>
        </p:blipFill>
        <p:spPr>
          <a:xfrm>
            <a:off x="204554" y="5076000"/>
            <a:ext cx="489600" cy="489600"/>
          </a:xfrm>
          <a:prstGeom prst="rect">
            <a:avLst/>
          </a:prstGeom>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laim Grey!">
  <p:cSld name="Claim Grey!">
    <p:bg>
      <p:bgPr>
        <a:solidFill>
          <a:schemeClr val="lt2"/>
        </a:solidFill>
        <a:effectLst/>
      </p:bgPr>
    </p:bg>
    <p:spTree>
      <p:nvGrpSpPr>
        <p:cNvPr id="1" name=""/>
        <p:cNvGrpSpPr/>
        <p:nvPr/>
      </p:nvGrpSpPr>
      <p:grpSpPr>
        <a:xfrm>
          <a:off x="0" y="0"/>
          <a:ext cx="0" cy="0"/>
          <a:chOff x="0" y="0"/>
          <a:chExt cx="0" cy="0"/>
        </a:xfrm>
      </p:grpSpPr>
      <p:sp>
        <p:nvSpPr>
          <p:cNvPr id="52" name="Google Shape;52;p41">
            <a:extLst>
              <a:ext uri="{FF2B5EF4-FFF2-40B4-BE49-F238E27FC236}">
                <a16:creationId xmlns:a16="http://schemas.microsoft.com/office/drawing/2014/main" id="{C0C6C357-F754-4BA8-A1DA-FA76624A043A}"/>
              </a:ext>
            </a:extLst>
          </p:cNvPr>
          <p:cNvSpPr>
            <a:spLocks noGrp="1"/>
          </p:cNvSpPr>
          <p:nvPr>
            <p:ph type="title"/>
          </p:nvPr>
        </p:nvSpPr>
        <p:spPr>
          <a:xfrm>
            <a:off x="2594219" y="2044244"/>
            <a:ext cx="4971567" cy="1626512"/>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None/>
              <a:defRPr sz="3600">
                <a:solidFill>
                  <a:schemeClr val="dk1"/>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53" name="Google Shape;53;p41">
            <a:extLst>
              <a:ext uri="{FF2B5EF4-FFF2-40B4-BE49-F238E27FC236}">
                <a16:creationId xmlns:a16="http://schemas.microsoft.com/office/drawing/2014/main" id="{397CD1DB-201C-4BCE-BCDF-B52569F4A75E}"/>
              </a:ext>
            </a:extLst>
          </p:cNvPr>
          <p:cNvSpPr>
            <a:spLocks noGrp="1"/>
          </p:cNvSpPr>
          <p:nvPr/>
        </p:nvSpPr>
        <p:spPr>
          <a:xfrm>
            <a:off x="933175" y="5399937"/>
            <a:ext cx="8406487" cy="215444"/>
          </a:xfrm>
          <a:prstGeom prst="rect">
            <a:avLst/>
          </a:prstGeom>
          <a:noFill/>
          <a:ln>
            <a:noFill/>
          </a:ln>
        </p:spPr>
        <p:txBody>
          <a:bodyPr spcFirstLastPara="1" wrap="square" lIns="91425" tIns="45700" rIns="91425" bIns="45700" anchor="t">
            <a:spAutoFit/>
          </a:bodyPr>
          <a:lstStyle/>
          <a:p>
            <a:pPr marL="0" indent="0" algn="ctr">
              <a:lnSpc>
                <a:spcPct val="100000"/>
              </a:lnSpc>
              <a:spcBef>
                <a:spcPts val="0"/>
              </a:spcBef>
              <a:spcAft>
                <a:spcPts val="0"/>
              </a:spcAft>
              <a:buNone/>
            </a:pPr>
            <a:r>
              <a:rPr sz="800" b="0" i="0" u="none" cap="none">
                <a:solidFill>
                  <a:schemeClr val="dk1"/>
                </a:solidFill>
                <a:latin typeface="Montserrat"/>
                <a:ea typeface="Montserrat"/>
                <a:cs typeface="Montserrat"/>
              </a:rPr>
              <a:t>Private &amp; Confidential | Copyright © 2023 Security Pattern s.r.l.</a:t>
            </a:r>
          </a:p>
        </p:txBody>
      </p:sp>
      <p:sp>
        <p:nvSpPr>
          <p:cNvPr id="54" name="Google Shape;54;p41">
            <a:extLst>
              <a:ext uri="{FF2B5EF4-FFF2-40B4-BE49-F238E27FC236}">
                <a16:creationId xmlns:a16="http://schemas.microsoft.com/office/drawing/2014/main" id="{FD84C83E-5120-4454-86B2-B08709CAB6F5}"/>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lvl1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1pPr>
            <a:lvl2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2pPr>
            <a:lvl3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3pPr>
            <a:lvl4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4pPr>
            <a:lvl5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5pPr>
            <a:lvl6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6pPr>
            <a:lvl7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7pPr>
            <a:lvl8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8pPr>
            <a:lvl9pPr marL="0" indent="0" algn="r">
              <a:lnSpc>
                <a:spcPct val="100000"/>
              </a:lnSpc>
              <a:spcBef>
                <a:spcPts val="0"/>
              </a:spcBef>
              <a:spcAft>
                <a:spcPts val="0"/>
              </a:spcAft>
              <a:buNone/>
              <a:defRPr sz="1400" b="1" i="0" u="none" cap="none">
                <a:solidFill>
                  <a:schemeClr val="dk1"/>
                </a:solidFill>
                <a:latin typeface="Montserrat"/>
                <a:ea typeface="Montserrat"/>
                <a:cs typeface="Montserrat"/>
              </a:defRPr>
            </a:lvl9pPr>
          </a:lstStyle>
          <a:p>
            <a:pPr marL="0" indent="0" algn="r">
              <a:spcBef>
                <a:spcPts val="0"/>
              </a:spcBef>
              <a:spcAft>
                <a:spcPts val="0"/>
              </a:spcAft>
              <a:buNone/>
            </a:pPr>
            <a:fld id="{00000000-1234-1234-1234-123412341234}" type="slidenum">
              <a:t>‹nr.›</a:t>
            </a:fld>
            <a:endParaRPr/>
          </a:p>
        </p:txBody>
      </p:sp>
      <p:pic>
        <p:nvPicPr>
          <p:cNvPr id="55" name="Google Shape;55;p41"/>
          <p:cNvPicPr>
            <a:picLocks noChangeAspect="1"/>
          </p:cNvPicPr>
          <p:nvPr/>
        </p:nvPicPr>
        <p:blipFill rotWithShape="1">
          <a:blip r:embed="rId2">
            <a:alphaModFix/>
          </a:blip>
          <a:srcRect/>
          <a:stretch/>
        </p:blipFill>
        <p:spPr>
          <a:xfrm>
            <a:off x="204554" y="5076000"/>
            <a:ext cx="489600" cy="48960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 name="Google Shape;7;p32">
            <a:extLst>
              <a:ext uri="{FF2B5EF4-FFF2-40B4-BE49-F238E27FC236}">
                <a16:creationId xmlns:a16="http://schemas.microsoft.com/office/drawing/2014/main" id="{8A584AA8-D0A0-47F3-8E81-3BA3AB21FB02}"/>
              </a:ext>
            </a:extLst>
          </p:cNvPr>
          <p:cNvSpPr>
            <a:spLocks noGrp="1"/>
          </p:cNvSpPr>
          <p:nvPr>
            <p:ph type="title"/>
          </p:nvPr>
        </p:nvSpPr>
        <p:spPr>
          <a:xfrm>
            <a:off x="899587" y="515938"/>
            <a:ext cx="5810251" cy="11046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sz="2750" b="1" i="0" u="none" cap="none">
                <a:solidFill>
                  <a:schemeClr val="dk1"/>
                </a:solidFill>
                <a:latin typeface="Montserrat"/>
                <a:ea typeface="Montserrat"/>
                <a:cs typeface="Montserrat"/>
              </a:defRPr>
            </a:lvl1pPr>
            <a:lvl2pPr>
              <a:spcBef>
                <a:spcPts val="0"/>
              </a:spcBef>
              <a:spcAft>
                <a:spcPts val="0"/>
              </a:spcAft>
              <a:buNone/>
              <a:defRPr sz="1800"/>
            </a:lvl2pPr>
            <a:lvl3pPr>
              <a:spcBef>
                <a:spcPts val="0"/>
              </a:spcBef>
              <a:spcAft>
                <a:spcPts val="0"/>
              </a:spcAft>
              <a:buNone/>
              <a:defRPr sz="1800"/>
            </a:lvl3pPr>
            <a:lvl4pPr>
              <a:spcBef>
                <a:spcPts val="0"/>
              </a:spcBef>
              <a:spcAft>
                <a:spcPts val="0"/>
              </a:spcAft>
              <a:buNone/>
              <a:defRPr sz="1800"/>
            </a:lvl4pPr>
            <a:lvl5pPr>
              <a:spcBef>
                <a:spcPts val="0"/>
              </a:spcBef>
              <a:spcAft>
                <a:spcPts val="0"/>
              </a:spcAft>
              <a:buNone/>
              <a:defRPr sz="1800"/>
            </a:lvl5pPr>
            <a:lvl6pPr>
              <a:spcBef>
                <a:spcPts val="0"/>
              </a:spcBef>
              <a:spcAft>
                <a:spcPts val="0"/>
              </a:spcAft>
              <a:buNone/>
              <a:defRPr sz="1800"/>
            </a:lvl6pPr>
            <a:lvl7pPr>
              <a:spcBef>
                <a:spcPts val="0"/>
              </a:spcBef>
              <a:spcAft>
                <a:spcPts val="0"/>
              </a:spcAft>
              <a:buNone/>
              <a:defRPr sz="1800"/>
            </a:lvl7pPr>
            <a:lvl8pPr>
              <a:spcBef>
                <a:spcPts val="0"/>
              </a:spcBef>
              <a:spcAft>
                <a:spcPts val="0"/>
              </a:spcAft>
              <a:buNone/>
              <a:defRPr sz="1800"/>
            </a:lvl8pPr>
            <a:lvl9pPr>
              <a:spcBef>
                <a:spcPts val="0"/>
              </a:spcBef>
              <a:spcAft>
                <a:spcPts val="0"/>
              </a:spcAft>
              <a:buNone/>
              <a:defRPr sz="1800"/>
            </a:lvl9pPr>
          </a:lstStyle>
          <a:p>
            <a:endParaRPr/>
          </a:p>
        </p:txBody>
      </p:sp>
      <p:sp>
        <p:nvSpPr>
          <p:cNvPr id="8" name="Google Shape;8;p32">
            <a:extLst>
              <a:ext uri="{FF2B5EF4-FFF2-40B4-BE49-F238E27FC236}">
                <a16:creationId xmlns:a16="http://schemas.microsoft.com/office/drawing/2014/main" id="{D09A4027-9426-4EA1-B4EB-0F2041B33B90}"/>
              </a:ext>
            </a:extLst>
          </p:cNvPr>
          <p:cNvSpPr>
            <a:spLocks noGrp="1"/>
          </p:cNvSpPr>
          <p:nvPr>
            <p:ph type="body" idx="1"/>
          </p:nvPr>
        </p:nvSpPr>
        <p:spPr>
          <a:xfrm>
            <a:off x="1110350" y="1848394"/>
            <a:ext cx="8446407" cy="3480314"/>
          </a:xfrm>
          <a:prstGeom prst="rect">
            <a:avLst/>
          </a:prstGeom>
          <a:noFill/>
          <a:ln>
            <a:noFill/>
          </a:ln>
        </p:spPr>
        <p:txBody>
          <a:bodyPr spcFirstLastPara="1" wrap="square" lIns="91425" tIns="45700" rIns="91425" bIns="45700" anchor="t">
            <a:normAutofit/>
          </a:bodyPr>
          <a:lstStyle>
            <a:lvl1pPr marL="457200" indent="-355600" algn="l">
              <a:lnSpc>
                <a:spcPct val="100000"/>
              </a:lnSpc>
              <a:spcBef>
                <a:spcPts val="667"/>
              </a:spcBef>
              <a:spcAft>
                <a:spcPts val="0"/>
              </a:spcAft>
              <a:buChar char="●"/>
              <a:defRPr sz="2000" b="0" i="0" u="none" cap="none">
                <a:solidFill>
                  <a:schemeClr val="dk1"/>
                </a:solidFill>
                <a:latin typeface="Montserrat"/>
                <a:ea typeface="Montserrat"/>
                <a:cs typeface="Montserrat"/>
              </a:defRPr>
            </a:lvl1pPr>
            <a:lvl2pPr marL="914400" indent="-334455" algn="l">
              <a:lnSpc>
                <a:spcPct val="100000"/>
              </a:lnSpc>
              <a:spcBef>
                <a:spcPts val="667"/>
              </a:spcBef>
              <a:spcAft>
                <a:spcPts val="0"/>
              </a:spcAft>
              <a:buChar char="o"/>
              <a:defRPr sz="1667" b="0" i="0" u="none" cap="none">
                <a:solidFill>
                  <a:schemeClr val="accent6"/>
                </a:solidFill>
                <a:latin typeface="Montserrat"/>
                <a:ea typeface="Montserrat"/>
                <a:cs typeface="Montserrat"/>
              </a:defRPr>
            </a:lvl2pPr>
            <a:lvl3pPr marL="1371600" indent="-313246" algn="l">
              <a:lnSpc>
                <a:spcPct val="100000"/>
              </a:lnSpc>
              <a:spcBef>
                <a:spcPts val="667"/>
              </a:spcBef>
              <a:spcAft>
                <a:spcPts val="0"/>
              </a:spcAft>
              <a:buChar char="o"/>
              <a:defRPr sz="1333" b="0" i="0" u="none" cap="none">
                <a:solidFill>
                  <a:schemeClr val="accent6"/>
                </a:solidFill>
                <a:latin typeface="Montserrat"/>
                <a:ea typeface="Montserrat"/>
                <a:cs typeface="Montserrat"/>
              </a:defRPr>
            </a:lvl3pPr>
            <a:lvl4pPr marL="1828800" indent="-302705" algn="l">
              <a:lnSpc>
                <a:spcPct val="100000"/>
              </a:lnSpc>
              <a:spcBef>
                <a:spcPts val="667"/>
              </a:spcBef>
              <a:spcAft>
                <a:spcPts val="0"/>
              </a:spcAft>
              <a:buChar char="o"/>
              <a:defRPr sz="1167" b="0" i="0" u="none" cap="none">
                <a:solidFill>
                  <a:schemeClr val="accent6"/>
                </a:solidFill>
                <a:latin typeface="Montserrat"/>
                <a:ea typeface="Montserrat"/>
                <a:cs typeface="Montserrat"/>
              </a:defRPr>
            </a:lvl4pPr>
            <a:lvl5pPr marL="2286000" indent="-302705" algn="l">
              <a:lnSpc>
                <a:spcPct val="100000"/>
              </a:lnSpc>
              <a:spcBef>
                <a:spcPts val="667"/>
              </a:spcBef>
              <a:spcAft>
                <a:spcPts val="0"/>
              </a:spcAft>
              <a:buChar char="o"/>
              <a:defRPr sz="1167" b="0" i="0" u="none" cap="none">
                <a:solidFill>
                  <a:schemeClr val="accent6"/>
                </a:solidFill>
                <a:latin typeface="Montserrat"/>
                <a:ea typeface="Montserrat"/>
                <a:cs typeface="Montserrat"/>
              </a:defRPr>
            </a:lvl5pPr>
            <a:lvl6pPr marL="2743200" indent="-300038" algn="l">
              <a:lnSpc>
                <a:spcPct val="90000"/>
              </a:lnSpc>
              <a:spcBef>
                <a:spcPts val="312"/>
              </a:spcBef>
              <a:spcAft>
                <a:spcPts val="0"/>
              </a:spcAft>
              <a:buChar char="•"/>
              <a:defRPr sz="1125" b="0" i="0" u="none" cap="none">
                <a:solidFill>
                  <a:schemeClr val="dk1"/>
                </a:solidFill>
                <a:latin typeface="Calibri"/>
                <a:ea typeface="Calibri"/>
                <a:cs typeface="Calibri"/>
              </a:defRPr>
            </a:lvl6pPr>
            <a:lvl7pPr marL="3200400" indent="-300038" algn="l">
              <a:lnSpc>
                <a:spcPct val="90000"/>
              </a:lnSpc>
              <a:spcBef>
                <a:spcPts val="312"/>
              </a:spcBef>
              <a:spcAft>
                <a:spcPts val="0"/>
              </a:spcAft>
              <a:buChar char="•"/>
              <a:defRPr sz="1125" b="0" i="0" u="none" cap="none">
                <a:solidFill>
                  <a:schemeClr val="dk1"/>
                </a:solidFill>
                <a:latin typeface="Calibri"/>
                <a:ea typeface="Calibri"/>
                <a:cs typeface="Calibri"/>
              </a:defRPr>
            </a:lvl7pPr>
            <a:lvl8pPr marL="3657600" indent="-300038" algn="l">
              <a:lnSpc>
                <a:spcPct val="90000"/>
              </a:lnSpc>
              <a:spcBef>
                <a:spcPts val="312"/>
              </a:spcBef>
              <a:spcAft>
                <a:spcPts val="0"/>
              </a:spcAft>
              <a:buChar char="•"/>
              <a:defRPr sz="1125" b="0" i="0" u="none" cap="none">
                <a:solidFill>
                  <a:schemeClr val="dk1"/>
                </a:solidFill>
                <a:latin typeface="Calibri"/>
                <a:ea typeface="Calibri"/>
                <a:cs typeface="Calibri"/>
              </a:defRPr>
            </a:lvl8pPr>
            <a:lvl9pPr marL="4114800" indent="-300038" algn="l">
              <a:lnSpc>
                <a:spcPct val="90000"/>
              </a:lnSpc>
              <a:spcBef>
                <a:spcPts val="312"/>
              </a:spcBef>
              <a:spcAft>
                <a:spcPts val="0"/>
              </a:spcAft>
              <a:buChar char="•"/>
              <a:defRPr sz="1125" b="0" i="0" u="none" cap="none">
                <a:solidFill>
                  <a:schemeClr val="dk1"/>
                </a:solidFill>
                <a:latin typeface="Calibri"/>
                <a:ea typeface="Calibri"/>
                <a:cs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Google Shape;60;p1">
            <a:extLst>
              <a:ext uri="{FF2B5EF4-FFF2-40B4-BE49-F238E27FC236}">
                <a16:creationId xmlns:a16="http://schemas.microsoft.com/office/drawing/2014/main" id="{7463A3CA-5424-4D8C-A823-0047B1BD6B4B}"/>
              </a:ext>
            </a:extLst>
          </p:cNvPr>
          <p:cNvSpPr>
            <a:spLocks noGrp="1"/>
          </p:cNvSpPr>
          <p:nvPr>
            <p:ph type="ctrTitle"/>
          </p:nvPr>
        </p:nvSpPr>
        <p:spPr>
          <a:xfrm>
            <a:off x="69389" y="1273324"/>
            <a:ext cx="9931400" cy="838924"/>
          </a:xfrm>
          <a:prstGeom prst="rect">
            <a:avLst/>
          </a:prstGeom>
          <a:noFill/>
          <a:ln>
            <a:noFill/>
          </a:ln>
        </p:spPr>
        <p:txBody>
          <a:bodyPr spcFirstLastPara="1" wrap="square" lIns="91425" tIns="45700" rIns="91425" bIns="45700" anchor="ctr">
            <a:noAutofit/>
          </a:bodyPr>
          <a:lstStyle/>
          <a:p>
            <a:pPr marL="0" indent="0" algn="ctr">
              <a:lnSpc>
                <a:spcPct val="90000"/>
              </a:lnSpc>
              <a:spcBef>
                <a:spcPts val="0"/>
              </a:spcBef>
              <a:spcAft>
                <a:spcPts val="0"/>
              </a:spcAft>
              <a:buNone/>
            </a:pPr>
            <a:r>
              <a:rPr sz="2800" b="1"/>
              <a:t>Get grip on product security with ARIANNA</a:t>
            </a:r>
          </a:p>
        </p:txBody>
      </p:sp>
      <p:sp>
        <p:nvSpPr>
          <p:cNvPr id="61" name="Google Shape;61;p1">
            <a:extLst>
              <a:ext uri="{FF2B5EF4-FFF2-40B4-BE49-F238E27FC236}">
                <a16:creationId xmlns:a16="http://schemas.microsoft.com/office/drawing/2014/main" id="{B6E32E98-F1EC-4777-A8B2-761546A43B83}"/>
              </a:ext>
            </a:extLst>
          </p:cNvPr>
          <p:cNvSpPr>
            <a:spLocks noGrp="1"/>
          </p:cNvSpPr>
          <p:nvPr>
            <p:ph type="subTitle" idx="1"/>
          </p:nvPr>
        </p:nvSpPr>
        <p:spPr>
          <a:xfrm>
            <a:off x="69389" y="1962764"/>
            <a:ext cx="9931400" cy="274320"/>
          </a:xfrm>
          <a:prstGeom prst="rect">
            <a:avLst/>
          </a:prstGeom>
          <a:no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400" b="0"/>
              <a:t>HBOM &amp; SBOM creation | Vulnerability monitoring | Vulnerability management</a:t>
            </a:r>
          </a:p>
        </p:txBody>
      </p:sp>
      <p:sp>
        <p:nvSpPr>
          <p:cNvPr id="62" name="Google Shape;62;p1">
            <a:extLst>
              <a:ext uri="{FF2B5EF4-FFF2-40B4-BE49-F238E27FC236}">
                <a16:creationId xmlns:a16="http://schemas.microsoft.com/office/drawing/2014/main" id="{5F8D4CBB-1823-4A1D-AA18-9EAA20E89617}"/>
              </a:ext>
            </a:extLst>
          </p:cNvPr>
          <p:cNvSpPr>
            <a:spLocks noGrp="1"/>
          </p:cNvSpPr>
          <p:nvPr/>
        </p:nvSpPr>
        <p:spPr>
          <a:xfrm>
            <a:off x="8224341" y="4729708"/>
            <a:ext cx="1776448" cy="246221"/>
          </a:xfrm>
          <a:prstGeom prst="rect">
            <a:avLst/>
          </a:prstGeom>
          <a:noFill/>
          <a:ln>
            <a:noFill/>
          </a:ln>
        </p:spPr>
        <p:txBody>
          <a:bodyPr spcFirstLastPara="1" wrap="square" lIns="91425" tIns="45700" rIns="91425" bIns="45700" anchor="t">
            <a:spAutoFit/>
          </a:bodyPr>
          <a:lstStyle/>
          <a:p>
            <a:pPr marL="0" indent="0" algn="l">
              <a:lnSpc>
                <a:spcPct val="100000"/>
              </a:lnSpc>
              <a:spcBef>
                <a:spcPts val="0"/>
              </a:spcBef>
              <a:spcAft>
                <a:spcPts val="0"/>
              </a:spcAft>
              <a:buNone/>
            </a:pPr>
            <a:r>
              <a:rPr sz="1000" b="0" i="0" u="none" cap="none">
                <a:solidFill>
                  <a:schemeClr val="dk1"/>
                </a:solidFill>
                <a:latin typeface="Montserrat"/>
                <a:ea typeface="Montserrat"/>
                <a:cs typeface="Montserrat"/>
              </a:rPr>
              <a:t>ARIANNA is a product by</a:t>
            </a:r>
          </a:p>
        </p:txBody>
      </p:sp>
      <p:pic>
        <p:nvPicPr>
          <p:cNvPr id="68" name="Google Shape;63;p1"/>
          <p:cNvPicPr>
            <a:picLocks noChangeAspect="1"/>
          </p:cNvPicPr>
          <p:nvPr/>
        </p:nvPicPr>
        <p:blipFill rotWithShape="1">
          <a:blip r:embed="rId3">
            <a:alphaModFix/>
          </a:blip>
          <a:srcRect/>
          <a:stretch/>
        </p:blipFill>
        <p:spPr>
          <a:xfrm>
            <a:off x="-104576" y="2237084"/>
            <a:ext cx="4711535" cy="3533651"/>
          </a:xfrm>
          <a:prstGeom prst="rect">
            <a:avLst/>
          </a:prstGeom>
          <a:ln>
            <a:noFill/>
          </a:ln>
        </p:spPr>
      </p:pic>
      <p:pic>
        <p:nvPicPr>
          <p:cNvPr id="69" name="Google Shape;64;p1"/>
          <p:cNvPicPr>
            <a:picLocks noChangeAspect="1"/>
          </p:cNvPicPr>
          <p:nvPr/>
        </p:nvPicPr>
        <p:blipFill rotWithShape="1">
          <a:blip r:embed="rId4">
            <a:alphaModFix/>
          </a:blip>
          <a:srcRect/>
          <a:stretch/>
        </p:blipFill>
        <p:spPr>
          <a:xfrm>
            <a:off x="3306896" y="2801688"/>
            <a:ext cx="3456385" cy="1105230"/>
          </a:xfrm>
          <a:prstGeom prst="rect">
            <a:avLst/>
          </a:prstGeom>
          <a:ln>
            <a:noFill/>
          </a:ln>
        </p:spPr>
      </p:pic>
    </p:spTree>
    <p:extLst>
      <p:ext uri="{BB962C8B-B14F-4D97-AF65-F5344CB8AC3E}">
        <p14:creationId xmlns:p14="http://schemas.microsoft.com/office/powerpoint/2010/main" val="2138919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Google Shape;70;p2">
            <a:extLst>
              <a:ext uri="{FF2B5EF4-FFF2-40B4-BE49-F238E27FC236}">
                <a16:creationId xmlns:a16="http://schemas.microsoft.com/office/drawing/2014/main" id="{70AD694D-E915-451D-80E9-BBE778BC78CF}"/>
              </a:ext>
            </a:extLst>
          </p:cNvPr>
          <p:cNvSpPr>
            <a:spLocks noGrp="1"/>
          </p:cNvSpPr>
          <p:nvPr>
            <p:ph type="body" idx="1"/>
          </p:nvPr>
        </p:nvSpPr>
        <p:spPr>
          <a:xfrm>
            <a:off x="465654" y="1123284"/>
            <a:ext cx="8805668" cy="3719172"/>
          </a:xfrm>
          <a:prstGeom prst="rect">
            <a:avLst/>
          </a:prstGeom>
          <a:noFill/>
          <a:ln>
            <a:noFill/>
          </a:ln>
        </p:spPr>
        <p:txBody>
          <a:bodyPr spcFirstLastPara="1" wrap="square" lIns="90000" tIns="45700" rIns="91425" bIns="45700" anchor="t">
            <a:normAutofit/>
          </a:bodyPr>
          <a:lstStyle/>
          <a:p>
            <a:r>
              <a:rPr sz="2000"/>
              <a:t>CRA requires continuous vulnerability management across the full product lifecycle.</a:t>
            </a:r>
          </a:p>
          <a:p>
            <a:r>
              <a:rPr sz="2000"/>
              <a:t>Manufacturers must maintain SBOMs, monitor vulnerabilities, assess risk, and address findings.</a:t>
            </a:r>
          </a:p>
          <a:p>
            <a:r>
              <a:rPr sz="2000"/>
              <a:t>Many organizations have some of the building blocks, but not an operational process that scales.</a:t>
            </a:r>
          </a:p>
        </p:txBody>
      </p:sp>
      <p:sp>
        <p:nvSpPr>
          <p:cNvPr id="71" name="Google Shape;71;p2">
            <a:extLst>
              <a:ext uri="{FF2B5EF4-FFF2-40B4-BE49-F238E27FC236}">
                <a16:creationId xmlns:a16="http://schemas.microsoft.com/office/drawing/2014/main" id="{07041DA8-5B84-4B77-AA8B-719CAA36D9E3}"/>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a:buNone/>
            </a:pPr>
            <a:r>
              <a:t>Why Manufacturers Struggle with CRA</a:t>
            </a:r>
          </a:p>
        </p:txBody>
      </p:sp>
      <p:sp>
        <p:nvSpPr>
          <p:cNvPr id="72" name="Google Shape;72;p2">
            <a:extLst>
              <a:ext uri="{FF2B5EF4-FFF2-40B4-BE49-F238E27FC236}">
                <a16:creationId xmlns:a16="http://schemas.microsoft.com/office/drawing/2014/main" id="{255AA8EB-98D8-4746-9625-F991A4B17892}"/>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2</a:t>
            </a:fld>
            <a:endParaRPr/>
          </a:p>
        </p:txBody>
      </p:sp>
      <p:pic>
        <p:nvPicPr>
          <p:cNvPr id="77" name="Afbeelding 2"/>
          <p:cNvPicPr>
            <a:picLocks noChangeAspect="1"/>
          </p:cNvPicPr>
          <p:nvPr/>
        </p:nvPicPr>
        <p:blipFill>
          <a:blip r:embed="rId3"/>
          <a:stretch>
            <a:fillRect/>
          </a:stretch>
        </p:blipFill>
        <p:spPr>
          <a:xfrm>
            <a:off x="6392838" y="3370492"/>
            <a:ext cx="3352847" cy="1877595"/>
          </a:xfrm>
          <a:prstGeom prst="rect">
            <a:avLst/>
          </a:prstGeom>
        </p:spPr>
      </p:pic>
    </p:spTree>
    <p:extLst>
      <p:ext uri="{BB962C8B-B14F-4D97-AF65-F5344CB8AC3E}">
        <p14:creationId xmlns:p14="http://schemas.microsoft.com/office/powerpoint/2010/main" val="259543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Google Shape;70;p2">
            <a:extLst>
              <a:ext uri="{FF2B5EF4-FFF2-40B4-BE49-F238E27FC236}">
                <a16:creationId xmlns:a16="http://schemas.microsoft.com/office/drawing/2014/main" id="{92292B43-2E71-5A4C-098E-EB2EC03CFB22}"/>
              </a:ext>
            </a:extLst>
          </p:cNvPr>
          <p:cNvSpPr>
            <a:spLocks noGrp="1"/>
          </p:cNvSpPr>
          <p:nvPr>
            <p:ph type="body" idx="1"/>
          </p:nvPr>
        </p:nvSpPr>
        <p:spPr>
          <a:xfrm>
            <a:off x="465654" y="1123284"/>
            <a:ext cx="8400553" cy="3719172"/>
          </a:xfrm>
          <a:prstGeom prst="rect">
            <a:avLst/>
          </a:prstGeom>
          <a:noFill/>
          <a:ln>
            <a:noFill/>
          </a:ln>
        </p:spPr>
        <p:txBody>
          <a:bodyPr spcFirstLastPara="1" wrap="square" lIns="90000" tIns="45700" rIns="91425" bIns="45700" anchor="t">
            <a:normAutofit/>
          </a:bodyPr>
          <a:lstStyle/>
          <a:p>
            <a:r>
              <a:t>Connected products combine hardware and software and often remain in the field for years.</a:t>
            </a:r>
          </a:p>
          <a:p>
            <a:r>
              <a:t>Manual vulnerability tracking does not scale in that environment.</a:t>
            </a:r>
          </a:p>
          <a:p>
            <a:r>
              <a:t>ARIANNA brings HBOM + SBOM visibility, monitoring, prioritization, and reporting into one platform.</a:t>
            </a:r>
          </a:p>
        </p:txBody>
      </p:sp>
      <p:sp>
        <p:nvSpPr>
          <p:cNvPr id="71" name="Google Shape;71;p2">
            <a:extLst>
              <a:ext uri="{FF2B5EF4-FFF2-40B4-BE49-F238E27FC236}">
                <a16:creationId xmlns:a16="http://schemas.microsoft.com/office/drawing/2014/main" id="{3AE2A33D-0FFF-BF33-2B33-9D63A13046E7}"/>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Why ARIANNA exists</a:t>
            </a:r>
          </a:p>
        </p:txBody>
      </p:sp>
      <p:sp>
        <p:nvSpPr>
          <p:cNvPr id="72" name="Google Shape;72;p2">
            <a:extLst>
              <a:ext uri="{FF2B5EF4-FFF2-40B4-BE49-F238E27FC236}">
                <a16:creationId xmlns:a16="http://schemas.microsoft.com/office/drawing/2014/main" id="{1142A1CD-37F2-2E59-1326-EA987ADA786C}"/>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3</a:t>
            </a:fld>
            <a:endParaRPr/>
          </a:p>
        </p:txBody>
      </p:sp>
    </p:spTree>
    <p:extLst>
      <p:ext uri="{BB962C8B-B14F-4D97-AF65-F5344CB8AC3E}">
        <p14:creationId xmlns:p14="http://schemas.microsoft.com/office/powerpoint/2010/main" val="1453530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Google Shape;70;p2">
            <a:extLst>
              <a:ext uri="{FF2B5EF4-FFF2-40B4-BE49-F238E27FC236}">
                <a16:creationId xmlns:a16="http://schemas.microsoft.com/office/drawing/2014/main" id="{729FF4BA-8CA4-4A3E-0CBD-AFFF4923FF54}"/>
              </a:ext>
            </a:extLst>
          </p:cNvPr>
          <p:cNvSpPr>
            <a:spLocks noGrp="1"/>
          </p:cNvSpPr>
          <p:nvPr>
            <p:ph type="body" idx="1"/>
          </p:nvPr>
        </p:nvSpPr>
        <p:spPr>
          <a:xfrm>
            <a:off x="465654" y="1123284"/>
            <a:ext cx="8214746" cy="3719172"/>
          </a:xfrm>
          <a:prstGeom prst="rect">
            <a:avLst/>
          </a:prstGeom>
          <a:noFill/>
          <a:ln>
            <a:noFill/>
          </a:ln>
        </p:spPr>
        <p:txBody>
          <a:bodyPr spcFirstLastPara="1" wrap="square" lIns="90000" tIns="45700" rIns="91425" bIns="45700" anchor="t">
            <a:normAutofit/>
          </a:bodyPr>
          <a:lstStyle/>
          <a:p>
            <a:r>
              <a:rPr sz="2000"/>
              <a:t>A connected device can contain thousands of known vulnerabilities.</a:t>
            </a:r>
          </a:p>
          <a:p>
            <a:r>
              <a:rPr sz="2000"/>
              <a:t>CVSS-only prioritization can leave teams with hundreds of issues to review.</a:t>
            </a:r>
          </a:p>
          <a:p>
            <a:r>
              <a:rPr sz="2000"/>
              <a:t>ARIANNA prioritizes based on exploitability and device context, reducing the focus to the vulnerabilities that matter most.</a:t>
            </a:r>
          </a:p>
        </p:txBody>
      </p:sp>
      <p:sp>
        <p:nvSpPr>
          <p:cNvPr id="71" name="Google Shape;71;p2">
            <a:extLst>
              <a:ext uri="{FF2B5EF4-FFF2-40B4-BE49-F238E27FC236}">
                <a16:creationId xmlns:a16="http://schemas.microsoft.com/office/drawing/2014/main" id="{1BD258A6-17C1-641A-975D-8F4879F4B837}"/>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a:buNone/>
            </a:pPr>
            <a:r>
              <a:t>From 2,775 Vulnerabilities to 10 Actions</a:t>
            </a:r>
          </a:p>
        </p:txBody>
      </p:sp>
      <p:sp>
        <p:nvSpPr>
          <p:cNvPr id="72" name="Google Shape;72;p2">
            <a:extLst>
              <a:ext uri="{FF2B5EF4-FFF2-40B4-BE49-F238E27FC236}">
                <a16:creationId xmlns:a16="http://schemas.microsoft.com/office/drawing/2014/main" id="{B848EDD9-9D97-8563-D959-242480BCA027}"/>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4</a:t>
            </a:fld>
            <a:endParaRPr/>
          </a:p>
        </p:txBody>
      </p:sp>
      <p:sp>
        <p:nvSpPr>
          <p:cNvPr id="2" name="Tekstvak 1">
            <a:extLst>
              <a:ext uri="{FF2B5EF4-FFF2-40B4-BE49-F238E27FC236}">
                <a16:creationId xmlns:a16="http://schemas.microsoft.com/office/drawing/2014/main" id="{7D0DCB51-EA93-DC1C-E7FD-2B349B6072CD}"/>
              </a:ext>
            </a:extLst>
          </p:cNvPr>
          <p:cNvSpPr>
            <a:spLocks noGrp="1"/>
          </p:cNvSpPr>
          <p:nvPr/>
        </p:nvSpPr>
        <p:spPr>
          <a:xfrm>
            <a:off x="629392" y="4225054"/>
            <a:ext cx="7142596" cy="461665"/>
          </a:xfrm>
          <a:prstGeom prst="rect">
            <a:avLst/>
          </a:prstGeom>
          <a:noFill/>
        </p:spPr>
        <p:txBody>
          <a:bodyPr wrap="none">
            <a:spAutoFit/>
          </a:bodyPr>
          <a:lstStyle/>
          <a:p>
            <a:r>
              <a:rPr sz="2400"/>
              <a:t>CVSS measures severity. ARIANNA prioritizes risk.</a:t>
            </a:r>
          </a:p>
        </p:txBody>
      </p:sp>
    </p:spTree>
    <p:extLst>
      <p:ext uri="{BB962C8B-B14F-4D97-AF65-F5344CB8AC3E}">
        <p14:creationId xmlns:p14="http://schemas.microsoft.com/office/powerpoint/2010/main" val="171458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Google Shape;69;p2"/>
          <p:cNvPicPr>
            <a:picLocks noChangeAspect="1"/>
          </p:cNvPicPr>
          <p:nvPr/>
        </p:nvPicPr>
        <p:blipFill rotWithShape="1">
          <a:blip r:embed="rId3">
            <a:alphaModFix/>
          </a:blip>
          <a:srcRect/>
          <a:stretch/>
        </p:blipFill>
        <p:spPr>
          <a:xfrm>
            <a:off x="5472258" y="1796653"/>
            <a:ext cx="5224462" cy="3918347"/>
          </a:xfrm>
          <a:prstGeom prst="rect">
            <a:avLst/>
          </a:prstGeom>
          <a:ln>
            <a:noFill/>
          </a:ln>
        </p:spPr>
      </p:pic>
      <p:sp>
        <p:nvSpPr>
          <p:cNvPr id="70" name="Google Shape;70;p2">
            <a:extLst>
              <a:ext uri="{FF2B5EF4-FFF2-40B4-BE49-F238E27FC236}">
                <a16:creationId xmlns:a16="http://schemas.microsoft.com/office/drawing/2014/main" id="{DCDBA434-48A9-BB5E-1DF7-7E2DD974BD8B}"/>
              </a:ext>
            </a:extLst>
          </p:cNvPr>
          <p:cNvSpPr>
            <a:spLocks noGrp="1"/>
          </p:cNvSpPr>
          <p:nvPr>
            <p:ph type="body" idx="1"/>
          </p:nvPr>
        </p:nvSpPr>
        <p:spPr>
          <a:xfrm>
            <a:off x="465654" y="1123284"/>
            <a:ext cx="6053899" cy="3719172"/>
          </a:xfrm>
          <a:prstGeom prst="rect">
            <a:avLst/>
          </a:prstGeom>
          <a:noFill/>
          <a:ln>
            <a:noFill/>
          </a:ln>
        </p:spPr>
        <p:txBody>
          <a:bodyPr spcFirstLastPara="1" wrap="square" lIns="90000" tIns="45700" rIns="91425" bIns="45700" anchor="t">
            <a:normAutofit/>
          </a:bodyPr>
          <a:lstStyle/>
          <a:p>
            <a:pPr marL="0" indent="0" algn="l">
              <a:lnSpc>
                <a:spcPct val="100000"/>
              </a:lnSpc>
              <a:spcBef>
                <a:spcPts val="0"/>
              </a:spcBef>
              <a:spcAft>
                <a:spcPts val="0"/>
              </a:spcAft>
              <a:buNone/>
            </a:pPr>
            <a:r>
              <a:rPr sz="2000"/>
              <a:t>ARIANNA helps device manufacturers run an efficient vulnerability management process.</a:t>
            </a:r>
          </a:p>
          <a:p>
            <a:pPr marL="342900" indent="-342900" algn="l">
              <a:lnSpc>
                <a:spcPct val="100000"/>
              </a:lnSpc>
              <a:spcBef>
                <a:spcPts val="1000"/>
              </a:spcBef>
              <a:spcAft>
                <a:spcPts val="0"/>
              </a:spcAft>
              <a:buAutoNum type="arabicPeriod"/>
            </a:pPr>
            <a:r>
              <a:rPr sz="1800"/>
              <a:t>Build and maintain the device model (HBOM + SBOM)</a:t>
            </a:r>
          </a:p>
          <a:p>
            <a:pPr marL="342900" indent="-342900" algn="l">
              <a:lnSpc>
                <a:spcPct val="100000"/>
              </a:lnSpc>
              <a:spcBef>
                <a:spcPts val="1000"/>
              </a:spcBef>
              <a:spcAft>
                <a:spcPts val="0"/>
              </a:spcAft>
              <a:buAutoNum type="arabicPeriod"/>
            </a:pPr>
            <a:r>
              <a:rPr sz="1800"/>
              <a:t>Continuously monitor new vulnerabilities</a:t>
            </a:r>
          </a:p>
          <a:p>
            <a:pPr marL="342900" indent="-342900" algn="l">
              <a:lnSpc>
                <a:spcPct val="100000"/>
              </a:lnSpc>
              <a:spcBef>
                <a:spcPts val="1000"/>
              </a:spcBef>
              <a:spcAft>
                <a:spcPts val="0"/>
              </a:spcAft>
              <a:buAutoNum type="arabicPeriod"/>
            </a:pPr>
            <a:r>
              <a:rPr sz="1800"/>
              <a:t>Prioritize based on real exploitability and device context</a:t>
            </a:r>
          </a:p>
          <a:p>
            <a:pPr marL="342900" indent="-342900" algn="l">
              <a:lnSpc>
                <a:spcPct val="100000"/>
              </a:lnSpc>
              <a:spcBef>
                <a:spcPts val="1000"/>
              </a:spcBef>
              <a:spcAft>
                <a:spcPts val="0"/>
              </a:spcAft>
              <a:buAutoNum type="arabicPeriod"/>
            </a:pPr>
            <a:r>
              <a:rPr sz="1800"/>
              <a:t>Export reports for customers, internal teams, and regulators</a:t>
            </a:r>
          </a:p>
        </p:txBody>
      </p:sp>
      <p:sp>
        <p:nvSpPr>
          <p:cNvPr id="71" name="Google Shape;71;p2">
            <a:extLst>
              <a:ext uri="{FF2B5EF4-FFF2-40B4-BE49-F238E27FC236}">
                <a16:creationId xmlns:a16="http://schemas.microsoft.com/office/drawing/2014/main" id="{F0CF8B1E-FAA5-5241-1C1A-30E89CB83793}"/>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How ARIANNA operationalizes product security</a:t>
            </a:r>
          </a:p>
        </p:txBody>
      </p:sp>
      <p:sp>
        <p:nvSpPr>
          <p:cNvPr id="72" name="Google Shape;72;p2">
            <a:extLst>
              <a:ext uri="{FF2B5EF4-FFF2-40B4-BE49-F238E27FC236}">
                <a16:creationId xmlns:a16="http://schemas.microsoft.com/office/drawing/2014/main" id="{ECB7CD20-DB45-DCBC-D85E-322D0AB91B99}"/>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5</a:t>
            </a:fld>
            <a:endParaRPr/>
          </a:p>
        </p:txBody>
      </p:sp>
    </p:spTree>
    <p:extLst>
      <p:ext uri="{BB962C8B-B14F-4D97-AF65-F5344CB8AC3E}">
        <p14:creationId xmlns:p14="http://schemas.microsoft.com/office/powerpoint/2010/main" val="91557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Google Shape;83;p4">
            <a:extLst>
              <a:ext uri="{FF2B5EF4-FFF2-40B4-BE49-F238E27FC236}">
                <a16:creationId xmlns:a16="http://schemas.microsoft.com/office/drawing/2014/main" id="{C1D466F9-AA2B-4227-96C4-614E901384BB}"/>
              </a:ext>
            </a:extLst>
          </p:cNvPr>
          <p:cNvSpPr>
            <a:spLocks noGrp="1"/>
          </p:cNvSpPr>
          <p:nvPr>
            <p:ph type="body" idx="1"/>
          </p:nvPr>
        </p:nvSpPr>
        <p:spPr>
          <a:xfrm>
            <a:off x="465654" y="1123284"/>
            <a:ext cx="6592492" cy="3719172"/>
          </a:xfrm>
          <a:prstGeom prst="rect">
            <a:avLst/>
          </a:prstGeom>
          <a:noFill/>
          <a:ln>
            <a:noFill/>
          </a:ln>
        </p:spPr>
        <p:txBody>
          <a:bodyPr spcFirstLastPara="1" wrap="square" lIns="90000" tIns="45700" rIns="91425" bIns="45700" anchor="t">
            <a:noAutofit/>
          </a:bodyPr>
          <a:lstStyle/>
          <a:p>
            <a:pPr marL="269875" indent="-269875" algn="l">
              <a:lnSpc>
                <a:spcPct val="100000"/>
              </a:lnSpc>
              <a:spcBef>
                <a:spcPts val="0"/>
              </a:spcBef>
              <a:spcAft>
                <a:spcPts val="0"/>
              </a:spcAft>
              <a:buChar char="●"/>
            </a:pPr>
            <a:r>
              <a:rPr sz="2000"/>
              <a:t>Hardware Components</a:t>
            </a:r>
          </a:p>
          <a:p>
            <a:pPr marL="533400" indent="-247650" algn="l">
              <a:lnSpc>
                <a:spcPct val="100000"/>
              </a:lnSpc>
              <a:spcBef>
                <a:spcPts val="667"/>
              </a:spcBef>
              <a:spcAft>
                <a:spcPts val="0"/>
              </a:spcAft>
              <a:buChar char="o"/>
            </a:pPr>
            <a:r>
              <a:rPr sz="1600"/>
              <a:t>MCUs | MPUs | Memories</a:t>
            </a:r>
          </a:p>
          <a:p>
            <a:pPr marL="533400" indent="-247650" algn="l">
              <a:lnSpc>
                <a:spcPct val="100000"/>
              </a:lnSpc>
              <a:spcBef>
                <a:spcPts val="667"/>
              </a:spcBef>
              <a:spcAft>
                <a:spcPts val="0"/>
              </a:spcAft>
              <a:buChar char="o"/>
            </a:pPr>
            <a:r>
              <a:rPr sz="1600"/>
              <a:t>WiFi, BLE, radio modules | Secure Elements | TPM</a:t>
            </a:r>
          </a:p>
          <a:p>
            <a:pPr marL="269875" indent="-269875" algn="l">
              <a:lnSpc>
                <a:spcPct val="100000"/>
              </a:lnSpc>
              <a:spcBef>
                <a:spcPts val="1000"/>
              </a:spcBef>
              <a:spcAft>
                <a:spcPts val="0"/>
              </a:spcAft>
              <a:buChar char="●"/>
            </a:pPr>
            <a:r>
              <a:rPr sz="2000">
                <a:solidFill>
                  <a:schemeClr val="dk2"/>
                </a:solidFill>
              </a:rPr>
              <a:t>Vulnerability management for devices is incomplete without the hardware model.</a:t>
            </a:r>
          </a:p>
          <a:p>
            <a:pPr marL="533400" indent="-247650" algn="l">
              <a:lnSpc>
                <a:spcPct val="100000"/>
              </a:lnSpc>
              <a:spcBef>
                <a:spcPts val="667"/>
              </a:spcBef>
              <a:spcAft>
                <a:spcPts val="0"/>
              </a:spcAft>
              <a:buChar char="o"/>
            </a:pPr>
            <a:r>
              <a:rPr sz="1600"/>
              <a:t>Hardware components manage critical assets.</a:t>
            </a:r>
          </a:p>
          <a:p>
            <a:pPr marL="533400" indent="-247650" algn="l">
              <a:lnSpc>
                <a:spcPct val="100000"/>
              </a:lnSpc>
              <a:spcBef>
                <a:spcPts val="667"/>
              </a:spcBef>
              <a:spcAft>
                <a:spcPts val="0"/>
              </a:spcAft>
              <a:buChar char="o"/>
            </a:pPr>
            <a:r>
              <a:rPr sz="1600">
                <a:solidFill>
                  <a:schemeClr val="accent2"/>
                </a:solidFill>
              </a:rPr>
              <a:t>Hardware components have vulnerabilities.</a:t>
            </a:r>
          </a:p>
          <a:p>
            <a:pPr marL="533400" indent="-247650" algn="l">
              <a:lnSpc>
                <a:spcPct val="100000"/>
              </a:lnSpc>
              <a:spcBef>
                <a:spcPts val="667"/>
              </a:spcBef>
              <a:spcAft>
                <a:spcPts val="0"/>
              </a:spcAft>
              <a:buChar char="o"/>
            </a:pPr>
            <a:r>
              <a:rPr sz="1600"/>
              <a:t>They are not exposed to attackers in the same way as software.</a:t>
            </a:r>
          </a:p>
          <a:p>
            <a:pPr marL="533400" indent="-247650" algn="l">
              <a:lnSpc>
                <a:spcPct val="100000"/>
              </a:lnSpc>
              <a:spcBef>
                <a:spcPts val="667"/>
              </a:spcBef>
              <a:spcAft>
                <a:spcPts val="0"/>
              </a:spcAft>
              <a:buChar char="o"/>
            </a:pPr>
            <a:r>
              <a:rPr sz="1600">
                <a:solidFill>
                  <a:schemeClr val="accent2"/>
                </a:solidFill>
              </a:rPr>
              <a:t>The hardware model helps exclude non-reachable software vulnerabilities.</a:t>
            </a:r>
          </a:p>
        </p:txBody>
      </p:sp>
      <p:sp>
        <p:nvSpPr>
          <p:cNvPr id="84" name="Google Shape;84;p4">
            <a:extLst>
              <a:ext uri="{FF2B5EF4-FFF2-40B4-BE49-F238E27FC236}">
                <a16:creationId xmlns:a16="http://schemas.microsoft.com/office/drawing/2014/main" id="{9F3BAA72-6995-4DC2-9237-A902F9C6648D}"/>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Smart devices are not just software</a:t>
            </a:r>
          </a:p>
        </p:txBody>
      </p:sp>
      <p:sp>
        <p:nvSpPr>
          <p:cNvPr id="85" name="Google Shape;85;p4">
            <a:extLst>
              <a:ext uri="{FF2B5EF4-FFF2-40B4-BE49-F238E27FC236}">
                <a16:creationId xmlns:a16="http://schemas.microsoft.com/office/drawing/2014/main" id="{C7CF4E7B-184B-476E-83FF-FA906D3A98B9}"/>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6</a:t>
            </a:fld>
            <a:endParaRPr/>
          </a:p>
        </p:txBody>
      </p:sp>
      <p:pic>
        <p:nvPicPr>
          <p:cNvPr id="143" name="Google Shape;86;p4"/>
          <p:cNvPicPr>
            <a:picLocks noChangeAspect="1"/>
          </p:cNvPicPr>
          <p:nvPr/>
        </p:nvPicPr>
        <p:blipFill rotWithShape="1">
          <a:blip r:embed="rId3">
            <a:alphaModFix/>
          </a:blip>
          <a:srcRect/>
          <a:stretch/>
        </p:blipFill>
        <p:spPr>
          <a:xfrm>
            <a:off x="7168232" y="3630103"/>
            <a:ext cx="2664296" cy="1534635"/>
          </a:xfrm>
          <a:prstGeom prst="rect">
            <a:avLst/>
          </a:prstGeom>
          <a:ln>
            <a:noFill/>
          </a:ln>
        </p:spPr>
      </p:pic>
      <p:sp>
        <p:nvSpPr>
          <p:cNvPr id="87" name="Google Shape;87;p4">
            <a:extLst>
              <a:ext uri="{FF2B5EF4-FFF2-40B4-BE49-F238E27FC236}">
                <a16:creationId xmlns:a16="http://schemas.microsoft.com/office/drawing/2014/main" id="{D5C47258-817E-4FE1-9A3A-8F27B17B9957}"/>
              </a:ext>
            </a:extLst>
          </p:cNvPr>
          <p:cNvSpPr>
            <a:spLocks noGrp="1"/>
          </p:cNvSpPr>
          <p:nvPr/>
        </p:nvSpPr>
        <p:spPr>
          <a:xfrm>
            <a:off x="7315433" y="1080071"/>
            <a:ext cx="1289774" cy="348514"/>
          </a:xfrm>
          <a:prstGeom prst="roundRect">
            <a:avLst>
              <a:gd name="adj" fmla="val 50000"/>
            </a:avLst>
          </a:prstGeom>
          <a:solidFill>
            <a:schemeClr val="accent2"/>
          </a:solidFill>
          <a:ln w="22225" cmpd="sng">
            <a:solidFill>
              <a:schemeClr val="accent2"/>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200" b="0" i="0" u="none" cap="none">
                <a:solidFill>
                  <a:schemeClr val="lt1"/>
                </a:solidFill>
                <a:latin typeface="Arial"/>
                <a:ea typeface="Arial"/>
                <a:cs typeface="Arial"/>
              </a:rPr>
              <a:t>WIFI MODULE</a:t>
            </a:r>
          </a:p>
        </p:txBody>
      </p:sp>
      <p:cxnSp>
        <p:nvCxnSpPr>
          <p:cNvPr id="145" name="Google Shape;88;p4"/>
          <p:cNvCxnSpPr>
            <a:stCxn id="89" idx="2"/>
          </p:cNvCxnSpPr>
          <p:nvPr/>
        </p:nvCxnSpPr>
        <p:spPr>
          <a:xfrm flipH="1">
            <a:off x="8437491" y="2086996"/>
            <a:ext cx="23700" cy="1823100"/>
          </a:xfrm>
          <a:prstGeom prst="straightConnector1">
            <a:avLst/>
          </a:prstGeom>
          <a:ln w="19050" cap="flat">
            <a:solidFill>
              <a:schemeClr val="accent4"/>
            </a:solidFill>
            <a:prstDash val="solid"/>
            <a:miter/>
            <a:headEnd type="none" w="sm" len="sm"/>
            <a:tailEnd type="oval" w="med" len="med"/>
          </a:ln>
        </p:spPr>
      </p:cxnSp>
      <p:cxnSp>
        <p:nvCxnSpPr>
          <p:cNvPr id="146" name="Google Shape;90;p4"/>
          <p:cNvCxnSpPr>
            <a:stCxn id="91" idx="2"/>
          </p:cNvCxnSpPr>
          <p:nvPr/>
        </p:nvCxnSpPr>
        <p:spPr>
          <a:xfrm flipH="1">
            <a:off x="8968339" y="3451570"/>
            <a:ext cx="20400" cy="341100"/>
          </a:xfrm>
          <a:prstGeom prst="straightConnector1">
            <a:avLst/>
          </a:prstGeom>
          <a:ln w="19050" cap="flat">
            <a:solidFill>
              <a:srgbClr val="FD9600"/>
            </a:solidFill>
            <a:prstDash val="solid"/>
            <a:miter/>
            <a:headEnd type="none" w="sm" len="sm"/>
            <a:tailEnd type="oval" w="med" len="med"/>
          </a:ln>
        </p:spPr>
      </p:cxnSp>
      <p:cxnSp>
        <p:nvCxnSpPr>
          <p:cNvPr id="147" name="Google Shape;92;p4"/>
          <p:cNvCxnSpPr>
            <a:stCxn id="87" idx="2"/>
          </p:cNvCxnSpPr>
          <p:nvPr/>
        </p:nvCxnSpPr>
        <p:spPr>
          <a:xfrm>
            <a:off x="7960320" y="1428585"/>
            <a:ext cx="0" cy="2526000"/>
          </a:xfrm>
          <a:prstGeom prst="straightConnector1">
            <a:avLst/>
          </a:prstGeom>
          <a:ln w="19050" cap="flat">
            <a:solidFill>
              <a:schemeClr val="accent2"/>
            </a:solidFill>
            <a:prstDash val="solid"/>
            <a:miter/>
            <a:headEnd type="none" w="sm" len="sm"/>
            <a:tailEnd type="oval" w="med" len="med"/>
          </a:ln>
        </p:spPr>
      </p:cxnSp>
      <p:sp>
        <p:nvSpPr>
          <p:cNvPr id="93" name="Google Shape;93;p4">
            <a:extLst>
              <a:ext uri="{FF2B5EF4-FFF2-40B4-BE49-F238E27FC236}">
                <a16:creationId xmlns:a16="http://schemas.microsoft.com/office/drawing/2014/main" id="{E0668804-9108-4C19-B4C8-033FDD307F3D}"/>
              </a:ext>
            </a:extLst>
          </p:cNvPr>
          <p:cNvSpPr>
            <a:spLocks noGrp="1"/>
          </p:cNvSpPr>
          <p:nvPr/>
        </p:nvSpPr>
        <p:spPr>
          <a:xfrm>
            <a:off x="8183753" y="2382381"/>
            <a:ext cx="1137311" cy="348514"/>
          </a:xfrm>
          <a:prstGeom prst="roundRect">
            <a:avLst>
              <a:gd name="adj" fmla="val 50000"/>
            </a:avLst>
          </a:prstGeom>
          <a:solidFill>
            <a:srgbClr val="00B0F0"/>
          </a:solidFill>
          <a:ln w="22225" cmpd="sng">
            <a:solidFill>
              <a:srgbClr val="00B0F0"/>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200" b="0" i="0" u="none" cap="none">
                <a:solidFill>
                  <a:schemeClr val="lt1"/>
                </a:solidFill>
                <a:latin typeface="Arial"/>
                <a:ea typeface="Arial"/>
                <a:cs typeface="Arial"/>
              </a:rPr>
              <a:t>MEMORY</a:t>
            </a:r>
          </a:p>
        </p:txBody>
      </p:sp>
      <p:cxnSp>
        <p:nvCxnSpPr>
          <p:cNvPr id="149" name="Google Shape;94;p4"/>
          <p:cNvCxnSpPr/>
          <p:nvPr/>
        </p:nvCxnSpPr>
        <p:spPr>
          <a:xfrm>
            <a:off x="8752408" y="2730895"/>
            <a:ext cx="0" cy="1179275"/>
          </a:xfrm>
          <a:prstGeom prst="straightConnector1">
            <a:avLst/>
          </a:prstGeom>
          <a:ln w="19050" cap="flat">
            <a:solidFill>
              <a:srgbClr val="00B0F0"/>
            </a:solidFill>
            <a:prstDash val="solid"/>
            <a:miter/>
            <a:headEnd type="none" w="sm" len="sm"/>
            <a:tailEnd type="oval" w="med" len="med"/>
          </a:ln>
        </p:spPr>
      </p:cxnSp>
      <p:sp>
        <p:nvSpPr>
          <p:cNvPr id="89" name="Google Shape;89;p4">
            <a:extLst>
              <a:ext uri="{FF2B5EF4-FFF2-40B4-BE49-F238E27FC236}">
                <a16:creationId xmlns:a16="http://schemas.microsoft.com/office/drawing/2014/main" id="{8156E2E6-88C0-494E-B4C0-C855D50064AD}"/>
              </a:ext>
            </a:extLst>
          </p:cNvPr>
          <p:cNvSpPr>
            <a:spLocks noGrp="1"/>
          </p:cNvSpPr>
          <p:nvPr/>
        </p:nvSpPr>
        <p:spPr>
          <a:xfrm>
            <a:off x="7816304" y="1738482"/>
            <a:ext cx="1289774" cy="348514"/>
          </a:xfrm>
          <a:prstGeom prst="roundRect">
            <a:avLst>
              <a:gd name="adj" fmla="val 50000"/>
            </a:avLst>
          </a:prstGeom>
          <a:solidFill>
            <a:schemeClr val="accent4"/>
          </a:solidFill>
          <a:ln w="22225" cmpd="sng">
            <a:solidFill>
              <a:schemeClr val="accent4"/>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200" b="0" i="0" u="none" cap="none">
                <a:solidFill>
                  <a:schemeClr val="lt1"/>
                </a:solidFill>
                <a:latin typeface="Arial"/>
                <a:ea typeface="Arial"/>
                <a:cs typeface="Arial"/>
              </a:rPr>
              <a:t>MAIN MPU</a:t>
            </a:r>
          </a:p>
        </p:txBody>
      </p:sp>
      <p:sp>
        <p:nvSpPr>
          <p:cNvPr id="91" name="Google Shape;91;p4">
            <a:extLst>
              <a:ext uri="{FF2B5EF4-FFF2-40B4-BE49-F238E27FC236}">
                <a16:creationId xmlns:a16="http://schemas.microsoft.com/office/drawing/2014/main" id="{C4EE6588-7742-43CC-AAAC-3C8FAB36F9FB}"/>
              </a:ext>
            </a:extLst>
          </p:cNvPr>
          <p:cNvSpPr>
            <a:spLocks noGrp="1"/>
          </p:cNvSpPr>
          <p:nvPr/>
        </p:nvSpPr>
        <p:spPr>
          <a:xfrm>
            <a:off x="8559876" y="3103056"/>
            <a:ext cx="857726" cy="348514"/>
          </a:xfrm>
          <a:prstGeom prst="roundRect">
            <a:avLst>
              <a:gd name="adj" fmla="val 50000"/>
            </a:avLst>
          </a:prstGeom>
          <a:solidFill>
            <a:srgbClr val="FD9600"/>
          </a:solidFill>
          <a:ln w="22225" cmpd="sng">
            <a:solidFill>
              <a:srgbClr val="FD9600"/>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200" b="0" i="0" u="none" cap="none">
                <a:solidFill>
                  <a:schemeClr val="lt1"/>
                </a:solidFill>
                <a:latin typeface="Arial"/>
                <a:ea typeface="Arial"/>
                <a:cs typeface="Arial"/>
              </a:rPr>
              <a:t>MCU</a:t>
            </a:r>
          </a:p>
        </p:txBody>
      </p:sp>
    </p:spTree>
    <p:extLst>
      <p:ext uri="{BB962C8B-B14F-4D97-AF65-F5344CB8AC3E}">
        <p14:creationId xmlns:p14="http://schemas.microsoft.com/office/powerpoint/2010/main" val="997972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Google Shape;116;p7">
            <a:extLst>
              <a:ext uri="{FF2B5EF4-FFF2-40B4-BE49-F238E27FC236}">
                <a16:creationId xmlns:a16="http://schemas.microsoft.com/office/drawing/2014/main" id="{660616F1-EE4C-4693-ACCC-1B188CCEF039}"/>
              </a:ext>
            </a:extLst>
          </p:cNvPr>
          <p:cNvSpPr>
            <a:spLocks noGrp="1"/>
          </p:cNvSpPr>
          <p:nvPr>
            <p:ph type="body" idx="1"/>
          </p:nvPr>
        </p:nvSpPr>
        <p:spPr>
          <a:xfrm>
            <a:off x="465654" y="1123284"/>
            <a:ext cx="6558562"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sz="2000"/>
              <a:t>The user identifies the main hardware building blocks of the device.</a:t>
            </a:r>
          </a:p>
          <a:p>
            <a:pPr marL="533400" indent="-247650" algn="l">
              <a:lnSpc>
                <a:spcPct val="100000"/>
              </a:lnSpc>
              <a:spcBef>
                <a:spcPts val="667"/>
              </a:spcBef>
              <a:spcAft>
                <a:spcPts val="0"/>
              </a:spcAft>
              <a:buChar char="o"/>
            </a:pPr>
            <a:r>
              <a:rPr sz="2000"/>
              <a:t>Each hardware building block is modeled as a Processing Unit (PU).</a:t>
            </a:r>
          </a:p>
          <a:p>
            <a:pPr marL="804863" indent="-233363" algn="l">
              <a:lnSpc>
                <a:spcPct val="100000"/>
              </a:lnSpc>
              <a:spcBef>
                <a:spcPts val="667"/>
              </a:spcBef>
              <a:spcAft>
                <a:spcPts val="0"/>
              </a:spcAft>
              <a:buChar char="o"/>
            </a:pPr>
            <a:r>
              <a:rPr sz="2000"/>
              <a:t>Examples include MCUs, MPUs, Secure Elements, memories, and WiFi/BLE modules.</a:t>
            </a:r>
          </a:p>
          <a:p>
            <a:pPr marL="533400" indent="-247650" algn="l">
              <a:lnSpc>
                <a:spcPct val="100000"/>
              </a:lnSpc>
              <a:spcBef>
                <a:spcPts val="667"/>
              </a:spcBef>
              <a:spcAft>
                <a:spcPts val="0"/>
              </a:spcAft>
              <a:buChar char="o"/>
            </a:pPr>
            <a:r>
              <a:rPr sz="2000"/>
              <a:t>For each PU, ARIANNA derives the HBOM from the validated hardware part number.</a:t>
            </a:r>
          </a:p>
        </p:txBody>
      </p:sp>
      <p:sp>
        <p:nvSpPr>
          <p:cNvPr id="117" name="Google Shape;117;p7">
            <a:extLst>
              <a:ext uri="{FF2B5EF4-FFF2-40B4-BE49-F238E27FC236}">
                <a16:creationId xmlns:a16="http://schemas.microsoft.com/office/drawing/2014/main" id="{B7EF98F6-D030-4B4B-B032-7CF74E602277}"/>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Device Model creation: HBOM</a:t>
            </a:r>
          </a:p>
        </p:txBody>
      </p:sp>
      <p:sp>
        <p:nvSpPr>
          <p:cNvPr id="118" name="Google Shape;118;p7">
            <a:extLst>
              <a:ext uri="{FF2B5EF4-FFF2-40B4-BE49-F238E27FC236}">
                <a16:creationId xmlns:a16="http://schemas.microsoft.com/office/drawing/2014/main" id="{06631D09-8F80-4DEF-88DF-176D5A676A7E}"/>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7</a:t>
            </a:fld>
            <a:endParaRPr/>
          </a:p>
        </p:txBody>
      </p:sp>
      <p:pic>
        <p:nvPicPr>
          <p:cNvPr id="176" name="Google Shape;119;p7"/>
          <p:cNvPicPr>
            <a:picLocks noChangeAspect="1"/>
          </p:cNvPicPr>
          <p:nvPr/>
        </p:nvPicPr>
        <p:blipFill rotWithShape="1">
          <a:blip r:embed="rId3">
            <a:alphaModFix/>
          </a:blip>
          <a:srcRect/>
          <a:stretch/>
        </p:blipFill>
        <p:spPr>
          <a:xfrm>
            <a:off x="7168232" y="3630103"/>
            <a:ext cx="2664296" cy="1534635"/>
          </a:xfrm>
          <a:prstGeom prst="rect">
            <a:avLst/>
          </a:prstGeom>
          <a:ln>
            <a:noFill/>
          </a:ln>
        </p:spPr>
      </p:pic>
      <p:sp>
        <p:nvSpPr>
          <p:cNvPr id="120" name="Google Shape;120;p7">
            <a:extLst>
              <a:ext uri="{FF2B5EF4-FFF2-40B4-BE49-F238E27FC236}">
                <a16:creationId xmlns:a16="http://schemas.microsoft.com/office/drawing/2014/main" id="{D366AD5F-D70F-4F4C-A8A7-3017BAE97D81}"/>
              </a:ext>
            </a:extLst>
          </p:cNvPr>
          <p:cNvSpPr>
            <a:spLocks noGrp="1"/>
          </p:cNvSpPr>
          <p:nvPr/>
        </p:nvSpPr>
        <p:spPr>
          <a:xfrm>
            <a:off x="7315433" y="1080071"/>
            <a:ext cx="1289774" cy="348514"/>
          </a:xfrm>
          <a:prstGeom prst="roundRect">
            <a:avLst>
              <a:gd name="adj" fmla="val 50000"/>
            </a:avLst>
          </a:prstGeom>
          <a:solidFill>
            <a:schemeClr val="accent2"/>
          </a:solidFill>
          <a:ln w="22225" cmpd="sng">
            <a:solidFill>
              <a:schemeClr val="accent2"/>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000" b="0" i="0" u="none" cap="none">
                <a:solidFill>
                  <a:schemeClr val="lt1"/>
                </a:solidFill>
                <a:latin typeface="Arial"/>
                <a:ea typeface="Arial"/>
                <a:cs typeface="Arial"/>
              </a:rPr>
              <a:t>PU3|ESP32</a:t>
            </a:r>
          </a:p>
        </p:txBody>
      </p:sp>
      <p:cxnSp>
        <p:nvCxnSpPr>
          <p:cNvPr id="178" name="Google Shape;121;p7"/>
          <p:cNvCxnSpPr>
            <a:stCxn id="122" idx="2"/>
          </p:cNvCxnSpPr>
          <p:nvPr/>
        </p:nvCxnSpPr>
        <p:spPr>
          <a:xfrm>
            <a:off x="8400929" y="2086996"/>
            <a:ext cx="0" cy="1854300"/>
          </a:xfrm>
          <a:prstGeom prst="straightConnector1">
            <a:avLst/>
          </a:prstGeom>
          <a:ln w="19050" cap="flat">
            <a:solidFill>
              <a:schemeClr val="accent4"/>
            </a:solidFill>
            <a:prstDash val="solid"/>
            <a:miter/>
            <a:headEnd type="none" w="sm" len="sm"/>
            <a:tailEnd type="oval" w="med" len="med"/>
          </a:ln>
        </p:spPr>
      </p:cxnSp>
      <p:cxnSp>
        <p:nvCxnSpPr>
          <p:cNvPr id="179" name="Google Shape;123;p7"/>
          <p:cNvCxnSpPr>
            <a:stCxn id="124" idx="2"/>
          </p:cNvCxnSpPr>
          <p:nvPr/>
        </p:nvCxnSpPr>
        <p:spPr>
          <a:xfrm>
            <a:off x="8971666" y="3456339"/>
            <a:ext cx="0" cy="376800"/>
          </a:xfrm>
          <a:prstGeom prst="straightConnector1">
            <a:avLst/>
          </a:prstGeom>
          <a:ln w="19050" cap="flat">
            <a:solidFill>
              <a:srgbClr val="FD9600"/>
            </a:solidFill>
            <a:prstDash val="solid"/>
            <a:miter/>
            <a:headEnd type="none" w="sm" len="sm"/>
            <a:tailEnd type="oval" w="med" len="med"/>
          </a:ln>
        </p:spPr>
      </p:cxnSp>
      <p:cxnSp>
        <p:nvCxnSpPr>
          <p:cNvPr id="180" name="Google Shape;125;p7"/>
          <p:cNvCxnSpPr>
            <a:stCxn id="120" idx="2"/>
          </p:cNvCxnSpPr>
          <p:nvPr/>
        </p:nvCxnSpPr>
        <p:spPr>
          <a:xfrm>
            <a:off x="7960320" y="1428585"/>
            <a:ext cx="0" cy="2526000"/>
          </a:xfrm>
          <a:prstGeom prst="straightConnector1">
            <a:avLst/>
          </a:prstGeom>
          <a:ln w="19050" cap="flat">
            <a:solidFill>
              <a:schemeClr val="accent2"/>
            </a:solidFill>
            <a:prstDash val="solid"/>
            <a:miter/>
            <a:headEnd type="none" w="sm" len="sm"/>
            <a:tailEnd type="oval" w="med" len="med"/>
          </a:ln>
        </p:spPr>
      </p:cxnSp>
      <p:sp>
        <p:nvSpPr>
          <p:cNvPr id="126" name="Google Shape;126;p7">
            <a:extLst>
              <a:ext uri="{FF2B5EF4-FFF2-40B4-BE49-F238E27FC236}">
                <a16:creationId xmlns:a16="http://schemas.microsoft.com/office/drawing/2014/main" id="{C29E7621-34A4-4526-8D6E-E370857DB117}"/>
              </a:ext>
            </a:extLst>
          </p:cNvPr>
          <p:cNvSpPr>
            <a:spLocks noGrp="1"/>
          </p:cNvSpPr>
          <p:nvPr/>
        </p:nvSpPr>
        <p:spPr>
          <a:xfrm>
            <a:off x="8183753" y="2382381"/>
            <a:ext cx="1137311" cy="348514"/>
          </a:xfrm>
          <a:prstGeom prst="roundRect">
            <a:avLst>
              <a:gd name="adj" fmla="val 50000"/>
            </a:avLst>
          </a:prstGeom>
          <a:solidFill>
            <a:srgbClr val="00B0F0"/>
          </a:solidFill>
          <a:ln w="22225" cmpd="sng">
            <a:solidFill>
              <a:srgbClr val="00B0F0"/>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000" b="0" i="0" u="none" cap="none">
                <a:solidFill>
                  <a:schemeClr val="lt1"/>
                </a:solidFill>
                <a:latin typeface="Arial"/>
                <a:ea typeface="Arial"/>
                <a:cs typeface="Arial"/>
              </a:rPr>
              <a:t>PU4 | MEMORY</a:t>
            </a:r>
          </a:p>
        </p:txBody>
      </p:sp>
      <p:cxnSp>
        <p:nvCxnSpPr>
          <p:cNvPr id="182" name="Google Shape;127;p7"/>
          <p:cNvCxnSpPr/>
          <p:nvPr/>
        </p:nvCxnSpPr>
        <p:spPr>
          <a:xfrm>
            <a:off x="8752408" y="2730895"/>
            <a:ext cx="0" cy="1179275"/>
          </a:xfrm>
          <a:prstGeom prst="straightConnector1">
            <a:avLst/>
          </a:prstGeom>
          <a:ln w="19050" cap="flat">
            <a:solidFill>
              <a:srgbClr val="00B0F0"/>
            </a:solidFill>
            <a:prstDash val="solid"/>
            <a:miter/>
            <a:headEnd type="none" w="sm" len="sm"/>
            <a:tailEnd type="oval" w="med" len="med"/>
          </a:ln>
        </p:spPr>
      </p:cxnSp>
      <p:sp>
        <p:nvSpPr>
          <p:cNvPr id="122" name="Google Shape;122;p7">
            <a:extLst>
              <a:ext uri="{FF2B5EF4-FFF2-40B4-BE49-F238E27FC236}">
                <a16:creationId xmlns:a16="http://schemas.microsoft.com/office/drawing/2014/main" id="{85ACE8CF-28EB-49A3-B3E1-698D09F007B7}"/>
              </a:ext>
            </a:extLst>
          </p:cNvPr>
          <p:cNvSpPr>
            <a:spLocks noGrp="1"/>
          </p:cNvSpPr>
          <p:nvPr/>
        </p:nvSpPr>
        <p:spPr>
          <a:xfrm>
            <a:off x="7744296" y="1738482"/>
            <a:ext cx="1313266" cy="348514"/>
          </a:xfrm>
          <a:prstGeom prst="roundRect">
            <a:avLst>
              <a:gd name="adj" fmla="val 50000"/>
            </a:avLst>
          </a:prstGeom>
          <a:solidFill>
            <a:schemeClr val="accent4"/>
          </a:solidFill>
          <a:ln w="22225" cmpd="sng">
            <a:solidFill>
              <a:schemeClr val="accent4"/>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000" b="0" i="0" u="none" cap="none">
                <a:solidFill>
                  <a:schemeClr val="lt1"/>
                </a:solidFill>
                <a:latin typeface="Arial"/>
                <a:ea typeface="Arial"/>
                <a:cs typeface="Arial"/>
              </a:rPr>
              <a:t>PU1 | i.MX 93</a:t>
            </a:r>
          </a:p>
        </p:txBody>
      </p:sp>
      <p:sp>
        <p:nvSpPr>
          <p:cNvPr id="124" name="Google Shape;124;p7">
            <a:extLst>
              <a:ext uri="{FF2B5EF4-FFF2-40B4-BE49-F238E27FC236}">
                <a16:creationId xmlns:a16="http://schemas.microsoft.com/office/drawing/2014/main" id="{09C66DCA-75F1-419C-89B9-92C4E392BEF2}"/>
              </a:ext>
            </a:extLst>
          </p:cNvPr>
          <p:cNvSpPr>
            <a:spLocks noGrp="1"/>
          </p:cNvSpPr>
          <p:nvPr/>
        </p:nvSpPr>
        <p:spPr>
          <a:xfrm>
            <a:off x="8327298" y="3107825"/>
            <a:ext cx="1288736" cy="348514"/>
          </a:xfrm>
          <a:prstGeom prst="roundRect">
            <a:avLst>
              <a:gd name="adj" fmla="val 50000"/>
            </a:avLst>
          </a:prstGeom>
          <a:solidFill>
            <a:srgbClr val="FD9600"/>
          </a:solidFill>
          <a:ln w="22225" cmpd="sng">
            <a:solidFill>
              <a:srgbClr val="FD9600"/>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000" b="0" i="0" u="none" cap="none">
                <a:solidFill>
                  <a:schemeClr val="lt1"/>
                </a:solidFill>
                <a:latin typeface="Arial"/>
                <a:ea typeface="Arial"/>
                <a:cs typeface="Arial"/>
              </a:rPr>
              <a:t>PU2 | STM32F4</a:t>
            </a:r>
          </a:p>
        </p:txBody>
      </p:sp>
    </p:spTree>
    <p:extLst>
      <p:ext uri="{BB962C8B-B14F-4D97-AF65-F5344CB8AC3E}">
        <p14:creationId xmlns:p14="http://schemas.microsoft.com/office/powerpoint/2010/main" val="401345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Google Shape;132;p8">
            <a:extLst>
              <a:ext uri="{FF2B5EF4-FFF2-40B4-BE49-F238E27FC236}">
                <a16:creationId xmlns:a16="http://schemas.microsoft.com/office/drawing/2014/main" id="{CDEE0FAF-162E-423A-A924-3310294D0314}"/>
              </a:ext>
            </a:extLst>
          </p:cNvPr>
          <p:cNvSpPr>
            <a:spLocks noGrp="1"/>
          </p:cNvSpPr>
          <p:nvPr>
            <p:ph type="body" idx="1"/>
          </p:nvPr>
        </p:nvSpPr>
        <p:spPr>
          <a:xfrm>
            <a:off x="498764" y="1123284"/>
            <a:ext cx="9168982" cy="2486815"/>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sz="1800"/>
              <a:t>For each Processing Unit (PU), ARIANNA supports the creation of the SBOM.</a:t>
            </a:r>
          </a:p>
          <a:p>
            <a:pPr marL="269875" indent="-269875" algn="l">
              <a:lnSpc>
                <a:spcPct val="100000"/>
              </a:lnSpc>
              <a:spcBef>
                <a:spcPts val="1000"/>
              </a:spcBef>
              <a:spcAft>
                <a:spcPts val="0"/>
              </a:spcAft>
              <a:buChar char="●"/>
            </a:pPr>
            <a:r>
              <a:rPr sz="1800"/>
              <a:t>A PU SBOM can combine multiple SBOMs from different software layers.</a:t>
            </a:r>
          </a:p>
          <a:p>
            <a:pPr marL="533400" indent="-247650" algn="l">
              <a:lnSpc>
                <a:spcPct val="100000"/>
              </a:lnSpc>
              <a:spcBef>
                <a:spcPts val="667"/>
              </a:spcBef>
              <a:spcAft>
                <a:spcPts val="0"/>
              </a:spcAft>
              <a:buChar char="o"/>
            </a:pPr>
            <a:r>
              <a:rPr sz="1600"/>
              <a:t>For MPUs this can include the OS plus customer applications.</a:t>
            </a:r>
          </a:p>
          <a:p>
            <a:pPr marL="533400" indent="-247650" algn="l">
              <a:lnSpc>
                <a:spcPct val="100000"/>
              </a:lnSpc>
              <a:spcBef>
                <a:spcPts val="667"/>
              </a:spcBef>
              <a:spcAft>
                <a:spcPts val="0"/>
              </a:spcAft>
              <a:buChar char="o"/>
            </a:pPr>
            <a:r>
              <a:rPr sz="1600"/>
              <a:t>For MCUs this can include the bootloader plus application firmware.</a:t>
            </a:r>
          </a:p>
          <a:p>
            <a:pPr marL="533400" indent="-247650" algn="l">
              <a:lnSpc>
                <a:spcPct val="100000"/>
              </a:lnSpc>
              <a:spcBef>
                <a:spcPts val="667"/>
              </a:spcBef>
              <a:spcAft>
                <a:spcPts val="0"/>
              </a:spcAft>
              <a:buChar char="o"/>
            </a:pPr>
            <a:r>
              <a:rPr sz="1600"/>
              <a:t>The final device SBOM preserves that structure for clearer vulnerability analysis.</a:t>
            </a:r>
          </a:p>
        </p:txBody>
      </p:sp>
      <p:sp>
        <p:nvSpPr>
          <p:cNvPr id="133" name="Google Shape;133;p8">
            <a:extLst>
              <a:ext uri="{FF2B5EF4-FFF2-40B4-BE49-F238E27FC236}">
                <a16:creationId xmlns:a16="http://schemas.microsoft.com/office/drawing/2014/main" id="{55D49939-731D-4254-B0F4-EB080A992727}"/>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Device Model creation: SBOM</a:t>
            </a:r>
          </a:p>
        </p:txBody>
      </p:sp>
      <p:sp>
        <p:nvSpPr>
          <p:cNvPr id="134" name="Google Shape;134;p8">
            <a:extLst>
              <a:ext uri="{FF2B5EF4-FFF2-40B4-BE49-F238E27FC236}">
                <a16:creationId xmlns:a16="http://schemas.microsoft.com/office/drawing/2014/main" id="{C44AAF25-F66A-47F5-91E2-C7326CDA681C}"/>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8</a:t>
            </a:fld>
            <a:endParaRPr/>
          </a:p>
        </p:txBody>
      </p:sp>
      <p:sp>
        <p:nvSpPr>
          <p:cNvPr id="135" name="Google Shape;135;p8">
            <a:extLst>
              <a:ext uri="{FF2B5EF4-FFF2-40B4-BE49-F238E27FC236}">
                <a16:creationId xmlns:a16="http://schemas.microsoft.com/office/drawing/2014/main" id="{43906A12-6998-4BAF-AA96-57C03DE91CC9}"/>
              </a:ext>
            </a:extLst>
          </p:cNvPr>
          <p:cNvSpPr>
            <a:spLocks noGrp="1"/>
          </p:cNvSpPr>
          <p:nvPr/>
        </p:nvSpPr>
        <p:spPr>
          <a:xfrm>
            <a:off x="1273354" y="4558172"/>
            <a:ext cx="2520280" cy="436076"/>
          </a:xfrm>
          <a:prstGeom prst="roundRect">
            <a:avLst>
              <a:gd name="adj" fmla="val 14373"/>
            </a:avLst>
          </a:prstGeom>
          <a:solidFill>
            <a:srgbClr val="9E9E9E"/>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400" b="0" i="0" u="none" cap="none">
                <a:solidFill>
                  <a:schemeClr val="lt1"/>
                </a:solidFill>
                <a:latin typeface="Arial"/>
                <a:ea typeface="Arial"/>
                <a:cs typeface="Arial"/>
              </a:rPr>
              <a:t>PU1 | i.MX 93</a:t>
            </a:r>
          </a:p>
        </p:txBody>
      </p:sp>
      <p:sp>
        <p:nvSpPr>
          <p:cNvPr id="136" name="Google Shape;136;p8">
            <a:extLst>
              <a:ext uri="{FF2B5EF4-FFF2-40B4-BE49-F238E27FC236}">
                <a16:creationId xmlns:a16="http://schemas.microsoft.com/office/drawing/2014/main" id="{B6DF4904-1D50-405C-9C6B-74210741FE86}"/>
              </a:ext>
            </a:extLst>
          </p:cNvPr>
          <p:cNvSpPr>
            <a:spLocks noGrp="1"/>
          </p:cNvSpPr>
          <p:nvPr/>
        </p:nvSpPr>
        <p:spPr>
          <a:xfrm>
            <a:off x="7430506" y="4558171"/>
            <a:ext cx="1436284" cy="436076"/>
          </a:xfrm>
          <a:prstGeom prst="roundRect">
            <a:avLst>
              <a:gd name="adj" fmla="val 16667"/>
            </a:avLst>
          </a:prstGeom>
          <a:solidFill>
            <a:srgbClr val="9E9E9E"/>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400" b="0" i="0" u="none" cap="none">
                <a:solidFill>
                  <a:schemeClr val="lt1"/>
                </a:solidFill>
                <a:latin typeface="Arial"/>
                <a:ea typeface="Arial"/>
                <a:cs typeface="Arial"/>
              </a:rPr>
              <a:t>PU3 | ESP32</a:t>
            </a:r>
          </a:p>
        </p:txBody>
      </p:sp>
      <p:sp>
        <p:nvSpPr>
          <p:cNvPr id="137" name="Google Shape;137;p8">
            <a:extLst>
              <a:ext uri="{FF2B5EF4-FFF2-40B4-BE49-F238E27FC236}">
                <a16:creationId xmlns:a16="http://schemas.microsoft.com/office/drawing/2014/main" id="{46A695DD-E916-4DEB-A294-1F6376D00F6D}"/>
              </a:ext>
            </a:extLst>
          </p:cNvPr>
          <p:cNvSpPr>
            <a:spLocks noGrp="1"/>
          </p:cNvSpPr>
          <p:nvPr/>
        </p:nvSpPr>
        <p:spPr>
          <a:xfrm>
            <a:off x="4135926" y="4560533"/>
            <a:ext cx="2952897" cy="436076"/>
          </a:xfrm>
          <a:prstGeom prst="roundRect">
            <a:avLst>
              <a:gd name="adj" fmla="val 16667"/>
            </a:avLst>
          </a:prstGeom>
          <a:solidFill>
            <a:srgbClr val="9E9E9E"/>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400" b="0" i="0" u="none" cap="none">
                <a:solidFill>
                  <a:schemeClr val="lt1"/>
                </a:solidFill>
                <a:latin typeface="Arial"/>
                <a:ea typeface="Arial"/>
                <a:cs typeface="Arial"/>
              </a:rPr>
              <a:t>PU2 | STM32F4</a:t>
            </a:r>
          </a:p>
        </p:txBody>
      </p:sp>
      <p:sp>
        <p:nvSpPr>
          <p:cNvPr id="138" name="Google Shape;138;p8">
            <a:extLst>
              <a:ext uri="{FF2B5EF4-FFF2-40B4-BE49-F238E27FC236}">
                <a16:creationId xmlns:a16="http://schemas.microsoft.com/office/drawing/2014/main" id="{5BE5CCF2-45AA-4185-8F5F-EED8297F41C7}"/>
              </a:ext>
            </a:extLst>
          </p:cNvPr>
          <p:cNvSpPr>
            <a:spLocks noGrp="1"/>
          </p:cNvSpPr>
          <p:nvPr/>
        </p:nvSpPr>
        <p:spPr>
          <a:xfrm>
            <a:off x="7496303" y="3962766"/>
            <a:ext cx="1300417" cy="443903"/>
          </a:xfrm>
          <a:prstGeom prst="roundRect">
            <a:avLst>
              <a:gd name="adj" fmla="val 16667"/>
            </a:avLst>
          </a:prstGeom>
          <a:solidFill>
            <a:srgbClr val="DA92D5"/>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200" b="0" i="0" u="none" cap="none">
                <a:solidFill>
                  <a:schemeClr val="lt1"/>
                </a:solidFill>
                <a:latin typeface="Arial"/>
                <a:ea typeface="Arial"/>
                <a:cs typeface="Arial"/>
              </a:rPr>
              <a:t>Firmware SBOM</a:t>
            </a:r>
          </a:p>
        </p:txBody>
      </p:sp>
      <p:sp>
        <p:nvSpPr>
          <p:cNvPr id="139" name="Google Shape;139;p8">
            <a:extLst>
              <a:ext uri="{FF2B5EF4-FFF2-40B4-BE49-F238E27FC236}">
                <a16:creationId xmlns:a16="http://schemas.microsoft.com/office/drawing/2014/main" id="{13885808-1F1F-4E46-895D-BCA512C442ED}"/>
              </a:ext>
            </a:extLst>
          </p:cNvPr>
          <p:cNvSpPr>
            <a:spLocks noGrp="1"/>
          </p:cNvSpPr>
          <p:nvPr/>
        </p:nvSpPr>
        <p:spPr>
          <a:xfrm>
            <a:off x="4212304" y="3965127"/>
            <a:ext cx="1367382" cy="443904"/>
          </a:xfrm>
          <a:prstGeom prst="roundRect">
            <a:avLst>
              <a:gd name="adj" fmla="val 16667"/>
            </a:avLst>
          </a:prstGeom>
          <a:solidFill>
            <a:srgbClr val="E5902A"/>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200" b="0" i="0" u="none" cap="none">
                <a:solidFill>
                  <a:schemeClr val="lt1"/>
                </a:solidFill>
                <a:latin typeface="Arial"/>
                <a:ea typeface="Arial"/>
                <a:cs typeface="Arial"/>
              </a:rPr>
              <a:t>Bootloader SBOM</a:t>
            </a:r>
          </a:p>
        </p:txBody>
      </p:sp>
      <p:sp>
        <p:nvSpPr>
          <p:cNvPr id="140" name="Google Shape;140;p8">
            <a:extLst>
              <a:ext uri="{FF2B5EF4-FFF2-40B4-BE49-F238E27FC236}">
                <a16:creationId xmlns:a16="http://schemas.microsoft.com/office/drawing/2014/main" id="{B2D6BE0A-5C44-4DC6-9421-61E571BC790A}"/>
              </a:ext>
            </a:extLst>
          </p:cNvPr>
          <p:cNvSpPr>
            <a:spLocks noGrp="1"/>
          </p:cNvSpPr>
          <p:nvPr/>
        </p:nvSpPr>
        <p:spPr>
          <a:xfrm>
            <a:off x="5656064" y="3965127"/>
            <a:ext cx="1367382" cy="443904"/>
          </a:xfrm>
          <a:prstGeom prst="roundRect">
            <a:avLst>
              <a:gd name="adj" fmla="val 16667"/>
            </a:avLst>
          </a:prstGeom>
          <a:solidFill>
            <a:srgbClr val="DA92D5"/>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200" b="0" i="0" u="none" cap="none">
                <a:solidFill>
                  <a:schemeClr val="lt1"/>
                </a:solidFill>
                <a:latin typeface="Arial"/>
                <a:ea typeface="Arial"/>
                <a:cs typeface="Arial"/>
              </a:rPr>
              <a:t>Firmware SBOM</a:t>
            </a:r>
          </a:p>
        </p:txBody>
      </p:sp>
      <p:sp>
        <p:nvSpPr>
          <p:cNvPr id="141" name="Google Shape;141;p8">
            <a:extLst>
              <a:ext uri="{FF2B5EF4-FFF2-40B4-BE49-F238E27FC236}">
                <a16:creationId xmlns:a16="http://schemas.microsoft.com/office/drawing/2014/main" id="{372572EC-0FC8-40A2-9FE7-FE2EF98A6C3B}"/>
              </a:ext>
            </a:extLst>
          </p:cNvPr>
          <p:cNvSpPr>
            <a:spLocks noGrp="1"/>
          </p:cNvSpPr>
          <p:nvPr/>
        </p:nvSpPr>
        <p:spPr>
          <a:xfrm>
            <a:off x="1335584" y="3937620"/>
            <a:ext cx="2386042" cy="469049"/>
          </a:xfrm>
          <a:prstGeom prst="roundRect">
            <a:avLst>
              <a:gd name="adj" fmla="val 16667"/>
            </a:avLst>
          </a:prstGeom>
          <a:solidFill>
            <a:srgbClr val="B7D090"/>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200" b="0" i="0" u="none" cap="none">
                <a:solidFill>
                  <a:schemeClr val="lt1"/>
                </a:solidFill>
                <a:latin typeface="Arial"/>
                <a:ea typeface="Arial"/>
                <a:cs typeface="Arial"/>
              </a:rPr>
              <a:t>YOCTO SBOM</a:t>
            </a:r>
          </a:p>
        </p:txBody>
      </p:sp>
      <p:sp>
        <p:nvSpPr>
          <p:cNvPr id="142" name="Google Shape;142;p8">
            <a:extLst>
              <a:ext uri="{FF2B5EF4-FFF2-40B4-BE49-F238E27FC236}">
                <a16:creationId xmlns:a16="http://schemas.microsoft.com/office/drawing/2014/main" id="{4E36C73B-66B4-40B4-997F-62A6229EDC7F}"/>
              </a:ext>
            </a:extLst>
          </p:cNvPr>
          <p:cNvSpPr>
            <a:spLocks noGrp="1"/>
          </p:cNvSpPr>
          <p:nvPr/>
        </p:nvSpPr>
        <p:spPr>
          <a:xfrm>
            <a:off x="1335584" y="3334077"/>
            <a:ext cx="1159814" cy="550680"/>
          </a:xfrm>
          <a:prstGeom prst="roundRect">
            <a:avLst>
              <a:gd name="adj" fmla="val 16667"/>
            </a:avLst>
          </a:prstGeom>
          <a:solidFill>
            <a:srgbClr val="D3AC97"/>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100" b="0" i="0" u="none" cap="none">
                <a:solidFill>
                  <a:schemeClr val="lt1"/>
                </a:solidFill>
                <a:latin typeface="Arial"/>
                <a:ea typeface="Arial"/>
                <a:cs typeface="Arial"/>
              </a:rPr>
              <a:t>Javascript Application</a:t>
            </a:r>
          </a:p>
          <a:p>
            <a:pPr marL="0" indent="0" algn="ctr">
              <a:lnSpc>
                <a:spcPct val="100000"/>
              </a:lnSpc>
              <a:spcBef>
                <a:spcPts val="0"/>
              </a:spcBef>
              <a:spcAft>
                <a:spcPts val="0"/>
              </a:spcAft>
              <a:buNone/>
            </a:pPr>
            <a:r>
              <a:rPr sz="1100" b="0" i="0" u="none" cap="none">
                <a:solidFill>
                  <a:schemeClr val="lt1"/>
                </a:solidFill>
                <a:latin typeface="Arial"/>
                <a:ea typeface="Arial"/>
                <a:cs typeface="Arial"/>
              </a:rPr>
              <a:t>SBOM</a:t>
            </a:r>
          </a:p>
        </p:txBody>
      </p:sp>
      <p:sp>
        <p:nvSpPr>
          <p:cNvPr id="143" name="Google Shape;143;p8">
            <a:extLst>
              <a:ext uri="{FF2B5EF4-FFF2-40B4-BE49-F238E27FC236}">
                <a16:creationId xmlns:a16="http://schemas.microsoft.com/office/drawing/2014/main" id="{008DDC5F-747E-406C-9A08-0C45FBCE07F0}"/>
              </a:ext>
            </a:extLst>
          </p:cNvPr>
          <p:cNvSpPr>
            <a:spLocks noGrp="1"/>
          </p:cNvSpPr>
          <p:nvPr/>
        </p:nvSpPr>
        <p:spPr>
          <a:xfrm>
            <a:off x="2541224" y="3334077"/>
            <a:ext cx="1156003" cy="560326"/>
          </a:xfrm>
          <a:prstGeom prst="roundRect">
            <a:avLst>
              <a:gd name="adj" fmla="val 16667"/>
            </a:avLst>
          </a:prstGeom>
          <a:solidFill>
            <a:srgbClr val="F3B5AA"/>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100" b="0" i="0" u="none" cap="none">
                <a:solidFill>
                  <a:schemeClr val="lt1"/>
                </a:solidFill>
                <a:latin typeface="Arial"/>
                <a:ea typeface="Arial"/>
                <a:cs typeface="Arial"/>
              </a:rPr>
              <a:t>Python Application</a:t>
            </a:r>
          </a:p>
          <a:p>
            <a:pPr marL="0" indent="0" algn="ctr">
              <a:lnSpc>
                <a:spcPct val="100000"/>
              </a:lnSpc>
              <a:spcBef>
                <a:spcPts val="0"/>
              </a:spcBef>
              <a:spcAft>
                <a:spcPts val="0"/>
              </a:spcAft>
              <a:buNone/>
            </a:pPr>
            <a:r>
              <a:rPr sz="1100" b="0" i="0" u="none" cap="none">
                <a:solidFill>
                  <a:schemeClr val="lt1"/>
                </a:solidFill>
                <a:latin typeface="Arial"/>
                <a:ea typeface="Arial"/>
                <a:cs typeface="Arial"/>
              </a:rPr>
              <a:t>SBOM</a:t>
            </a:r>
          </a:p>
        </p:txBody>
      </p:sp>
      <p:sp>
        <p:nvSpPr>
          <p:cNvPr id="144" name="Google Shape;144;p8">
            <a:extLst>
              <a:ext uri="{FF2B5EF4-FFF2-40B4-BE49-F238E27FC236}">
                <a16:creationId xmlns:a16="http://schemas.microsoft.com/office/drawing/2014/main" id="{40812A10-8FA9-457F-AF3A-751C882AA937}"/>
              </a:ext>
            </a:extLst>
          </p:cNvPr>
          <p:cNvSpPr>
            <a:spLocks noGrp="1"/>
          </p:cNvSpPr>
          <p:nvPr/>
        </p:nvSpPr>
        <p:spPr>
          <a:xfrm>
            <a:off x="1273354" y="3268303"/>
            <a:ext cx="2520280" cy="1215695"/>
          </a:xfrm>
          <a:prstGeom prst="roundRect">
            <a:avLst>
              <a:gd name="adj" fmla="val 5755"/>
            </a:avLst>
          </a:prstGeom>
          <a:noFill/>
          <a:ln w="12700" cmpd="sng">
            <a:solidFill>
              <a:srgbClr val="9E9E9E"/>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endParaRPr/>
          </a:p>
        </p:txBody>
      </p:sp>
      <p:sp>
        <p:nvSpPr>
          <p:cNvPr id="145" name="Google Shape;145;p8">
            <a:extLst>
              <a:ext uri="{FF2B5EF4-FFF2-40B4-BE49-F238E27FC236}">
                <a16:creationId xmlns:a16="http://schemas.microsoft.com/office/drawing/2014/main" id="{343B705B-CF28-41D1-B426-D943E603B4DD}"/>
              </a:ext>
            </a:extLst>
          </p:cNvPr>
          <p:cNvSpPr>
            <a:spLocks noGrp="1"/>
          </p:cNvSpPr>
          <p:nvPr/>
        </p:nvSpPr>
        <p:spPr>
          <a:xfrm>
            <a:off x="7430506" y="3884756"/>
            <a:ext cx="1436284" cy="599242"/>
          </a:xfrm>
          <a:prstGeom prst="roundRect">
            <a:avLst>
              <a:gd name="adj" fmla="val 13148"/>
            </a:avLst>
          </a:prstGeom>
          <a:noFill/>
          <a:ln w="12700" cmpd="sng">
            <a:solidFill>
              <a:srgbClr val="9E9E9E"/>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endParaRPr/>
          </a:p>
        </p:txBody>
      </p:sp>
      <p:sp>
        <p:nvSpPr>
          <p:cNvPr id="146" name="Google Shape;146;p8">
            <a:extLst>
              <a:ext uri="{FF2B5EF4-FFF2-40B4-BE49-F238E27FC236}">
                <a16:creationId xmlns:a16="http://schemas.microsoft.com/office/drawing/2014/main" id="{A84E8958-300E-461E-BB41-8127732FFB25}"/>
              </a:ext>
            </a:extLst>
          </p:cNvPr>
          <p:cNvSpPr>
            <a:spLocks noGrp="1"/>
          </p:cNvSpPr>
          <p:nvPr/>
        </p:nvSpPr>
        <p:spPr>
          <a:xfrm>
            <a:off x="4135925" y="3887118"/>
            <a:ext cx="2952897" cy="599242"/>
          </a:xfrm>
          <a:prstGeom prst="roundRect">
            <a:avLst>
              <a:gd name="adj" fmla="val 13148"/>
            </a:avLst>
          </a:prstGeom>
          <a:noFill/>
          <a:ln w="12700" cmpd="sng">
            <a:solidFill>
              <a:srgbClr val="9E9E9E"/>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endParaRPr/>
          </a:p>
        </p:txBody>
      </p:sp>
    </p:spTree>
    <p:extLst>
      <p:ext uri="{BB962C8B-B14F-4D97-AF65-F5344CB8AC3E}">
        <p14:creationId xmlns:p14="http://schemas.microsoft.com/office/powerpoint/2010/main" val="1454014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51;p9">
            <a:extLst>
              <a:ext uri="{FF2B5EF4-FFF2-40B4-BE49-F238E27FC236}">
                <a16:creationId xmlns:a16="http://schemas.microsoft.com/office/drawing/2014/main" id="{60234CB6-CB7C-4F2B-8373-918BBDB98375}"/>
              </a:ext>
            </a:extLst>
          </p:cNvPr>
          <p:cNvSpPr>
            <a:spLocks noGrp="1"/>
          </p:cNvSpPr>
          <p:nvPr>
            <p:ph type="body" idx="1"/>
          </p:nvPr>
        </p:nvSpPr>
        <p:spPr>
          <a:xfrm>
            <a:off x="465654" y="1123284"/>
            <a:ext cx="9202092"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sz="2000" dirty="0"/>
              <a:t>The device model evolves over the product lifecycle.</a:t>
            </a:r>
          </a:p>
          <a:p>
            <a:pPr marL="533400" indent="-247650" algn="l">
              <a:lnSpc>
                <a:spcPct val="100000"/>
              </a:lnSpc>
              <a:spcBef>
                <a:spcPts val="667"/>
              </a:spcBef>
              <a:spcAft>
                <a:spcPts val="0"/>
              </a:spcAft>
              <a:buChar char="o"/>
            </a:pPr>
            <a:r>
              <a:rPr sz="1800" dirty="0"/>
              <a:t>HBOM usually remains stable, while SBOM changes with new software and firmware releases.</a:t>
            </a:r>
          </a:p>
          <a:p>
            <a:pPr marL="533400" indent="-247650" algn="l">
              <a:lnSpc>
                <a:spcPct val="100000"/>
              </a:lnSpc>
              <a:spcBef>
                <a:spcPts val="667"/>
              </a:spcBef>
              <a:spcAft>
                <a:spcPts val="0"/>
              </a:spcAft>
              <a:buChar char="o"/>
            </a:pPr>
            <a:r>
              <a:rPr sz="1800" dirty="0"/>
              <a:t>Each new model version can introduce new vulnerabilities and automatically close others when affected components are updated or removed.</a:t>
            </a:r>
          </a:p>
        </p:txBody>
      </p:sp>
      <p:sp>
        <p:nvSpPr>
          <p:cNvPr id="152" name="Google Shape;152;p9">
            <a:extLst>
              <a:ext uri="{FF2B5EF4-FFF2-40B4-BE49-F238E27FC236}">
                <a16:creationId xmlns:a16="http://schemas.microsoft.com/office/drawing/2014/main" id="{23907CA7-D710-4C35-A64A-FA40AB38458C}"/>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Device Model lifecycle &amp; VMP</a:t>
            </a:r>
          </a:p>
        </p:txBody>
      </p:sp>
      <p:sp>
        <p:nvSpPr>
          <p:cNvPr id="153" name="Google Shape;153;p9">
            <a:extLst>
              <a:ext uri="{FF2B5EF4-FFF2-40B4-BE49-F238E27FC236}">
                <a16:creationId xmlns:a16="http://schemas.microsoft.com/office/drawing/2014/main" id="{4B7B1E0D-A076-4A55-9C49-596C545733B6}"/>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9</a:t>
            </a:fld>
            <a:endParaRPr/>
          </a:p>
        </p:txBody>
      </p:sp>
    </p:spTree>
    <p:extLst>
      <p:ext uri="{BB962C8B-B14F-4D97-AF65-F5344CB8AC3E}">
        <p14:creationId xmlns:p14="http://schemas.microsoft.com/office/powerpoint/2010/main" val="577978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Google Shape;164;p11">
            <a:extLst>
              <a:ext uri="{FF2B5EF4-FFF2-40B4-BE49-F238E27FC236}">
                <a16:creationId xmlns:a16="http://schemas.microsoft.com/office/drawing/2014/main" id="{CAF71989-91FE-447A-A6D9-CF85EE5E8244}"/>
              </a:ext>
            </a:extLst>
          </p:cNvPr>
          <p:cNvSpPr>
            <a:spLocks noGrp="1"/>
          </p:cNvSpPr>
          <p:nvPr>
            <p:ph type="body" idx="1"/>
          </p:nvPr>
        </p:nvSpPr>
        <p:spPr>
          <a:xfrm>
            <a:off x="465654" y="1123283"/>
            <a:ext cx="7468382" cy="3984425"/>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sz="1800" dirty="0"/>
              <a:t>ARIANNA identifies new vulnerabilities daily for every monitored device based on its device model.</a:t>
            </a:r>
          </a:p>
          <a:p>
            <a:pPr marL="269875" indent="-269875" algn="l">
              <a:lnSpc>
                <a:spcPct val="100000"/>
              </a:lnSpc>
              <a:spcBef>
                <a:spcPts val="1000"/>
              </a:spcBef>
              <a:spcAft>
                <a:spcPts val="0"/>
              </a:spcAft>
              <a:buChar char="●"/>
            </a:pPr>
            <a:r>
              <a:rPr sz="1800" dirty="0"/>
              <a:t>It uses an internal mapping between hardware/software components and known vulnerabilities.</a:t>
            </a:r>
          </a:p>
          <a:p>
            <a:pPr marL="533400" indent="-247650" algn="l">
              <a:lnSpc>
                <a:spcPct val="100000"/>
              </a:lnSpc>
              <a:spcBef>
                <a:spcPts val="667"/>
              </a:spcBef>
              <a:spcAft>
                <a:spcPts val="0"/>
              </a:spcAft>
              <a:buChar char="o"/>
            </a:pPr>
            <a:r>
              <a:rPr sz="1400" dirty="0"/>
              <a:t>Public sources such as NVD, </a:t>
            </a:r>
            <a:r>
              <a:rPr sz="1400" dirty="0" err="1"/>
              <a:t>CVE.org</a:t>
            </a:r>
            <a:r>
              <a:rPr sz="1400" dirty="0"/>
              <a:t>, GitHub Advisories, and EUVD are monitored continuously.</a:t>
            </a:r>
          </a:p>
          <a:p>
            <a:pPr marL="533400" indent="-247650">
              <a:spcBef>
                <a:spcPts val="667"/>
              </a:spcBef>
              <a:buChar char="o"/>
            </a:pPr>
            <a:r>
              <a:rPr sz="1400" dirty="0"/>
              <a:t>Findings are enriched with KEV status, EPSS, exploit maturity, and CWE information to support better prioritization.</a:t>
            </a:r>
          </a:p>
        </p:txBody>
      </p:sp>
      <p:sp>
        <p:nvSpPr>
          <p:cNvPr id="165" name="Google Shape;165;p11">
            <a:extLst>
              <a:ext uri="{FF2B5EF4-FFF2-40B4-BE49-F238E27FC236}">
                <a16:creationId xmlns:a16="http://schemas.microsoft.com/office/drawing/2014/main" id="{4C1246C1-8AD2-4DB1-B575-EB674450B8ED}"/>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Continuous Vulnerability Monitoring</a:t>
            </a:r>
          </a:p>
        </p:txBody>
      </p:sp>
      <p:sp>
        <p:nvSpPr>
          <p:cNvPr id="166" name="Google Shape;166;p11">
            <a:extLst>
              <a:ext uri="{FF2B5EF4-FFF2-40B4-BE49-F238E27FC236}">
                <a16:creationId xmlns:a16="http://schemas.microsoft.com/office/drawing/2014/main" id="{7253F5B2-23EB-4FDC-9C17-1F7DD8C3C6C3}"/>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10</a:t>
            </a:fld>
            <a:endParaRPr/>
          </a:p>
        </p:txBody>
      </p:sp>
    </p:spTree>
    <p:extLst>
      <p:ext uri="{BB962C8B-B14F-4D97-AF65-F5344CB8AC3E}">
        <p14:creationId xmlns:p14="http://schemas.microsoft.com/office/powerpoint/2010/main" val="2089187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Google Shape;236;p15">
            <a:extLst>
              <a:ext uri="{FF2B5EF4-FFF2-40B4-BE49-F238E27FC236}">
                <a16:creationId xmlns:a16="http://schemas.microsoft.com/office/drawing/2014/main" id="{1EC1485D-A21C-4F5C-A568-1098AFA8675C}"/>
              </a:ext>
            </a:extLst>
          </p:cNvPr>
          <p:cNvSpPr>
            <a:spLocks noGrp="1"/>
          </p:cNvSpPr>
          <p:nvPr>
            <p:ph type="body" idx="1"/>
          </p:nvPr>
        </p:nvSpPr>
        <p:spPr>
          <a:xfrm>
            <a:off x="465654" y="1123284"/>
            <a:ext cx="9202092"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a:solidFill>
                  <a:schemeClr val="accent2"/>
                </a:solidFill>
              </a:rPr>
              <a:t>CVSS is useful, but severity alone is not enough for prioritization.</a:t>
            </a:r>
          </a:p>
          <a:p>
            <a:pPr marL="285750" indent="0" algn="l">
              <a:lnSpc>
                <a:spcPct val="100000"/>
              </a:lnSpc>
              <a:spcBef>
                <a:spcPts val="667"/>
              </a:spcBef>
              <a:spcAft>
                <a:spcPts val="0"/>
              </a:spcAft>
              <a:buNone/>
            </a:pPr>
            <a:r>
              <a:rPr sz="2000"/>
              <a:t>Context matters: a vulnerability in a non-exposed component is very different from the same vulnerability in an internet-facing device.</a:t>
            </a:r>
          </a:p>
          <a:p>
            <a:pPr marL="269875" indent="-269875" algn="l">
              <a:lnSpc>
                <a:spcPct val="100000"/>
              </a:lnSpc>
              <a:spcBef>
                <a:spcPts val="1000"/>
              </a:spcBef>
              <a:spcAft>
                <a:spcPts val="0"/>
              </a:spcAft>
              <a:buChar char="●"/>
            </a:pPr>
            <a:r>
              <a:rPr>
                <a:solidFill>
                  <a:schemeClr val="dk2"/>
                </a:solidFill>
              </a:rPr>
              <a:t>Exploitability matters more than volume.</a:t>
            </a:r>
          </a:p>
          <a:p>
            <a:pPr marL="285750" indent="0" algn="l">
              <a:lnSpc>
                <a:spcPct val="100000"/>
              </a:lnSpc>
              <a:spcBef>
                <a:spcPts val="667"/>
              </a:spcBef>
              <a:spcAft>
                <a:spcPts val="0"/>
              </a:spcAft>
              <a:buNone/>
            </a:pPr>
            <a:r>
              <a:rPr sz="2200"/>
              <a:t>This is why device-specific context is essential for effective vulnerability management.</a:t>
            </a:r>
          </a:p>
        </p:txBody>
      </p:sp>
      <p:sp>
        <p:nvSpPr>
          <p:cNvPr id="237" name="Google Shape;237;p15">
            <a:extLst>
              <a:ext uri="{FF2B5EF4-FFF2-40B4-BE49-F238E27FC236}">
                <a16:creationId xmlns:a16="http://schemas.microsoft.com/office/drawing/2014/main" id="{4CDAFA95-9056-487A-A914-0CFD3A0538AA}"/>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Severity alone is not enough</a:t>
            </a:r>
          </a:p>
        </p:txBody>
      </p:sp>
      <p:sp>
        <p:nvSpPr>
          <p:cNvPr id="238" name="Google Shape;238;p15">
            <a:extLst>
              <a:ext uri="{FF2B5EF4-FFF2-40B4-BE49-F238E27FC236}">
                <a16:creationId xmlns:a16="http://schemas.microsoft.com/office/drawing/2014/main" id="{9F4643F7-5C91-4BBB-A028-DC6F6344B10C}"/>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11</a:t>
            </a:fld>
            <a:endParaRPr/>
          </a:p>
        </p:txBody>
      </p:sp>
    </p:spTree>
    <p:extLst>
      <p:ext uri="{BB962C8B-B14F-4D97-AF65-F5344CB8AC3E}">
        <p14:creationId xmlns:p14="http://schemas.microsoft.com/office/powerpoint/2010/main" val="946986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Google Shape;243;p16">
            <a:extLst>
              <a:ext uri="{FF2B5EF4-FFF2-40B4-BE49-F238E27FC236}">
                <a16:creationId xmlns:a16="http://schemas.microsoft.com/office/drawing/2014/main" id="{3993AA75-263C-4D10-8C86-1B513997C8AD}"/>
              </a:ext>
            </a:extLst>
          </p:cNvPr>
          <p:cNvSpPr>
            <a:spLocks noGrp="1"/>
          </p:cNvSpPr>
          <p:nvPr>
            <p:ph type="body" idx="1"/>
          </p:nvPr>
        </p:nvSpPr>
        <p:spPr>
          <a:xfrm>
            <a:off x="465654" y="1123284"/>
            <a:ext cx="9202092"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t>ARIANNA includes a configurable pre-triage engine to reduce review workload.</a:t>
            </a:r>
          </a:p>
          <a:p>
            <a:pPr marL="533400" indent="-247650" algn="l">
              <a:lnSpc>
                <a:spcPct val="100000"/>
              </a:lnSpc>
              <a:spcBef>
                <a:spcPts val="667"/>
              </a:spcBef>
              <a:spcAft>
                <a:spcPts val="0"/>
              </a:spcAft>
              <a:buChar char="o"/>
            </a:pPr>
            <a:r>
              <a:rPr sz="2000"/>
              <a:t>It creates a focused queue for the vulnerabilities that need immediate analyst attention.</a:t>
            </a:r>
          </a:p>
          <a:p>
            <a:pPr marL="804863" indent="-247650" algn="l">
              <a:lnSpc>
                <a:spcPct val="100000"/>
              </a:lnSpc>
              <a:spcBef>
                <a:spcPts val="667"/>
              </a:spcBef>
              <a:spcAft>
                <a:spcPts val="0"/>
              </a:spcAft>
              <a:buChar char="o"/>
            </a:pPr>
            <a:r>
              <a:rPr sz="2000">
                <a:solidFill>
                  <a:schemeClr val="dk2"/>
                </a:solidFill>
              </a:rPr>
              <a:t>Lower-priority items remain visible and traceable without consuming the same level of effort.</a:t>
            </a:r>
          </a:p>
          <a:p>
            <a:pPr marL="804863" indent="-233362" algn="l">
              <a:lnSpc>
                <a:spcPct val="100000"/>
              </a:lnSpc>
              <a:spcBef>
                <a:spcPts val="667"/>
              </a:spcBef>
              <a:spcAft>
                <a:spcPts val="0"/>
              </a:spcAft>
              <a:buChar char="o"/>
            </a:pPr>
            <a:r>
              <a:rPr sz="2000">
                <a:solidFill>
                  <a:schemeClr val="dk2"/>
                </a:solidFill>
              </a:rPr>
              <a:t>This helps teams scale triage while keeping final decisions in human hands.</a:t>
            </a:r>
          </a:p>
        </p:txBody>
      </p:sp>
      <p:sp>
        <p:nvSpPr>
          <p:cNvPr id="244" name="Google Shape;244;p16">
            <a:extLst>
              <a:ext uri="{FF2B5EF4-FFF2-40B4-BE49-F238E27FC236}">
                <a16:creationId xmlns:a16="http://schemas.microsoft.com/office/drawing/2014/main" id="{3D3FCBB8-6C4E-4E17-9330-EA5CF4EDC9B7}"/>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Operational triage at scale</a:t>
            </a:r>
          </a:p>
        </p:txBody>
      </p:sp>
      <p:sp>
        <p:nvSpPr>
          <p:cNvPr id="245" name="Google Shape;245;p16">
            <a:extLst>
              <a:ext uri="{FF2B5EF4-FFF2-40B4-BE49-F238E27FC236}">
                <a16:creationId xmlns:a16="http://schemas.microsoft.com/office/drawing/2014/main" id="{86E32BAE-7F88-48CB-AA69-509FE13AFC1A}"/>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12</a:t>
            </a:fld>
            <a:endParaRPr/>
          </a:p>
        </p:txBody>
      </p:sp>
    </p:spTree>
    <p:extLst>
      <p:ext uri="{BB962C8B-B14F-4D97-AF65-F5344CB8AC3E}">
        <p14:creationId xmlns:p14="http://schemas.microsoft.com/office/powerpoint/2010/main" val="1130883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0" name="Google Shape;302;p20"/>
          <p:cNvPicPr>
            <a:picLocks noChangeAspect="1"/>
          </p:cNvPicPr>
          <p:nvPr/>
        </p:nvPicPr>
        <p:blipFill rotWithShape="1">
          <a:blip r:embed="rId3">
            <a:alphaModFix/>
          </a:blip>
          <a:srcRect t="9137"/>
          <a:stretch/>
        </p:blipFill>
        <p:spPr>
          <a:xfrm>
            <a:off x="5601178" y="1123284"/>
            <a:ext cx="3816424" cy="2021635"/>
          </a:xfrm>
          <a:prstGeom prst="rect">
            <a:avLst/>
          </a:prstGeom>
          <a:ln>
            <a:noFill/>
          </a:ln>
        </p:spPr>
      </p:pic>
      <p:pic>
        <p:nvPicPr>
          <p:cNvPr id="311" name="Google Shape;303;p20"/>
          <p:cNvPicPr>
            <a:picLocks noChangeAspect="1"/>
          </p:cNvPicPr>
          <p:nvPr/>
        </p:nvPicPr>
        <p:blipFill rotWithShape="1">
          <a:blip r:embed="rId4">
            <a:alphaModFix/>
          </a:blip>
          <a:srcRect t="8239" b="6750"/>
          <a:stretch/>
        </p:blipFill>
        <p:spPr>
          <a:xfrm>
            <a:off x="5785576" y="3073524"/>
            <a:ext cx="3928739" cy="1947110"/>
          </a:xfrm>
          <a:prstGeom prst="rect">
            <a:avLst/>
          </a:prstGeom>
          <a:ln>
            <a:noFill/>
          </a:ln>
        </p:spPr>
      </p:pic>
      <p:sp>
        <p:nvSpPr>
          <p:cNvPr id="304" name="Google Shape;304;p20">
            <a:extLst>
              <a:ext uri="{FF2B5EF4-FFF2-40B4-BE49-F238E27FC236}">
                <a16:creationId xmlns:a16="http://schemas.microsoft.com/office/drawing/2014/main" id="{DD832AEE-E408-41BF-A218-EFD35CAA1BA5}"/>
              </a:ext>
            </a:extLst>
          </p:cNvPr>
          <p:cNvSpPr>
            <a:spLocks noGrp="1"/>
          </p:cNvSpPr>
          <p:nvPr>
            <p:ph type="body" idx="1"/>
          </p:nvPr>
        </p:nvSpPr>
        <p:spPr>
          <a:xfrm>
            <a:off x="465654" y="1123284"/>
            <a:ext cx="5622458"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sz="2000"/>
              <a:t>2775 identified vulnerabilities</a:t>
            </a:r>
          </a:p>
          <a:p>
            <a:pPr marL="0" indent="0" algn="l">
              <a:lnSpc>
                <a:spcPct val="100000"/>
              </a:lnSpc>
              <a:spcBef>
                <a:spcPts val="1000"/>
              </a:spcBef>
              <a:spcAft>
                <a:spcPts val="0"/>
              </a:spcAft>
              <a:buNone/>
            </a:pPr>
            <a:endParaRPr sz="2000"/>
          </a:p>
        </p:txBody>
      </p:sp>
      <p:sp>
        <p:nvSpPr>
          <p:cNvPr id="305" name="Google Shape;305;p20">
            <a:extLst>
              <a:ext uri="{FF2B5EF4-FFF2-40B4-BE49-F238E27FC236}">
                <a16:creationId xmlns:a16="http://schemas.microsoft.com/office/drawing/2014/main" id="{5AE7F065-394C-4C22-AFD3-C3D797C19CB0}"/>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Impact in practice</a:t>
            </a:r>
          </a:p>
        </p:txBody>
      </p:sp>
      <p:sp>
        <p:nvSpPr>
          <p:cNvPr id="306" name="Google Shape;306;p20">
            <a:extLst>
              <a:ext uri="{FF2B5EF4-FFF2-40B4-BE49-F238E27FC236}">
                <a16:creationId xmlns:a16="http://schemas.microsoft.com/office/drawing/2014/main" id="{C3342DD6-A574-4A1B-A816-F7839454B07C}"/>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13</a:t>
            </a:fld>
            <a:endParaRPr/>
          </a:p>
        </p:txBody>
      </p:sp>
      <p:sp>
        <p:nvSpPr>
          <p:cNvPr id="307" name="Google Shape;307;p20">
            <a:extLst>
              <a:ext uri="{FF2B5EF4-FFF2-40B4-BE49-F238E27FC236}">
                <a16:creationId xmlns:a16="http://schemas.microsoft.com/office/drawing/2014/main" id="{2E432F9A-7632-4AFB-99A8-34EB39BB373C}"/>
              </a:ext>
            </a:extLst>
          </p:cNvPr>
          <p:cNvSpPr>
            <a:spLocks noGrp="1"/>
          </p:cNvSpPr>
          <p:nvPr/>
        </p:nvSpPr>
        <p:spPr>
          <a:xfrm>
            <a:off x="471013" y="1345332"/>
            <a:ext cx="5622458" cy="3719172"/>
          </a:xfrm>
          <a:prstGeom prst="rect">
            <a:avLst/>
          </a:prstGeom>
          <a:noFill/>
          <a:ln>
            <a:noFill/>
          </a:ln>
        </p:spPr>
        <p:txBody>
          <a:bodyPr spcFirstLastPara="1" wrap="square" lIns="90000" tIns="45700" rIns="91425" bIns="45700" anchor="t">
            <a:normAutofit/>
          </a:bodyPr>
          <a:lstStyle/>
          <a:p>
            <a:pPr marL="269875" indent="-206375" algn="l">
              <a:lnSpc>
                <a:spcPct val="100000"/>
              </a:lnSpc>
              <a:spcBef>
                <a:spcPts val="0"/>
              </a:spcBef>
              <a:spcAft>
                <a:spcPts val="0"/>
              </a:spcAft>
              <a:buNone/>
            </a:pPr>
            <a:endParaRPr/>
          </a:p>
          <a:p>
            <a:pPr marL="269875" indent="-269875" algn="l">
              <a:lnSpc>
                <a:spcPct val="100000"/>
              </a:lnSpc>
              <a:spcBef>
                <a:spcPts val="1000"/>
              </a:spcBef>
              <a:spcAft>
                <a:spcPts val="0"/>
              </a:spcAft>
              <a:buChar char="●"/>
            </a:pPr>
            <a:r>
              <a:rPr sz="2000" b="0" i="0" u="none" cap="none">
                <a:solidFill>
                  <a:srgbClr val="C00000"/>
                </a:solidFill>
                <a:latin typeface="Montserrat"/>
                <a:ea typeface="Montserrat"/>
                <a:cs typeface="Montserrat"/>
              </a:rPr>
              <a:t>Prioritization based on Severity</a:t>
            </a:r>
          </a:p>
          <a:p>
            <a:pPr marL="533400" indent="-247650" algn="l">
              <a:lnSpc>
                <a:spcPct val="100000"/>
              </a:lnSpc>
              <a:spcBef>
                <a:spcPts val="667"/>
              </a:spcBef>
              <a:spcAft>
                <a:spcPts val="0"/>
              </a:spcAft>
              <a:buChar char="o"/>
            </a:pPr>
            <a:r>
              <a:rPr sz="1600" b="0" i="0" u="none" cap="none">
                <a:solidFill>
                  <a:schemeClr val="accent6"/>
                </a:solidFill>
                <a:latin typeface="Montserrat"/>
                <a:ea typeface="Montserrat"/>
                <a:cs typeface="Montserrat"/>
              </a:rPr>
              <a:t>CVSS Score &gt; 7.0 (Critical &amp; High)</a:t>
            </a:r>
          </a:p>
          <a:p>
            <a:pPr marL="533400" indent="-247650" algn="l">
              <a:lnSpc>
                <a:spcPct val="100000"/>
              </a:lnSpc>
              <a:spcBef>
                <a:spcPts val="667"/>
              </a:spcBef>
              <a:spcAft>
                <a:spcPts val="0"/>
              </a:spcAft>
              <a:buChar char="o"/>
            </a:pPr>
            <a:r>
              <a:rPr sz="1600" b="1" i="0" u="none" cap="none">
                <a:solidFill>
                  <a:srgbClr val="C00000"/>
                </a:solidFill>
                <a:latin typeface="Montserrat"/>
                <a:ea typeface="Montserrat"/>
                <a:cs typeface="Montserrat"/>
              </a:rPr>
              <a:t>834</a:t>
            </a:r>
            <a:r>
              <a:rPr sz="1600" b="0" i="0" u="none" cap="none">
                <a:solidFill>
                  <a:srgbClr val="C00000"/>
                </a:solidFill>
                <a:latin typeface="Montserrat"/>
                <a:ea typeface="Montserrat"/>
                <a:cs typeface="Montserrat"/>
              </a:rPr>
              <a:t> vulnerabilities to triage ASAP (1% + 29.1%)</a:t>
            </a:r>
          </a:p>
          <a:p>
            <a:pPr marL="0" indent="0" algn="l">
              <a:lnSpc>
                <a:spcPct val="100000"/>
              </a:lnSpc>
              <a:spcBef>
                <a:spcPts val="1000"/>
              </a:spcBef>
              <a:spcAft>
                <a:spcPts val="0"/>
              </a:spcAft>
              <a:buNone/>
            </a:pPr>
            <a:endParaRPr sz="1600" b="0" i="0" u="none" cap="none">
              <a:solidFill>
                <a:srgbClr val="C00000"/>
              </a:solidFill>
              <a:latin typeface="Montserrat"/>
              <a:ea typeface="Montserrat"/>
              <a:cs typeface="Montserrat"/>
            </a:endParaRPr>
          </a:p>
          <a:p>
            <a:pPr marL="269875" indent="-269875" algn="l">
              <a:lnSpc>
                <a:spcPct val="100000"/>
              </a:lnSpc>
              <a:spcBef>
                <a:spcPts val="1000"/>
              </a:spcBef>
              <a:spcAft>
                <a:spcPts val="0"/>
              </a:spcAft>
              <a:buChar char="●"/>
            </a:pPr>
            <a:r>
              <a:rPr sz="2000" b="0" i="0" u="none" cap="none">
                <a:solidFill>
                  <a:schemeClr val="dk2"/>
                </a:solidFill>
                <a:latin typeface="Montserrat"/>
                <a:ea typeface="Montserrat"/>
                <a:cs typeface="Montserrat"/>
              </a:rPr>
              <a:t>Prioritization based on Exploitability</a:t>
            </a:r>
          </a:p>
          <a:p>
            <a:pPr marL="533400" indent="-247650" algn="l">
              <a:lnSpc>
                <a:spcPct val="100000"/>
              </a:lnSpc>
              <a:spcBef>
                <a:spcPts val="667"/>
              </a:spcBef>
              <a:spcAft>
                <a:spcPts val="0"/>
              </a:spcAft>
              <a:buChar char="o"/>
            </a:pPr>
            <a:r>
              <a:rPr sz="1600" b="0" i="0" u="none" cap="none">
                <a:solidFill>
                  <a:schemeClr val="accent6"/>
                </a:solidFill>
                <a:latin typeface="Montserrat"/>
                <a:ea typeface="Montserrat"/>
                <a:cs typeface="Montserrat"/>
              </a:rPr>
              <a:t>Proof of Exploitation or Weaponized exploit</a:t>
            </a:r>
          </a:p>
          <a:p>
            <a:pPr marL="533400" indent="-247650" algn="l">
              <a:lnSpc>
                <a:spcPct val="100000"/>
              </a:lnSpc>
              <a:spcBef>
                <a:spcPts val="667"/>
              </a:spcBef>
              <a:spcAft>
                <a:spcPts val="0"/>
              </a:spcAft>
              <a:buChar char="o"/>
            </a:pPr>
            <a:r>
              <a:rPr sz="1600" b="0" i="0" u="none" cap="none">
                <a:solidFill>
                  <a:schemeClr val="accent6"/>
                </a:solidFill>
                <a:latin typeface="Montserrat"/>
                <a:ea typeface="Montserrat"/>
                <a:cs typeface="Montserrat"/>
              </a:rPr>
              <a:t>Attack Vector reachable by an attacker</a:t>
            </a:r>
          </a:p>
          <a:p>
            <a:pPr marL="533400" indent="-247650" algn="l">
              <a:lnSpc>
                <a:spcPct val="100000"/>
              </a:lnSpc>
              <a:spcBef>
                <a:spcPts val="667"/>
              </a:spcBef>
              <a:spcAft>
                <a:spcPts val="0"/>
              </a:spcAft>
              <a:buChar char="o"/>
            </a:pPr>
            <a:r>
              <a:rPr sz="1600" b="1" i="0" u="none" cap="none">
                <a:solidFill>
                  <a:schemeClr val="dk2"/>
                </a:solidFill>
                <a:latin typeface="Montserrat"/>
                <a:ea typeface="Montserrat"/>
                <a:cs typeface="Montserrat"/>
              </a:rPr>
              <a:t>10</a:t>
            </a:r>
            <a:r>
              <a:rPr sz="1600" b="0" i="0" u="none" cap="none">
                <a:solidFill>
                  <a:schemeClr val="dk2"/>
                </a:solidFill>
                <a:latin typeface="Montserrat"/>
                <a:ea typeface="Montserrat"/>
                <a:cs typeface="Montserrat"/>
              </a:rPr>
              <a:t> vulnerabilities to triage ASAP (0.4%)</a:t>
            </a:r>
          </a:p>
          <a:p>
            <a:pPr marL="269875" indent="-117475" algn="l">
              <a:lnSpc>
                <a:spcPct val="100000"/>
              </a:lnSpc>
              <a:spcBef>
                <a:spcPts val="1000"/>
              </a:spcBef>
              <a:spcAft>
                <a:spcPts val="0"/>
              </a:spcAft>
              <a:buNone/>
            </a:pPr>
            <a:endParaRPr sz="1600" b="0" i="0" u="none" cap="none">
              <a:solidFill>
                <a:schemeClr val="dk2"/>
              </a:solidFill>
              <a:latin typeface="Montserrat"/>
              <a:ea typeface="Montserrat"/>
              <a:cs typeface="Montserrat"/>
            </a:endParaRPr>
          </a:p>
        </p:txBody>
      </p:sp>
    </p:spTree>
    <p:extLst>
      <p:ext uri="{BB962C8B-B14F-4D97-AF65-F5344CB8AC3E}">
        <p14:creationId xmlns:p14="http://schemas.microsoft.com/office/powerpoint/2010/main" val="1067328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Google Shape;312;p21">
            <a:extLst>
              <a:ext uri="{FF2B5EF4-FFF2-40B4-BE49-F238E27FC236}">
                <a16:creationId xmlns:a16="http://schemas.microsoft.com/office/drawing/2014/main" id="{8A83C778-7B83-42D1-AD30-7905A448EA1A}"/>
              </a:ext>
            </a:extLst>
          </p:cNvPr>
          <p:cNvSpPr>
            <a:spLocks noGrp="1"/>
          </p:cNvSpPr>
          <p:nvPr>
            <p:ph type="body" idx="1"/>
          </p:nvPr>
        </p:nvSpPr>
        <p:spPr>
          <a:xfrm>
            <a:off x="465654" y="1123284"/>
            <a:ext cx="9202092"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sz="2000"/>
              <a:t>ARIANNA KEV focuses on vulnerabilities with evidence of real exploitation.</a:t>
            </a:r>
          </a:p>
          <a:p>
            <a:pPr marL="533400" indent="-247650" algn="l">
              <a:lnSpc>
                <a:spcPct val="100000"/>
              </a:lnSpc>
              <a:spcBef>
                <a:spcPts val="667"/>
              </a:spcBef>
              <a:spcAft>
                <a:spcPts val="0"/>
              </a:spcAft>
              <a:buChar char="o"/>
            </a:pPr>
            <a:r>
              <a:rPr sz="1600"/>
              <a:t>It includes CISA KEV entries.</a:t>
            </a:r>
          </a:p>
          <a:p>
            <a:pPr marL="533400" indent="-247650" algn="l">
              <a:lnSpc>
                <a:spcPct val="100000"/>
              </a:lnSpc>
              <a:spcBef>
                <a:spcPts val="667"/>
              </a:spcBef>
              <a:spcAft>
                <a:spcPts val="0"/>
              </a:spcAft>
              <a:buChar char="o"/>
            </a:pPr>
            <a:r>
              <a:rPr sz="1600"/>
              <a:t>It also adds proof-of-exploitation signals from EUVD and verified or weaponized exploits detected by ARIANNA.</a:t>
            </a:r>
          </a:p>
          <a:p>
            <a:pPr marL="533400" indent="-247650" algn="l">
              <a:lnSpc>
                <a:spcPct val="100000"/>
              </a:lnSpc>
              <a:spcBef>
                <a:spcPts val="667"/>
              </a:spcBef>
              <a:spcAft>
                <a:spcPts val="0"/>
              </a:spcAft>
              <a:buChar char="o"/>
            </a:pPr>
            <a:r>
              <a:rPr sz="1600"/>
              <a:t>This gives broader and faster coverage than relying on CISA KEV alone.</a:t>
            </a:r>
          </a:p>
          <a:p>
            <a:pPr marL="269875" indent="-269875" algn="l">
              <a:lnSpc>
                <a:spcPct val="100000"/>
              </a:lnSpc>
              <a:spcBef>
                <a:spcPts val="1000"/>
              </a:spcBef>
              <a:spcAft>
                <a:spcPts val="0"/>
              </a:spcAft>
              <a:buChar char="●"/>
            </a:pPr>
            <a:r>
              <a:rPr sz="2000">
                <a:solidFill>
                  <a:schemeClr val="accent3"/>
                </a:solidFill>
              </a:rPr>
              <a:t>Result: faster prioritization and faster remediation.</a:t>
            </a:r>
          </a:p>
        </p:txBody>
      </p:sp>
      <p:sp>
        <p:nvSpPr>
          <p:cNvPr id="313" name="Google Shape;313;p21">
            <a:extLst>
              <a:ext uri="{FF2B5EF4-FFF2-40B4-BE49-F238E27FC236}">
                <a16:creationId xmlns:a16="http://schemas.microsoft.com/office/drawing/2014/main" id="{E9EB8C4F-1FBC-4C0B-8EC8-ECA88FFF0047}"/>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ARIANNA KEV catalogue</a:t>
            </a:r>
          </a:p>
        </p:txBody>
      </p:sp>
      <p:sp>
        <p:nvSpPr>
          <p:cNvPr id="314" name="Google Shape;314;p21">
            <a:extLst>
              <a:ext uri="{FF2B5EF4-FFF2-40B4-BE49-F238E27FC236}">
                <a16:creationId xmlns:a16="http://schemas.microsoft.com/office/drawing/2014/main" id="{64B63C61-B8FE-4CD8-8AA2-E1752F5DBDE8}"/>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14</a:t>
            </a:fld>
            <a:endParaRPr/>
          </a:p>
        </p:txBody>
      </p:sp>
    </p:spTree>
    <p:extLst>
      <p:ext uri="{BB962C8B-B14F-4D97-AF65-F5344CB8AC3E}">
        <p14:creationId xmlns:p14="http://schemas.microsoft.com/office/powerpoint/2010/main" val="774665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Google Shape;325;p23">
            <a:extLst>
              <a:ext uri="{FF2B5EF4-FFF2-40B4-BE49-F238E27FC236}">
                <a16:creationId xmlns:a16="http://schemas.microsoft.com/office/drawing/2014/main" id="{3A9B6947-2F16-4189-B3EC-A74916A987C2}"/>
              </a:ext>
            </a:extLst>
          </p:cNvPr>
          <p:cNvSpPr>
            <a:spLocks noGrp="1"/>
          </p:cNvSpPr>
          <p:nvPr>
            <p:ph type="body" idx="1"/>
          </p:nvPr>
        </p:nvSpPr>
        <p:spPr>
          <a:xfrm>
            <a:off x="465654" y="1123284"/>
            <a:ext cx="9202092"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t>Export SBOM and HBOM in standard formats such as CycloneDX and SPDX.</a:t>
            </a:r>
          </a:p>
          <a:p>
            <a:pPr marL="533400" indent="-247650" algn="l">
              <a:lnSpc>
                <a:spcPct val="100000"/>
              </a:lnSpc>
              <a:spcBef>
                <a:spcPts val="667"/>
              </a:spcBef>
              <a:spcAft>
                <a:spcPts val="0"/>
              </a:spcAft>
              <a:buChar char="o"/>
            </a:pPr>
            <a:r>
              <a:rPr sz="2200"/>
              <a:t>Support NTIA minimum requirements.</a:t>
            </a:r>
          </a:p>
          <a:p>
            <a:pPr marL="533400" indent="-247650" algn="l">
              <a:lnSpc>
                <a:spcPct val="100000"/>
              </a:lnSpc>
              <a:spcBef>
                <a:spcPts val="667"/>
              </a:spcBef>
              <a:spcAft>
                <a:spcPts val="0"/>
              </a:spcAft>
              <a:buChar char="o"/>
            </a:pPr>
            <a:r>
              <a:rPr sz="2200"/>
              <a:t>Exclude selected components when needed.</a:t>
            </a:r>
          </a:p>
          <a:p>
            <a:pPr marL="533400" indent="-247650" algn="l">
              <a:lnSpc>
                <a:spcPct val="100000"/>
              </a:lnSpc>
              <a:spcBef>
                <a:spcPts val="667"/>
              </a:spcBef>
              <a:spcAft>
                <a:spcPts val="0"/>
              </a:spcAft>
              <a:buChar char="o"/>
            </a:pPr>
            <a:r>
              <a:rPr sz="2200"/>
              <a:t>Export vulnerability reports on demand in PDF or VEX format.</a:t>
            </a:r>
          </a:p>
          <a:p>
            <a:pPr marL="269875" indent="-269875" algn="l">
              <a:lnSpc>
                <a:spcPct val="100000"/>
              </a:lnSpc>
              <a:spcBef>
                <a:spcPts val="1000"/>
              </a:spcBef>
              <a:spcAft>
                <a:spcPts val="0"/>
              </a:spcAft>
              <a:buChar char="●"/>
            </a:pPr>
            <a:r>
              <a:t>Generate automatic monthly PDF reports with a full audit trail of actions and status changes.</a:t>
            </a:r>
          </a:p>
        </p:txBody>
      </p:sp>
      <p:sp>
        <p:nvSpPr>
          <p:cNvPr id="326" name="Google Shape;326;p23">
            <a:extLst>
              <a:ext uri="{FF2B5EF4-FFF2-40B4-BE49-F238E27FC236}">
                <a16:creationId xmlns:a16="http://schemas.microsoft.com/office/drawing/2014/main" id="{ACB3699B-F258-49C1-9B96-07EE5D8C2418}"/>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Reports for customers &amp; regulatory bodies</a:t>
            </a:r>
          </a:p>
        </p:txBody>
      </p:sp>
      <p:sp>
        <p:nvSpPr>
          <p:cNvPr id="327" name="Google Shape;327;p23">
            <a:extLst>
              <a:ext uri="{FF2B5EF4-FFF2-40B4-BE49-F238E27FC236}">
                <a16:creationId xmlns:a16="http://schemas.microsoft.com/office/drawing/2014/main" id="{8A28DB6A-6E2F-4FF2-B8BD-0C5D3D5DBD29}"/>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15</a:t>
            </a:fld>
            <a:endParaRPr/>
          </a:p>
        </p:txBody>
      </p:sp>
    </p:spTree>
    <p:extLst>
      <p:ext uri="{BB962C8B-B14F-4D97-AF65-F5344CB8AC3E}">
        <p14:creationId xmlns:p14="http://schemas.microsoft.com/office/powerpoint/2010/main" val="282694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Google Shape;345;p26">
            <a:extLst>
              <a:ext uri="{FF2B5EF4-FFF2-40B4-BE49-F238E27FC236}">
                <a16:creationId xmlns:a16="http://schemas.microsoft.com/office/drawing/2014/main" id="{25A374E0-D89F-4CA7-8296-46084BF011DF}"/>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Collaboration among teams in ARIANNA</a:t>
            </a:r>
          </a:p>
        </p:txBody>
      </p:sp>
      <p:sp>
        <p:nvSpPr>
          <p:cNvPr id="346" name="Google Shape;346;p26">
            <a:extLst>
              <a:ext uri="{FF2B5EF4-FFF2-40B4-BE49-F238E27FC236}">
                <a16:creationId xmlns:a16="http://schemas.microsoft.com/office/drawing/2014/main" id="{F4ECB138-58EE-4186-9C33-6C678EBD8025}"/>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16</a:t>
            </a:fld>
            <a:endParaRPr/>
          </a:p>
        </p:txBody>
      </p:sp>
      <p:pic>
        <p:nvPicPr>
          <p:cNvPr id="362" name="Google Shape;347;p26"/>
          <p:cNvPicPr>
            <a:picLocks noChangeAspect="1"/>
          </p:cNvPicPr>
          <p:nvPr/>
        </p:nvPicPr>
        <p:blipFill rotWithShape="1">
          <a:blip r:embed="rId3">
            <a:alphaModFix/>
          </a:blip>
          <a:srcRect/>
          <a:stretch/>
        </p:blipFill>
        <p:spPr>
          <a:xfrm>
            <a:off x="4767147" y="1561356"/>
            <a:ext cx="1088503" cy="1088503"/>
          </a:xfrm>
          <a:prstGeom prst="rect">
            <a:avLst/>
          </a:prstGeom>
          <a:ln>
            <a:noFill/>
          </a:ln>
        </p:spPr>
      </p:pic>
      <p:pic>
        <p:nvPicPr>
          <p:cNvPr id="363" name="Google Shape;348;p26"/>
          <p:cNvPicPr>
            <a:picLocks noChangeAspect="1"/>
          </p:cNvPicPr>
          <p:nvPr/>
        </p:nvPicPr>
        <p:blipFill rotWithShape="1">
          <a:blip r:embed="rId4">
            <a:alphaModFix/>
          </a:blip>
          <a:srcRect/>
          <a:stretch/>
        </p:blipFill>
        <p:spPr>
          <a:xfrm>
            <a:off x="4771213" y="3354453"/>
            <a:ext cx="1088503" cy="1088503"/>
          </a:xfrm>
          <a:prstGeom prst="rect">
            <a:avLst/>
          </a:prstGeom>
          <a:ln>
            <a:noFill/>
          </a:ln>
        </p:spPr>
      </p:pic>
      <p:sp>
        <p:nvSpPr>
          <p:cNvPr id="349" name="Google Shape;349;p26">
            <a:extLst>
              <a:ext uri="{FF2B5EF4-FFF2-40B4-BE49-F238E27FC236}">
                <a16:creationId xmlns:a16="http://schemas.microsoft.com/office/drawing/2014/main" id="{B7BC5250-85D5-4B37-8FE2-EBF870B299BB}"/>
              </a:ext>
            </a:extLst>
          </p:cNvPr>
          <p:cNvSpPr>
            <a:spLocks noGrp="1"/>
          </p:cNvSpPr>
          <p:nvPr/>
        </p:nvSpPr>
        <p:spPr>
          <a:xfrm>
            <a:off x="4819156" y="2388249"/>
            <a:ext cx="1080120" cy="246221"/>
          </a:xfrm>
          <a:prstGeom prst="rect">
            <a:avLst/>
          </a:prstGeom>
          <a:noFill/>
          <a:ln>
            <a:noFill/>
          </a:ln>
        </p:spPr>
        <p:txBody>
          <a:bodyPr spcFirstLastPara="1" wrap="square" lIns="91425" tIns="45700" rIns="91425" bIns="45700" anchor="t">
            <a:spAutoFit/>
          </a:bodyPr>
          <a:lstStyle/>
          <a:p>
            <a:pPr marL="0" indent="0" algn="ctr">
              <a:lnSpc>
                <a:spcPct val="100000"/>
              </a:lnSpc>
              <a:spcBef>
                <a:spcPts val="0"/>
              </a:spcBef>
              <a:spcAft>
                <a:spcPts val="0"/>
              </a:spcAft>
              <a:buNone/>
            </a:pPr>
            <a:r>
              <a:rPr sz="1000" b="0" i="0" u="none" cap="none">
                <a:solidFill>
                  <a:srgbClr val="88B24B"/>
                </a:solidFill>
                <a:latin typeface="Arial"/>
                <a:ea typeface="Arial"/>
                <a:cs typeface="Arial"/>
              </a:rPr>
              <a:t>TEAM A</a:t>
            </a:r>
          </a:p>
        </p:txBody>
      </p:sp>
      <p:sp>
        <p:nvSpPr>
          <p:cNvPr id="350" name="Google Shape;350;p26">
            <a:extLst>
              <a:ext uri="{FF2B5EF4-FFF2-40B4-BE49-F238E27FC236}">
                <a16:creationId xmlns:a16="http://schemas.microsoft.com/office/drawing/2014/main" id="{9B3BABB8-3394-4B40-B26B-F4EB7107519F}"/>
              </a:ext>
            </a:extLst>
          </p:cNvPr>
          <p:cNvSpPr>
            <a:spLocks noGrp="1"/>
          </p:cNvSpPr>
          <p:nvPr/>
        </p:nvSpPr>
        <p:spPr>
          <a:xfrm>
            <a:off x="4580819" y="1479363"/>
            <a:ext cx="2254199" cy="1198692"/>
          </a:xfrm>
          <a:prstGeom prst="roundRect">
            <a:avLst>
              <a:gd name="adj" fmla="val 16667"/>
            </a:avLst>
          </a:prstGeom>
          <a:noFill/>
          <a:ln w="19050" cmpd="sng">
            <a:solidFill>
              <a:srgbClr val="B4AFAC"/>
            </a:solidFill>
            <a:prstDash val="solid"/>
          </a:ln>
        </p:spPr>
        <p:txBody>
          <a:bodyPr spcFirstLastPara="1" wrap="square" lIns="91425" tIns="45700" rIns="91425" bIns="45700" anchor="t">
            <a:noAutofit/>
          </a:bodyPr>
          <a:lstStyle/>
          <a:p>
            <a:pPr marL="0" indent="0" algn="l">
              <a:lnSpc>
                <a:spcPct val="100000"/>
              </a:lnSpc>
              <a:spcBef>
                <a:spcPts val="0"/>
              </a:spcBef>
              <a:spcAft>
                <a:spcPts val="0"/>
              </a:spcAft>
              <a:buNone/>
            </a:pPr>
            <a:r>
              <a:rPr sz="1200" b="1" i="0" u="none" cap="none">
                <a:solidFill>
                  <a:srgbClr val="A5A5A5"/>
                </a:solidFill>
                <a:latin typeface="Arial"/>
                <a:ea typeface="Arial"/>
                <a:cs typeface="Arial"/>
              </a:rPr>
              <a:t>PROJECT A</a:t>
            </a:r>
          </a:p>
        </p:txBody>
      </p:sp>
      <p:sp>
        <p:nvSpPr>
          <p:cNvPr id="351" name="Google Shape;351;p26">
            <a:extLst>
              <a:ext uri="{FF2B5EF4-FFF2-40B4-BE49-F238E27FC236}">
                <a16:creationId xmlns:a16="http://schemas.microsoft.com/office/drawing/2014/main" id="{0217C5C2-2E24-48C8-BB77-0EF80DF7DA72}"/>
              </a:ext>
            </a:extLst>
          </p:cNvPr>
          <p:cNvSpPr>
            <a:spLocks noGrp="1"/>
          </p:cNvSpPr>
          <p:nvPr/>
        </p:nvSpPr>
        <p:spPr>
          <a:xfrm>
            <a:off x="4575944" y="3258607"/>
            <a:ext cx="2259074" cy="1192795"/>
          </a:xfrm>
          <a:prstGeom prst="roundRect">
            <a:avLst>
              <a:gd name="adj" fmla="val 16667"/>
            </a:avLst>
          </a:prstGeom>
          <a:noFill/>
          <a:ln w="19050" cmpd="sng">
            <a:solidFill>
              <a:srgbClr val="B4AFAC"/>
            </a:solidFill>
            <a:prstDash val="solid"/>
          </a:ln>
        </p:spPr>
        <p:txBody>
          <a:bodyPr spcFirstLastPara="1" wrap="square" lIns="91425" tIns="45700" rIns="91425" bIns="45700" anchor="t">
            <a:noAutofit/>
          </a:bodyPr>
          <a:lstStyle/>
          <a:p>
            <a:pPr marL="0" indent="0" algn="l">
              <a:lnSpc>
                <a:spcPct val="100000"/>
              </a:lnSpc>
              <a:spcBef>
                <a:spcPts val="0"/>
              </a:spcBef>
              <a:spcAft>
                <a:spcPts val="0"/>
              </a:spcAft>
              <a:buNone/>
            </a:pPr>
            <a:r>
              <a:rPr sz="1200" b="1" i="0" u="none" cap="none">
                <a:solidFill>
                  <a:srgbClr val="A5A5A5"/>
                </a:solidFill>
                <a:latin typeface="Arial"/>
                <a:ea typeface="Arial"/>
                <a:cs typeface="Arial"/>
              </a:rPr>
              <a:t>PROJECT B</a:t>
            </a:r>
          </a:p>
        </p:txBody>
      </p:sp>
      <p:sp>
        <p:nvSpPr>
          <p:cNvPr id="352" name="Google Shape;352;p26">
            <a:extLst>
              <a:ext uri="{FF2B5EF4-FFF2-40B4-BE49-F238E27FC236}">
                <a16:creationId xmlns:a16="http://schemas.microsoft.com/office/drawing/2014/main" id="{5DD6FBA7-54CE-492F-A32D-65E4DC9DB390}"/>
              </a:ext>
            </a:extLst>
          </p:cNvPr>
          <p:cNvSpPr>
            <a:spLocks noGrp="1"/>
          </p:cNvSpPr>
          <p:nvPr/>
        </p:nvSpPr>
        <p:spPr>
          <a:xfrm>
            <a:off x="6535390" y="1652549"/>
            <a:ext cx="864096" cy="720079"/>
          </a:xfrm>
          <a:prstGeom prst="roundRect">
            <a:avLst>
              <a:gd name="adj" fmla="val 16667"/>
            </a:avLst>
          </a:prstGeom>
          <a:solidFill>
            <a:schemeClr val="accent4"/>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400" b="0" i="0" u="none" cap="none">
                <a:solidFill>
                  <a:schemeClr val="lt1"/>
                </a:solidFill>
                <a:latin typeface="Arial"/>
                <a:ea typeface="Arial"/>
                <a:cs typeface="Arial"/>
              </a:rPr>
              <a:t>SBOM &amp; HBOM</a:t>
            </a:r>
          </a:p>
        </p:txBody>
      </p:sp>
      <p:sp>
        <p:nvSpPr>
          <p:cNvPr id="353" name="Google Shape;353;p26">
            <a:extLst>
              <a:ext uri="{FF2B5EF4-FFF2-40B4-BE49-F238E27FC236}">
                <a16:creationId xmlns:a16="http://schemas.microsoft.com/office/drawing/2014/main" id="{B4B2DBFE-3382-48D5-BA8B-CE3C70F44CD2}"/>
              </a:ext>
            </a:extLst>
          </p:cNvPr>
          <p:cNvSpPr>
            <a:spLocks noGrp="1"/>
          </p:cNvSpPr>
          <p:nvPr/>
        </p:nvSpPr>
        <p:spPr>
          <a:xfrm>
            <a:off x="4822440" y="4181346"/>
            <a:ext cx="1080120" cy="246221"/>
          </a:xfrm>
          <a:prstGeom prst="rect">
            <a:avLst/>
          </a:prstGeom>
          <a:noFill/>
          <a:ln>
            <a:noFill/>
          </a:ln>
        </p:spPr>
        <p:txBody>
          <a:bodyPr spcFirstLastPara="1" wrap="square" lIns="91425" tIns="45700" rIns="91425" bIns="45700" anchor="t">
            <a:spAutoFit/>
          </a:bodyPr>
          <a:lstStyle/>
          <a:p>
            <a:pPr marL="0" indent="0" algn="ctr">
              <a:lnSpc>
                <a:spcPct val="100000"/>
              </a:lnSpc>
              <a:spcBef>
                <a:spcPts val="0"/>
              </a:spcBef>
              <a:spcAft>
                <a:spcPts val="0"/>
              </a:spcAft>
              <a:buNone/>
            </a:pPr>
            <a:r>
              <a:rPr sz="1000" b="0" i="0" u="none" cap="none">
                <a:solidFill>
                  <a:srgbClr val="ED9181"/>
                </a:solidFill>
                <a:latin typeface="Arial"/>
                <a:ea typeface="Arial"/>
                <a:cs typeface="Arial"/>
              </a:rPr>
              <a:t>TEAM B</a:t>
            </a:r>
          </a:p>
        </p:txBody>
      </p:sp>
      <p:sp>
        <p:nvSpPr>
          <p:cNvPr id="354" name="Google Shape;354;p26">
            <a:extLst>
              <a:ext uri="{FF2B5EF4-FFF2-40B4-BE49-F238E27FC236}">
                <a16:creationId xmlns:a16="http://schemas.microsoft.com/office/drawing/2014/main" id="{6A8E4A7F-44FD-45C6-BBA3-7819529CC2E9}"/>
              </a:ext>
            </a:extLst>
          </p:cNvPr>
          <p:cNvSpPr>
            <a:spLocks noGrp="1"/>
          </p:cNvSpPr>
          <p:nvPr/>
        </p:nvSpPr>
        <p:spPr>
          <a:xfrm>
            <a:off x="6535390" y="3363189"/>
            <a:ext cx="864096" cy="720079"/>
          </a:xfrm>
          <a:prstGeom prst="roundRect">
            <a:avLst>
              <a:gd name="adj" fmla="val 16667"/>
            </a:avLst>
          </a:prstGeom>
          <a:solidFill>
            <a:srgbClr val="ED9181"/>
          </a:solidFill>
          <a:ln>
            <a:noFill/>
          </a:ln>
        </p:spPr>
        <p:txBody>
          <a:bodyPr spcFirstLastPara="1" wrap="square" lIns="91425" tIns="45700" rIns="91425" bIns="45700" anchor="ctr">
            <a:noAutofit/>
          </a:bodyPr>
          <a:lstStyle/>
          <a:p>
            <a:pPr marL="0" indent="0" algn="ctr">
              <a:lnSpc>
                <a:spcPct val="100000"/>
              </a:lnSpc>
              <a:spcBef>
                <a:spcPts val="0"/>
              </a:spcBef>
              <a:spcAft>
                <a:spcPts val="0"/>
              </a:spcAft>
              <a:buNone/>
            </a:pPr>
            <a:r>
              <a:rPr sz="1400" b="0" i="0" u="none" cap="none">
                <a:solidFill>
                  <a:schemeClr val="lt1"/>
                </a:solidFill>
                <a:latin typeface="Arial"/>
                <a:ea typeface="Arial"/>
                <a:cs typeface="Arial"/>
              </a:rPr>
              <a:t>SBOM &amp; HBOM</a:t>
            </a:r>
          </a:p>
        </p:txBody>
      </p:sp>
      <p:sp>
        <p:nvSpPr>
          <p:cNvPr id="355" name="Google Shape;355;p26">
            <a:extLst>
              <a:ext uri="{FF2B5EF4-FFF2-40B4-BE49-F238E27FC236}">
                <a16:creationId xmlns:a16="http://schemas.microsoft.com/office/drawing/2014/main" id="{0468DE60-4270-4FB5-95CD-D5C6BB3C90F9}"/>
              </a:ext>
            </a:extLst>
          </p:cNvPr>
          <p:cNvSpPr>
            <a:spLocks noGrp="1"/>
          </p:cNvSpPr>
          <p:nvPr>
            <p:ph type="body" idx="1"/>
          </p:nvPr>
        </p:nvSpPr>
        <p:spPr>
          <a:xfrm>
            <a:off x="465654" y="1123284"/>
            <a:ext cx="3857487"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sz="1600" dirty="0">
                <a:solidFill>
                  <a:srgbClr val="88B24B"/>
                </a:solidFill>
              </a:rPr>
              <a:t>Different teams can manage their own projects in ARIANNA while sharing visibility where needed.</a:t>
            </a:r>
          </a:p>
          <a:p>
            <a:pPr marL="533400" indent="-247650" algn="l">
              <a:lnSpc>
                <a:spcPct val="100000"/>
              </a:lnSpc>
              <a:spcBef>
                <a:spcPts val="667"/>
              </a:spcBef>
              <a:spcAft>
                <a:spcPts val="0"/>
              </a:spcAft>
              <a:buChar char="o"/>
            </a:pPr>
            <a:r>
              <a:rPr sz="1600" dirty="0"/>
              <a:t>A system-level team can reuse vulnerability decisions already made by component teams.</a:t>
            </a:r>
          </a:p>
          <a:p>
            <a:pPr marL="269875" indent="-269875" algn="l">
              <a:lnSpc>
                <a:spcPct val="100000"/>
              </a:lnSpc>
              <a:spcBef>
                <a:spcPts val="1000"/>
              </a:spcBef>
              <a:spcAft>
                <a:spcPts val="0"/>
              </a:spcAft>
              <a:buChar char="●"/>
            </a:pPr>
            <a:r>
              <a:rPr sz="1600" dirty="0">
                <a:solidFill>
                  <a:schemeClr val="dk2"/>
                </a:solidFill>
              </a:rPr>
              <a:t>That reduces duplicate triage effort and improves consistency across products and organizations.</a:t>
            </a:r>
          </a:p>
        </p:txBody>
      </p:sp>
      <p:sp>
        <p:nvSpPr>
          <p:cNvPr id="356" name="Google Shape;356;p26">
            <a:extLst>
              <a:ext uri="{FF2B5EF4-FFF2-40B4-BE49-F238E27FC236}">
                <a16:creationId xmlns:a16="http://schemas.microsoft.com/office/drawing/2014/main" id="{CCA4F6B0-E544-44CF-B8B4-F75716D8A4A4}"/>
              </a:ext>
            </a:extLst>
          </p:cNvPr>
          <p:cNvSpPr>
            <a:spLocks noGrp="1"/>
          </p:cNvSpPr>
          <p:nvPr/>
        </p:nvSpPr>
        <p:spPr>
          <a:xfrm>
            <a:off x="6629462" y="1156063"/>
            <a:ext cx="864096" cy="609952"/>
          </a:xfrm>
          <a:prstGeom prst="roundRect">
            <a:avLst>
              <a:gd name="adj" fmla="val 16667"/>
            </a:avLst>
          </a:prstGeom>
          <a:solidFill>
            <a:schemeClr val="lt1"/>
          </a:solidFill>
          <a:ln w="19050" cmpd="sng">
            <a:solidFill>
              <a:schemeClr val="accent4"/>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400" b="0" i="0" u="none" cap="none">
                <a:solidFill>
                  <a:schemeClr val="accent4"/>
                </a:solidFill>
                <a:latin typeface="Arial"/>
                <a:ea typeface="Arial"/>
                <a:cs typeface="Arial"/>
              </a:rPr>
              <a:t>VULNs</a:t>
            </a:r>
          </a:p>
          <a:p>
            <a:pPr marL="0" indent="0" algn="ctr">
              <a:lnSpc>
                <a:spcPct val="100000"/>
              </a:lnSpc>
              <a:spcBef>
                <a:spcPts val="0"/>
              </a:spcBef>
              <a:spcAft>
                <a:spcPts val="0"/>
              </a:spcAft>
              <a:buNone/>
            </a:pPr>
            <a:r>
              <a:rPr sz="1400" b="0" i="0" u="none" cap="none">
                <a:solidFill>
                  <a:schemeClr val="accent4"/>
                </a:solidFill>
                <a:latin typeface="Arial"/>
                <a:ea typeface="Arial"/>
                <a:cs typeface="Arial"/>
              </a:rPr>
              <a:t>STATUS</a:t>
            </a:r>
          </a:p>
        </p:txBody>
      </p:sp>
      <p:sp>
        <p:nvSpPr>
          <p:cNvPr id="357" name="Google Shape;357;p26">
            <a:extLst>
              <a:ext uri="{FF2B5EF4-FFF2-40B4-BE49-F238E27FC236}">
                <a16:creationId xmlns:a16="http://schemas.microsoft.com/office/drawing/2014/main" id="{E727A53A-022F-48EC-8A22-29998E8CC1D2}"/>
              </a:ext>
            </a:extLst>
          </p:cNvPr>
          <p:cNvSpPr>
            <a:spLocks noGrp="1"/>
          </p:cNvSpPr>
          <p:nvPr/>
        </p:nvSpPr>
        <p:spPr>
          <a:xfrm>
            <a:off x="6619356" y="2857500"/>
            <a:ext cx="864096" cy="609952"/>
          </a:xfrm>
          <a:prstGeom prst="roundRect">
            <a:avLst>
              <a:gd name="adj" fmla="val 16667"/>
            </a:avLst>
          </a:prstGeom>
          <a:solidFill>
            <a:schemeClr val="lt1"/>
          </a:solidFill>
          <a:ln w="19050" cmpd="sng">
            <a:solidFill>
              <a:srgbClr val="ED9181"/>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400" b="0" i="0" u="none" cap="none">
                <a:solidFill>
                  <a:srgbClr val="ED9181"/>
                </a:solidFill>
                <a:latin typeface="Arial"/>
                <a:ea typeface="Arial"/>
                <a:cs typeface="Arial"/>
              </a:rPr>
              <a:t>VULNs</a:t>
            </a:r>
          </a:p>
          <a:p>
            <a:pPr marL="0" indent="0" algn="ctr">
              <a:lnSpc>
                <a:spcPct val="100000"/>
              </a:lnSpc>
              <a:spcBef>
                <a:spcPts val="0"/>
              </a:spcBef>
              <a:spcAft>
                <a:spcPts val="0"/>
              </a:spcAft>
              <a:buNone/>
            </a:pPr>
            <a:r>
              <a:rPr sz="1400" b="0" i="0" u="none" cap="none">
                <a:solidFill>
                  <a:srgbClr val="ED9181"/>
                </a:solidFill>
                <a:latin typeface="Arial"/>
                <a:ea typeface="Arial"/>
                <a:cs typeface="Arial"/>
              </a:rPr>
              <a:t>STATUS</a:t>
            </a:r>
          </a:p>
        </p:txBody>
      </p:sp>
    </p:spTree>
    <p:extLst>
      <p:ext uri="{BB962C8B-B14F-4D97-AF65-F5344CB8AC3E}">
        <p14:creationId xmlns:p14="http://schemas.microsoft.com/office/powerpoint/2010/main" val="1278517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Google Shape;405;p30">
            <a:extLst>
              <a:ext uri="{FF2B5EF4-FFF2-40B4-BE49-F238E27FC236}">
                <a16:creationId xmlns:a16="http://schemas.microsoft.com/office/drawing/2014/main" id="{B9575238-D7C4-4189-BB61-E2AFCB4AF514}"/>
              </a:ext>
            </a:extLst>
          </p:cNvPr>
          <p:cNvSpPr>
            <a:spLocks noGrp="1"/>
          </p:cNvSpPr>
          <p:nvPr>
            <p:ph type="body" idx="1"/>
          </p:nvPr>
        </p:nvSpPr>
        <p:spPr>
          <a:xfrm>
            <a:off x="465654" y="1123284"/>
            <a:ext cx="6558562" cy="3719172"/>
          </a:xfrm>
          <a:prstGeom prst="rect">
            <a:avLst/>
          </a:prstGeom>
          <a:noFill/>
          <a:ln>
            <a:noFill/>
          </a:ln>
        </p:spPr>
        <p:txBody>
          <a:bodyPr spcFirstLastPara="1" wrap="square" lIns="90000" tIns="45700" rIns="91425" bIns="45700" anchor="t">
            <a:normAutofit/>
          </a:bodyPr>
          <a:lstStyle/>
          <a:p>
            <a:pPr marL="269875" indent="-269875" algn="l">
              <a:lnSpc>
                <a:spcPct val="100000"/>
              </a:lnSpc>
              <a:spcBef>
                <a:spcPts val="0"/>
              </a:spcBef>
              <a:spcAft>
                <a:spcPts val="0"/>
              </a:spcAft>
              <a:buChar char="●"/>
            </a:pPr>
            <a:r>
              <a:rPr sz="1800" dirty="0"/>
              <a:t>One connected device with 3 processing units:</a:t>
            </a:r>
          </a:p>
          <a:p>
            <a:pPr marL="533400" indent="-247650" algn="l">
              <a:lnSpc>
                <a:spcPct val="100000"/>
              </a:lnSpc>
              <a:spcBef>
                <a:spcPts val="667"/>
              </a:spcBef>
              <a:spcAft>
                <a:spcPts val="0"/>
              </a:spcAft>
              <a:buChar char="o"/>
            </a:pPr>
            <a:r>
              <a:rPr sz="1400" dirty="0"/>
              <a:t>PU1: i.MX93 MPU with </a:t>
            </a:r>
            <a:r>
              <a:rPr sz="1400" dirty="0" err="1"/>
              <a:t>Yocto</a:t>
            </a:r>
            <a:r>
              <a:rPr sz="1400" dirty="0"/>
              <a:t> + JavaScript + Python applications</a:t>
            </a:r>
          </a:p>
          <a:p>
            <a:pPr marL="533400" indent="-247650" algn="l">
              <a:lnSpc>
                <a:spcPct val="100000"/>
              </a:lnSpc>
              <a:spcBef>
                <a:spcPts val="667"/>
              </a:spcBef>
              <a:spcAft>
                <a:spcPts val="0"/>
              </a:spcAft>
              <a:buChar char="o"/>
            </a:pPr>
            <a:r>
              <a:rPr sz="1400" dirty="0"/>
              <a:t>PU2: STM32F4 MCU with bootloader + application firmware</a:t>
            </a:r>
          </a:p>
          <a:p>
            <a:pPr marL="533400" indent="-247650" algn="l">
              <a:lnSpc>
                <a:spcPct val="100000"/>
              </a:lnSpc>
              <a:spcBef>
                <a:spcPts val="667"/>
              </a:spcBef>
              <a:spcAft>
                <a:spcPts val="0"/>
              </a:spcAft>
              <a:buChar char="o"/>
            </a:pPr>
            <a:r>
              <a:rPr sz="1400" dirty="0"/>
              <a:t>PU3: ESP32 MCU with application firmware</a:t>
            </a:r>
          </a:p>
          <a:p>
            <a:pPr marL="269875" indent="-269875" algn="l">
              <a:lnSpc>
                <a:spcPct val="100000"/>
              </a:lnSpc>
              <a:spcBef>
                <a:spcPts val="1000"/>
              </a:spcBef>
              <a:spcAft>
                <a:spcPts val="0"/>
              </a:spcAft>
              <a:buChar char="●"/>
            </a:pPr>
            <a:r>
              <a:rPr sz="1800" dirty="0"/>
              <a:t>Two model versions: initial model and an updated ESP32 firmware version</a:t>
            </a:r>
          </a:p>
          <a:p>
            <a:pPr marL="533400" indent="-247650" algn="l">
              <a:lnSpc>
                <a:spcPct val="100000"/>
              </a:lnSpc>
              <a:spcBef>
                <a:spcPts val="667"/>
              </a:spcBef>
              <a:spcAft>
                <a:spcPts val="0"/>
              </a:spcAft>
              <a:buChar char="o"/>
            </a:pPr>
            <a:r>
              <a:rPr sz="1400" dirty="0"/>
              <a:t>We will show:</a:t>
            </a:r>
          </a:p>
          <a:p>
            <a:pPr marL="533400" indent="-247650" algn="l">
              <a:lnSpc>
                <a:spcPct val="100000"/>
              </a:lnSpc>
              <a:spcBef>
                <a:spcPts val="667"/>
              </a:spcBef>
              <a:spcAft>
                <a:spcPts val="0"/>
              </a:spcAft>
              <a:buChar char="o"/>
            </a:pPr>
            <a:r>
              <a:rPr sz="1400" dirty="0"/>
              <a:t>The delta between model versions</a:t>
            </a:r>
          </a:p>
          <a:p>
            <a:pPr marL="269875" indent="-269875" algn="l">
              <a:lnSpc>
                <a:spcPct val="100000"/>
              </a:lnSpc>
              <a:spcBef>
                <a:spcPts val="1000"/>
              </a:spcBef>
              <a:spcAft>
                <a:spcPts val="0"/>
              </a:spcAft>
              <a:buChar char="●"/>
            </a:pPr>
            <a:r>
              <a:rPr sz="1800" dirty="0"/>
              <a:t>New and automatically closed vulnerabilities</a:t>
            </a:r>
          </a:p>
          <a:p>
            <a:pPr marL="269875" indent="-269875" algn="l">
              <a:lnSpc>
                <a:spcPct val="100000"/>
              </a:lnSpc>
              <a:spcBef>
                <a:spcPts val="1000"/>
              </a:spcBef>
              <a:spcAft>
                <a:spcPts val="0"/>
              </a:spcAft>
              <a:buChar char="●"/>
            </a:pPr>
            <a:r>
              <a:rPr sz="1800" dirty="0"/>
              <a:t>The high-priority vulnerability view</a:t>
            </a:r>
          </a:p>
          <a:p>
            <a:pPr marL="533400" indent="-247650" algn="l">
              <a:lnSpc>
                <a:spcPct val="100000"/>
              </a:lnSpc>
              <a:spcBef>
                <a:spcPts val="667"/>
              </a:spcBef>
              <a:spcAft>
                <a:spcPts val="0"/>
              </a:spcAft>
              <a:buChar char="o"/>
            </a:pPr>
            <a:r>
              <a:rPr sz="1600" dirty="0"/>
              <a:t>The exported final report</a:t>
            </a:r>
          </a:p>
        </p:txBody>
      </p:sp>
      <p:sp>
        <p:nvSpPr>
          <p:cNvPr id="406" name="Google Shape;406;p30">
            <a:extLst>
              <a:ext uri="{FF2B5EF4-FFF2-40B4-BE49-F238E27FC236}">
                <a16:creationId xmlns:a16="http://schemas.microsoft.com/office/drawing/2014/main" id="{503027C0-4340-420A-B70C-BB1E6847CB52}"/>
              </a:ext>
            </a:extLst>
          </p:cNvPr>
          <p:cNvSpPr>
            <a:spLocks noGrp="1"/>
          </p:cNvSpPr>
          <p:nvPr>
            <p:ph type="title"/>
          </p:nvPr>
        </p:nvSpPr>
        <p:spPr>
          <a:xfrm>
            <a:off x="287156" y="131946"/>
            <a:ext cx="9559088" cy="585707"/>
          </a:xfrm>
          <a:prstGeom prst="rect">
            <a:avLst/>
          </a:prstGeom>
          <a:noFill/>
          <a:ln>
            <a:noFill/>
          </a:ln>
        </p:spPr>
        <p:txBody>
          <a:bodyPr spcFirstLastPara="1" wrap="square" lIns="91425" tIns="45700" rIns="91425" bIns="45700" anchor="ctr">
            <a:noAutofit/>
          </a:bodyPr>
          <a:lstStyle/>
          <a:p>
            <a:pPr marL="0" indent="0" algn="l">
              <a:lnSpc>
                <a:spcPct val="90000"/>
              </a:lnSpc>
              <a:spcBef>
                <a:spcPts val="0"/>
              </a:spcBef>
              <a:spcAft>
                <a:spcPts val="0"/>
              </a:spcAft>
              <a:buNone/>
            </a:pPr>
            <a:r>
              <a:t>What the demo will show</a:t>
            </a:r>
          </a:p>
        </p:txBody>
      </p:sp>
      <p:sp>
        <p:nvSpPr>
          <p:cNvPr id="407" name="Google Shape;407;p30">
            <a:extLst>
              <a:ext uri="{FF2B5EF4-FFF2-40B4-BE49-F238E27FC236}">
                <a16:creationId xmlns:a16="http://schemas.microsoft.com/office/drawing/2014/main" id="{2D5CF676-F808-4229-9B2A-E8334CC9CCEE}"/>
              </a:ext>
            </a:extLst>
          </p:cNvPr>
          <p:cNvSpPr>
            <a:spLocks noGrp="1"/>
          </p:cNvSpPr>
          <p:nvPr>
            <p:ph type="sldNum" idx="12"/>
          </p:nvPr>
        </p:nvSpPr>
        <p:spPr>
          <a:xfrm>
            <a:off x="9417602" y="5321837"/>
            <a:ext cx="656167" cy="304271"/>
          </a:xfrm>
          <a:prstGeom prst="rect">
            <a:avLst/>
          </a:prstGeom>
          <a:noFill/>
          <a:ln>
            <a:noFill/>
          </a:ln>
        </p:spPr>
        <p:txBody>
          <a:bodyPr spcFirstLastPara="1" wrap="square" lIns="91425" tIns="45700" rIns="91425" bIns="45700" anchor="ctr">
            <a:noAutofit/>
          </a:bodyPr>
          <a:lstStyle/>
          <a:p>
            <a:pPr marL="0" indent="0" algn="r">
              <a:lnSpc>
                <a:spcPct val="100000"/>
              </a:lnSpc>
              <a:spcBef>
                <a:spcPts val="0"/>
              </a:spcBef>
              <a:spcAft>
                <a:spcPts val="0"/>
              </a:spcAft>
              <a:buNone/>
            </a:pPr>
            <a:fld id="{00000000-1234-1234-1234-123412341234}" type="slidenum">
              <a:rPr/>
              <a:t>17</a:t>
            </a:fld>
            <a:endParaRPr/>
          </a:p>
        </p:txBody>
      </p:sp>
      <p:pic>
        <p:nvPicPr>
          <p:cNvPr id="455" name="Google Shape;408;p30"/>
          <p:cNvPicPr>
            <a:picLocks noChangeAspect="1"/>
          </p:cNvPicPr>
          <p:nvPr/>
        </p:nvPicPr>
        <p:blipFill rotWithShape="1">
          <a:blip r:embed="rId3">
            <a:alphaModFix/>
          </a:blip>
          <a:srcRect/>
          <a:stretch/>
        </p:blipFill>
        <p:spPr>
          <a:xfrm>
            <a:off x="7168232" y="3630103"/>
            <a:ext cx="2664296" cy="1534635"/>
          </a:xfrm>
          <a:prstGeom prst="rect">
            <a:avLst/>
          </a:prstGeom>
          <a:ln>
            <a:noFill/>
          </a:ln>
        </p:spPr>
      </p:pic>
      <p:sp>
        <p:nvSpPr>
          <p:cNvPr id="409" name="Google Shape;409;p30">
            <a:extLst>
              <a:ext uri="{FF2B5EF4-FFF2-40B4-BE49-F238E27FC236}">
                <a16:creationId xmlns:a16="http://schemas.microsoft.com/office/drawing/2014/main" id="{D70B2585-E59B-48DC-8862-116EB3689C13}"/>
              </a:ext>
            </a:extLst>
          </p:cNvPr>
          <p:cNvSpPr>
            <a:spLocks noGrp="1"/>
          </p:cNvSpPr>
          <p:nvPr/>
        </p:nvSpPr>
        <p:spPr>
          <a:xfrm>
            <a:off x="7315433" y="1080071"/>
            <a:ext cx="1289774" cy="348514"/>
          </a:xfrm>
          <a:prstGeom prst="roundRect">
            <a:avLst>
              <a:gd name="adj" fmla="val 50000"/>
            </a:avLst>
          </a:prstGeom>
          <a:solidFill>
            <a:schemeClr val="accent2"/>
          </a:solidFill>
          <a:ln w="22225" cmpd="sng">
            <a:solidFill>
              <a:schemeClr val="accent2"/>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000" b="0" i="0" u="none" cap="none">
                <a:solidFill>
                  <a:schemeClr val="lt1"/>
                </a:solidFill>
                <a:latin typeface="Arial"/>
                <a:ea typeface="Arial"/>
                <a:cs typeface="Arial"/>
              </a:rPr>
              <a:t>PU3|ESP32</a:t>
            </a:r>
          </a:p>
        </p:txBody>
      </p:sp>
      <p:cxnSp>
        <p:nvCxnSpPr>
          <p:cNvPr id="457" name="Google Shape;410;p30"/>
          <p:cNvCxnSpPr>
            <a:stCxn id="411" idx="2"/>
          </p:cNvCxnSpPr>
          <p:nvPr/>
        </p:nvCxnSpPr>
        <p:spPr>
          <a:xfrm>
            <a:off x="8400929" y="2086996"/>
            <a:ext cx="0" cy="1854300"/>
          </a:xfrm>
          <a:prstGeom prst="straightConnector1">
            <a:avLst/>
          </a:prstGeom>
          <a:ln w="19050" cap="flat">
            <a:solidFill>
              <a:schemeClr val="accent4"/>
            </a:solidFill>
            <a:prstDash val="solid"/>
            <a:miter/>
            <a:headEnd type="none" w="sm" len="sm"/>
            <a:tailEnd type="oval" w="med" len="med"/>
          </a:ln>
        </p:spPr>
      </p:cxnSp>
      <p:cxnSp>
        <p:nvCxnSpPr>
          <p:cNvPr id="458" name="Google Shape;412;p30"/>
          <p:cNvCxnSpPr>
            <a:stCxn id="413" idx="2"/>
          </p:cNvCxnSpPr>
          <p:nvPr/>
        </p:nvCxnSpPr>
        <p:spPr>
          <a:xfrm>
            <a:off x="8971666" y="3456339"/>
            <a:ext cx="0" cy="376800"/>
          </a:xfrm>
          <a:prstGeom prst="straightConnector1">
            <a:avLst/>
          </a:prstGeom>
          <a:ln w="19050" cap="flat">
            <a:solidFill>
              <a:srgbClr val="FD9600"/>
            </a:solidFill>
            <a:prstDash val="solid"/>
            <a:miter/>
            <a:headEnd type="none" w="sm" len="sm"/>
            <a:tailEnd type="oval" w="med" len="med"/>
          </a:ln>
        </p:spPr>
      </p:cxnSp>
      <p:cxnSp>
        <p:nvCxnSpPr>
          <p:cNvPr id="459" name="Google Shape;414;p30"/>
          <p:cNvCxnSpPr>
            <a:stCxn id="409" idx="2"/>
          </p:cNvCxnSpPr>
          <p:nvPr/>
        </p:nvCxnSpPr>
        <p:spPr>
          <a:xfrm>
            <a:off x="7960320" y="1428585"/>
            <a:ext cx="0" cy="2526000"/>
          </a:xfrm>
          <a:prstGeom prst="straightConnector1">
            <a:avLst/>
          </a:prstGeom>
          <a:ln w="19050" cap="flat">
            <a:solidFill>
              <a:schemeClr val="accent2"/>
            </a:solidFill>
            <a:prstDash val="solid"/>
            <a:miter/>
            <a:headEnd type="none" w="sm" len="sm"/>
            <a:tailEnd type="oval" w="med" len="med"/>
          </a:ln>
        </p:spPr>
      </p:cxnSp>
      <p:sp>
        <p:nvSpPr>
          <p:cNvPr id="411" name="Google Shape;411;p30">
            <a:extLst>
              <a:ext uri="{FF2B5EF4-FFF2-40B4-BE49-F238E27FC236}">
                <a16:creationId xmlns:a16="http://schemas.microsoft.com/office/drawing/2014/main" id="{33C04E56-6492-4425-A60E-88F4AED0BB75}"/>
              </a:ext>
            </a:extLst>
          </p:cNvPr>
          <p:cNvSpPr>
            <a:spLocks noGrp="1"/>
          </p:cNvSpPr>
          <p:nvPr/>
        </p:nvSpPr>
        <p:spPr>
          <a:xfrm>
            <a:off x="7744296" y="1738482"/>
            <a:ext cx="1313266" cy="348514"/>
          </a:xfrm>
          <a:prstGeom prst="roundRect">
            <a:avLst>
              <a:gd name="adj" fmla="val 50000"/>
            </a:avLst>
          </a:prstGeom>
          <a:solidFill>
            <a:schemeClr val="accent4"/>
          </a:solidFill>
          <a:ln w="22225" cmpd="sng">
            <a:solidFill>
              <a:schemeClr val="accent4"/>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000" b="0" i="0" u="none" cap="none">
                <a:solidFill>
                  <a:schemeClr val="lt1"/>
                </a:solidFill>
                <a:latin typeface="Arial"/>
                <a:ea typeface="Arial"/>
                <a:cs typeface="Arial"/>
              </a:rPr>
              <a:t>PU1 | i.MX 93</a:t>
            </a:r>
          </a:p>
        </p:txBody>
      </p:sp>
      <p:sp>
        <p:nvSpPr>
          <p:cNvPr id="413" name="Google Shape;413;p30">
            <a:extLst>
              <a:ext uri="{FF2B5EF4-FFF2-40B4-BE49-F238E27FC236}">
                <a16:creationId xmlns:a16="http://schemas.microsoft.com/office/drawing/2014/main" id="{AAF85AE2-C526-4226-9F9E-171A6D6F313A}"/>
              </a:ext>
            </a:extLst>
          </p:cNvPr>
          <p:cNvSpPr>
            <a:spLocks noGrp="1"/>
          </p:cNvSpPr>
          <p:nvPr/>
        </p:nvSpPr>
        <p:spPr>
          <a:xfrm>
            <a:off x="8327298" y="3107825"/>
            <a:ext cx="1288736" cy="348514"/>
          </a:xfrm>
          <a:prstGeom prst="roundRect">
            <a:avLst>
              <a:gd name="adj" fmla="val 50000"/>
            </a:avLst>
          </a:prstGeom>
          <a:solidFill>
            <a:srgbClr val="FD9600"/>
          </a:solidFill>
          <a:ln w="22225" cmpd="sng">
            <a:solidFill>
              <a:srgbClr val="FD9600"/>
            </a:solidFill>
            <a:prstDash val="solid"/>
          </a:ln>
        </p:spPr>
        <p:txBody>
          <a:bodyPr spcFirstLastPara="1" wrap="square" lIns="91425" tIns="45700" rIns="91425" bIns="45700" anchor="ctr">
            <a:noAutofit/>
          </a:bodyPr>
          <a:lstStyle/>
          <a:p>
            <a:pPr marL="0" indent="0" algn="ctr">
              <a:lnSpc>
                <a:spcPct val="100000"/>
              </a:lnSpc>
              <a:spcBef>
                <a:spcPts val="0"/>
              </a:spcBef>
              <a:spcAft>
                <a:spcPts val="0"/>
              </a:spcAft>
              <a:buNone/>
            </a:pPr>
            <a:r>
              <a:rPr sz="1000" b="0" i="0" u="none" cap="none">
                <a:solidFill>
                  <a:schemeClr val="lt1"/>
                </a:solidFill>
                <a:latin typeface="Arial"/>
                <a:ea typeface="Arial"/>
                <a:cs typeface="Arial"/>
              </a:rPr>
              <a:t>PU2 | STM32F4</a:t>
            </a:r>
          </a:p>
        </p:txBody>
      </p:sp>
    </p:spTree>
    <p:extLst>
      <p:ext uri="{BB962C8B-B14F-4D97-AF65-F5344CB8AC3E}">
        <p14:creationId xmlns:p14="http://schemas.microsoft.com/office/powerpoint/2010/main" val="2038221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Google Shape;419;p31">
            <a:extLst>
              <a:ext uri="{FF2B5EF4-FFF2-40B4-BE49-F238E27FC236}">
                <a16:creationId xmlns:a16="http://schemas.microsoft.com/office/drawing/2014/main" id="{DE1A30B4-5A98-4BA4-96D6-61DF1F5C1F33}"/>
              </a:ext>
            </a:extLst>
          </p:cNvPr>
          <p:cNvSpPr>
            <a:spLocks noGrp="1"/>
          </p:cNvSpPr>
          <p:nvPr>
            <p:ph type="ctrTitle"/>
          </p:nvPr>
        </p:nvSpPr>
        <p:spPr>
          <a:xfrm>
            <a:off x="111448" y="2641476"/>
            <a:ext cx="9931400" cy="464820"/>
          </a:xfrm>
          <a:prstGeom prst="rect">
            <a:avLst/>
          </a:prstGeom>
          <a:noFill/>
          <a:ln>
            <a:noFill/>
          </a:ln>
        </p:spPr>
        <p:txBody>
          <a:bodyPr spcFirstLastPara="1" wrap="square" lIns="91425" tIns="45700" rIns="91425" bIns="45700" anchor="ctr">
            <a:noAutofit/>
          </a:bodyPr>
          <a:lstStyle/>
          <a:p>
            <a:pPr marL="0" indent="0" algn="ctr">
              <a:lnSpc>
                <a:spcPct val="90000"/>
              </a:lnSpc>
              <a:spcBef>
                <a:spcPts val="0"/>
              </a:spcBef>
              <a:spcAft>
                <a:spcPts val="0"/>
              </a:spcAft>
              <a:buNone/>
            </a:pPr>
            <a:r>
              <a:t>Thank you</a:t>
            </a:r>
          </a:p>
        </p:txBody>
      </p:sp>
      <p:pic>
        <p:nvPicPr>
          <p:cNvPr id="422" name="Google Shape;420;p31"/>
          <p:cNvPicPr>
            <a:picLocks noChangeAspect="1"/>
          </p:cNvPicPr>
          <p:nvPr/>
        </p:nvPicPr>
        <p:blipFill rotWithShape="1">
          <a:blip r:embed="rId3">
            <a:alphaModFix/>
          </a:blip>
          <a:srcRect/>
          <a:stretch/>
        </p:blipFill>
        <p:spPr>
          <a:xfrm>
            <a:off x="183456" y="4873724"/>
            <a:ext cx="2133144" cy="682104"/>
          </a:xfrm>
          <a:prstGeom prst="rect">
            <a:avLst/>
          </a:prstGeom>
          <a:ln>
            <a:noFill/>
          </a:ln>
        </p:spPr>
      </p:pic>
    </p:spTree>
    <p:extLst>
      <p:ext uri="{BB962C8B-B14F-4D97-AF65-F5344CB8AC3E}">
        <p14:creationId xmlns:p14="http://schemas.microsoft.com/office/powerpoint/2010/main" val="2028267475"/>
      </p:ext>
    </p:extLst>
  </p:cSld>
  <p:clrMapOvr>
    <a:masterClrMapping/>
  </p:clrMapOvr>
</p:sld>
</file>

<file path=ppt/theme/theme1.xml><?xml version="1.0" encoding="utf-8"?>
<a:theme xmlns:a="http://schemas.openxmlformats.org/drawingml/2006/main" name="Tema4">
  <a:themeElements>
    <a:clrScheme name="Security Pattern Color">
      <a:dk1>
        <a:srgbClr val="000000"/>
      </a:dk1>
      <a:lt1>
        <a:srgbClr val="FFFFFF"/>
      </a:lt1>
      <a:dk2>
        <a:srgbClr val="41BAB6"/>
      </a:dk2>
      <a:lt2>
        <a:srgbClr val="C5C6C7"/>
      </a:lt2>
      <a:accent1>
        <a:srgbClr val="F7F0EC"/>
      </a:accent1>
      <a:accent2>
        <a:srgbClr val="E2492F"/>
      </a:accent2>
      <a:accent3>
        <a:srgbClr val="41BAB6"/>
      </a:accent3>
      <a:accent4>
        <a:srgbClr val="88B04B"/>
      </a:accent4>
      <a:accent5>
        <a:srgbClr val="F1C300"/>
      </a:accent5>
      <a:accent6>
        <a:srgbClr val="5E5E5E"/>
      </a:accent6>
      <a:hlink>
        <a:srgbClr val="41BAB6"/>
      </a:hlink>
      <a:folHlink>
        <a:srgbClr val="41BAB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ecurity Pattern 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4">
  <a:themeElements>
    <a:clrScheme name="Security Pattern Color">
      <a:dk1>
        <a:srgbClr val="000000"/>
      </a:dk1>
      <a:lt1>
        <a:srgbClr val="FFFFFF"/>
      </a:lt1>
      <a:dk2>
        <a:srgbClr val="41BAB6"/>
      </a:dk2>
      <a:lt2>
        <a:srgbClr val="C5C6C7"/>
      </a:lt2>
      <a:accent1>
        <a:srgbClr val="F7F0EC"/>
      </a:accent1>
      <a:accent2>
        <a:srgbClr val="E2492F"/>
      </a:accent2>
      <a:accent3>
        <a:srgbClr val="41BAB6"/>
      </a:accent3>
      <a:accent4>
        <a:srgbClr val="88B04B"/>
      </a:accent4>
      <a:accent5>
        <a:srgbClr val="F1C300"/>
      </a:accent5>
      <a:accent6>
        <a:srgbClr val="5E5E5E"/>
      </a:accent6>
      <a:hlink>
        <a:srgbClr val="41BAB6"/>
      </a:hlink>
      <a:folHlink>
        <a:srgbClr val="41BAB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ecurity Pattern 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1647</Words>
  <Application>Microsoft Macintosh PowerPoint</Application>
  <DocSecurity>0</DocSecurity>
  <PresentationFormat>Aangepast</PresentationFormat>
  <Paragraphs>166</Paragraphs>
  <Slides>18</Slides>
  <Notes>18</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18</vt:i4>
      </vt:variant>
    </vt:vector>
  </HeadingPairs>
  <TitlesOfParts>
    <vt:vector size="21" baseType="lpstr">
      <vt:lpstr>Arial</vt:lpstr>
      <vt:lpstr>Montserrat</vt:lpstr>
      <vt:lpstr>Tema4</vt:lpstr>
      <vt:lpstr>Get grip on product security with ARIANNA</vt:lpstr>
      <vt:lpstr>Why Manufacturers Struggle with CRA</vt:lpstr>
      <vt:lpstr>Why ARIANNA exists</vt:lpstr>
      <vt:lpstr>From 2,775 Vulnerabilities to 10 Actions</vt:lpstr>
      <vt:lpstr>How ARIANNA operationalizes product security</vt:lpstr>
      <vt:lpstr>Smart devices are not just software</vt:lpstr>
      <vt:lpstr>Device Model creation: HBOM</vt:lpstr>
      <vt:lpstr>Device Model creation: SBOM</vt:lpstr>
      <vt:lpstr>Device Model lifecycle &amp; VMP</vt:lpstr>
      <vt:lpstr>Continuous Vulnerability Monitoring</vt:lpstr>
      <vt:lpstr>Severity alone is not enough</vt:lpstr>
      <vt:lpstr>Operational triage at scale</vt:lpstr>
      <vt:lpstr>Impact in practice</vt:lpstr>
      <vt:lpstr>ARIANNA KEV catalogue</vt:lpstr>
      <vt:lpstr>Reports for customers &amp; regulatory bodies</vt:lpstr>
      <vt:lpstr>Collaboration among teams in ARIANNA</vt:lpstr>
      <vt:lpstr>What the demo will show</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Jan Jager</cp:lastModifiedBy>
  <cp:revision>1</cp:revision>
  <dcterms:created xsi:type="dcterms:W3CDTF">2026-06-23T14:12:42Z</dcterms:created>
  <dcterms:modified xsi:type="dcterms:W3CDTF">2026-06-23T16:08:16Z</dcterms:modified>
</cp:coreProperties>
</file>