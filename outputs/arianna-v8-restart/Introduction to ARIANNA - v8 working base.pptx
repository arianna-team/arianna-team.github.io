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7" r:id="rId4"/>
    <p:sldId id="288" r:id="rId5"/>
    <p:sldId id="28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0160000" cy="5715000"/>
  <p:notesSz cx="6858000" cy="9144000"/>
  <p:embeddedFontLst>
    <p:embeddedFont>
      <p:font typeface="Montserrat" pitchFamily="2" charset="77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4">
          <p15:clr>
            <a:srgbClr val="A4A3A4"/>
          </p15:clr>
        </p15:guide>
        <p15:guide id="2" pos="306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Yxl4DCAoUdeZFuWPPh82+uXHa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4"/>
  </p:normalViewPr>
  <p:slideViewPr>
    <p:cSldViewPr snapToGrid="0">
      <p:cViewPr varScale="1">
        <p:scale>
          <a:sx n="111" d="100"/>
          <a:sy n="111" d="100"/>
        </p:scale>
        <p:origin x="208" y="672"/>
      </p:cViewPr>
      <p:guideLst>
        <p:guide orient="horz" pos="2934"/>
        <p:guide pos="30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68580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F25631D-B175-1ED7-648F-4EAACC7D3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6573526C-D3CF-B56F-E715-CA2FB6276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F3B226DF-947B-7D68-A007-CC25C3B14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1679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B72DCF98-F399-6FC3-E842-24C15EBC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342C6819-DC40-B110-0288-9A38E3E1D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BCA531A-9E0A-D6A3-A949-E19B1DC075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172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2EE3C0B5-7753-0472-5BE7-C8862DC53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DA6919BF-CF62-0EAC-88CC-A2D94433E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2D1DA508-392D-5B2F-F689-2828E2D37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89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traditional IT systems we think mainly about software vulnerabilities.</a:t>
            </a:r>
            <a:br>
              <a:rPr lang="en-US"/>
            </a:br>
            <a:r>
              <a:rPr lang="en-US" sz="11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smart connected devices are different. They include multiple hardware components, secure elements, and third-party modules.</a:t>
            </a:r>
            <a:br>
              <a:rPr lang="en-US"/>
            </a:br>
            <a:r>
              <a:rPr lang="en-US" sz="11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vulnerabilities exist in hardware, and many critical assets are managed directly by hardware components.</a:t>
            </a:r>
            <a:br>
              <a:rPr lang="en-US"/>
            </a:br>
            <a:r>
              <a:rPr lang="en-US" sz="11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without a model that includes hardware, vulnerability management for devices is incomplete.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Today most vulnerability management processes are based mainly on severity scores like CVSS.</a:t>
            </a:r>
            <a:br>
              <a:rPr lang="en-US"/>
            </a:br>
            <a:r>
              <a:rPr lang="en-US" sz="11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CVSS is absolutely useful — it gives us a standard way to measure how dangerous a vulnerability </a:t>
            </a:r>
            <a:r>
              <a:rPr lang="en-US" sz="1100" b="0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</a:t>
            </a:r>
            <a:r>
              <a:rPr lang="en-US" sz="11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be.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The problem is that severity does not tell us how dangerous a vulnerability is for </a:t>
            </a:r>
            <a:r>
              <a:rPr lang="en-US" i="1"/>
              <a:t>our specific device</a:t>
            </a:r>
            <a:r>
              <a:rPr lang="en-US"/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We are measuring vulnerabilities correctly, but we are prioritizing them incorrectly.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/>
              <a:t>Smart connected devices have different risks than IT systems</a:t>
            </a:r>
            <a:endParaRPr/>
          </a:p>
          <a:p>
            <a:pPr marL="549275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/>
              <a:t>Most scoring systems were created for IT environments.</a:t>
            </a:r>
            <a:br>
              <a:rPr lang="en-US"/>
            </a:br>
            <a:r>
              <a:rPr lang="en-US"/>
              <a:t>But smart connected devices have firmware, hardware dependencies, and very different attack surfaces.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41" name="Google Shape;24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Left side:</a:t>
            </a:r>
            <a:endParaRPr/>
          </a:p>
          <a:p>
            <a:pPr marL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200 vulnerabilities</a:t>
            </a:r>
            <a:br>
              <a:rPr lang="en-US"/>
            </a:br>
            <a:r>
              <a:rPr lang="en-US"/>
              <a:t>panic</a:t>
            </a:r>
            <a:br>
              <a:rPr lang="en-US"/>
            </a:br>
            <a:r>
              <a:rPr lang="en-US"/>
              <a:t>random fixing</a:t>
            </a:r>
            <a:br>
              <a:rPr lang="en-US"/>
            </a:br>
            <a:r>
              <a:rPr lang="en-US"/>
              <a:t>delayed release</a:t>
            </a:r>
            <a:endParaRPr/>
          </a:p>
          <a:p>
            <a:pPr marL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Right side:</a:t>
            </a:r>
            <a:endParaRPr/>
          </a:p>
          <a:p>
            <a:pPr marL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Context analysis</a:t>
            </a:r>
            <a:br>
              <a:rPr lang="en-US"/>
            </a:br>
            <a:r>
              <a:rPr lang="en-US"/>
              <a:t>real risk identified</a:t>
            </a:r>
            <a:br>
              <a:rPr lang="en-US"/>
            </a:br>
            <a:r>
              <a:rPr lang="en-US"/>
              <a:t>focused remediation</a:t>
            </a:r>
            <a:br>
              <a:rPr lang="en-US"/>
            </a:br>
            <a:r>
              <a:rPr lang="en-US"/>
              <a:t>faster certification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/Last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ctrTitle"/>
          </p:nvPr>
        </p:nvSpPr>
        <p:spPr>
          <a:xfrm>
            <a:off x="111760" y="3718216"/>
            <a:ext cx="993140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subTitle" idx="1"/>
          </p:nvPr>
        </p:nvSpPr>
        <p:spPr>
          <a:xfrm>
            <a:off x="111760" y="4125939"/>
            <a:ext cx="993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50"/>
              <a:buNone/>
              <a:defRPr sz="1250"/>
            </a:lvl2pPr>
            <a:lvl3pPr lvl="2"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25"/>
              <a:buNone/>
              <a:defRPr sz="1125"/>
            </a:lvl3pPr>
            <a:lvl4pPr lvl="3"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2" name="Google Shape;12;p33" descr="https://lh5.googleusercontent.com/qpnhnWcfTK6DKYhfiajc24Rl9_rGehTYsbBnsQjObtMuPryzVPK7eVgRHvY_SpA7TKP21jI-8rv0wBZxPXEY4kn3XoCHfKOCL-Xszs8U-oGe-_Bq3dX59zzKEk6dBxPqCQMPklbV7r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6344" y="5017740"/>
            <a:ext cx="1820900" cy="48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/>
          <p:nvPr/>
        </p:nvSpPr>
        <p:spPr>
          <a:xfrm>
            <a:off x="0" y="0"/>
            <a:ext cx="10160000" cy="849600"/>
          </a:xfrm>
          <a:prstGeom prst="rect">
            <a:avLst/>
          </a:prstGeom>
          <a:solidFill>
            <a:srgbClr val="41BAB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4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  <a:defRPr sz="2400" b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800"/>
              <a:buFont typeface="Courier New"/>
              <a:buChar char="o"/>
              <a:defRPr sz="1800" b="0" i="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Courier New"/>
              <a:buChar char="o"/>
              <a:defRPr sz="1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167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167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4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/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Private &amp; Confidential | Copyright © 2025 Security Pattern s.r.l.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34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pic>
        <p:nvPicPr>
          <p:cNvPr id="19" name="Google Shape;19;p34" descr="https://lh3.googleusercontent.com/HKSu2-GV1DmvxNmhPPr4ulbhlsC0NpG4vo6kOnqhYeZfMjSNkUxFK5mwV7fRQUJDRsTX3fmfi5JWab_h1BZfnNmGwD5eSV2s5x-Up0H6MY2tQNpLx531Ry57KGeiLKSzcZMst5viLx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665" y="5084040"/>
            <a:ext cx="1656184" cy="529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solidFill>
          <a:srgbClr val="41BAB7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  <a:defRPr/>
            </a:lvl2pPr>
            <a:lvl3pPr marL="1371600" lvl="2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Google Shape;24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6" y="5076942"/>
            <a:ext cx="1669161" cy="53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320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OT Section">
  <p:cSld name="IOT Section">
    <p:bg>
      <p:bgPr>
        <a:solidFill>
          <a:srgbClr val="3C3C3B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6"/>
          <p:cNvSpPr txBox="1"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  <a:defRPr/>
            </a:lvl2pPr>
            <a:lvl3pPr marL="1371600" lvl="2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6" y="5076942"/>
            <a:ext cx="1669161" cy="53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320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/>
          <p:nvPr/>
        </p:nvSpPr>
        <p:spPr>
          <a:xfrm>
            <a:off x="0" y="0"/>
            <a:ext cx="10160000" cy="849600"/>
          </a:xfrm>
          <a:prstGeom prst="rect">
            <a:avLst/>
          </a:prstGeom>
          <a:solidFill>
            <a:srgbClr val="41BAB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7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  <a:defRPr sz="1400" b="1" i="0" u="none" strike="noStrike" cap="none">
                <a:solidFill>
                  <a:srgbClr val="41BAB7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title"/>
          </p:nvPr>
        </p:nvSpPr>
        <p:spPr>
          <a:xfrm>
            <a:off x="280375" y="131950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7"/>
          <p:cNvSpPr/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Private &amp; Confidential | Copyright © 2025 Security Pattern s.r.l.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" name="Google Shape;34;p37" descr="https://lh3.googleusercontent.com/HKSu2-GV1DmvxNmhPPr4ulbhlsC0NpG4vo6kOnqhYeZfMjSNkUxFK5mwV7fRQUJDRsTX3fmfi5JWab_h1BZfnNmGwD5eSV2s5x-Up0H6MY2tQNpLx531Ry57KGeiLKSzcZMst5viLx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665" y="5084040"/>
            <a:ext cx="1656184" cy="529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Red!">
  <p:cSld name="Claim Red!">
    <p:bg>
      <p:bgPr>
        <a:solidFill>
          <a:schemeClr val="accen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/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Private &amp; Confidential | Copyright © 2025 Security Pattern s.r.l.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38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pic>
        <p:nvPicPr>
          <p:cNvPr id="40" name="Google Shape;40;p38" descr="https://lh3.googleusercontent.com/HKSu2-GV1DmvxNmhPPr4ulbhlsC0NpG4vo6kOnqhYeZfMjSNkUxFK5mwV7fRQUJDRsTX3fmfi5JWab_h1BZfnNmGwD5eSV2s5x-Up0H6MY2tQNpLx531Ry57KGeiLKSzcZMst5viLx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32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Green!">
  <p:cSld name="Claim Green!">
    <p:bg>
      <p:bgPr>
        <a:solidFill>
          <a:schemeClr val="accent4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9"/>
          <p:cNvSpPr/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Private &amp; Confidential | Copyright © 2025 Security Pattern s.r.l.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39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pic>
        <p:nvPicPr>
          <p:cNvPr id="45" name="Google Shape;45;p39" descr="https://lh3.googleusercontent.com/HKSu2-GV1DmvxNmhPPr4ulbhlsC0NpG4vo6kOnqhYeZfMjSNkUxFK5mwV7fRQUJDRsTX3fmfi5JWab_h1BZfnNmGwD5eSV2s5x-Up0H6MY2tQNpLx531Ry57KGeiLKSzcZMst5viLx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32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Yellow!">
  <p:cSld name="Claim Yellow!">
    <p:bg>
      <p:bgPr>
        <a:solidFill>
          <a:schemeClr val="accent5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/>
          <p:cNvSpPr txBox="1"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0"/>
          <p:cNvSpPr/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Private &amp; Confidential | Copyright © 2025 Security Pattern s.r.l.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0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pic>
        <p:nvPicPr>
          <p:cNvPr id="50" name="Google Shape;50;p40" descr="https://lh3.googleusercontent.com/HKSu2-GV1DmvxNmhPPr4ulbhlsC0NpG4vo6kOnqhYeZfMjSNkUxFK5mwV7fRQUJDRsTX3fmfi5JWab_h1BZfnNmGwD5eSV2s5x-Up0H6MY2tQNpLx531Ry57KGeiLKSzcZMst5viLx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554" y="5076000"/>
            <a:ext cx="489600" cy="4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32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Grey!">
  <p:cSld name="Claim Grey!">
    <p:bg>
      <p:bgPr>
        <a:solidFill>
          <a:schemeClr val="l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 txBox="1"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1"/>
          <p:cNvSpPr/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Private &amp; Confidential | Copyright © 2023 Security Pattern s.r.l.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41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pic>
        <p:nvPicPr>
          <p:cNvPr id="55" name="Google Shape;55;p41" descr="https://lh3.googleusercontent.com/HKSu2-GV1DmvxNmhPPr4ulbhlsC0NpG4vo6kOnqhYeZfMjSNkUxFK5mwV7fRQUJDRsTX3fmfi5JWab_h1BZfnNmGwD5eSV2s5x-Up0H6MY2tQNpLx531Ry57KGeiLKSzcZMst5viLx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554" y="5076000"/>
            <a:ext cx="489600" cy="4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32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2"/>
          <p:cNvSpPr txBox="1">
            <a:spLocks noGrp="1"/>
          </p:cNvSpPr>
          <p:nvPr>
            <p:ph type="title"/>
          </p:nvPr>
        </p:nvSpPr>
        <p:spPr>
          <a:xfrm>
            <a:off x="899587" y="515938"/>
            <a:ext cx="5810251" cy="110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Montserrat"/>
              <a:buNone/>
              <a:defRPr sz="275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body" idx="1"/>
          </p:nvPr>
        </p:nvSpPr>
        <p:spPr>
          <a:xfrm>
            <a:off x="1110350" y="1848394"/>
            <a:ext cx="8446407" cy="348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445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1667"/>
              <a:buFont typeface="Courier New"/>
              <a:buChar char="o"/>
              <a:defRPr sz="1667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6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1333"/>
              <a:buFont typeface="Courier New"/>
              <a:buChar char="o"/>
              <a:defRPr sz="1333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270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1167"/>
              <a:buFont typeface="Courier New"/>
              <a:buChar char="o"/>
              <a:defRPr sz="1167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270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1167"/>
              <a:buFont typeface="Courier New"/>
              <a:buChar char="o"/>
              <a:defRPr sz="1167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0038" algn="l" rtl="0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0038" algn="l" rtl="0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0038" algn="l" rtl="0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0038" algn="l" rtl="0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known-exploited-vulnerabilities-catalo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irst.org/epss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69389" y="1273324"/>
            <a:ext cx="9931400" cy="83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</a:pPr>
            <a:r>
              <a:rPr lang="en-US" sz="2800" b="1"/>
              <a:t>Get grip on product security with ARIANNA</a:t>
            </a:r>
            <a:endParaRPr/>
          </a:p>
        </p:txBody>
      </p:sp>
      <p:sp>
        <p:nvSpPr>
          <p:cNvPr id="61" name="Google Shape;61;p1"/>
          <p:cNvSpPr txBox="1">
            <a:spLocks noGrp="1"/>
          </p:cNvSpPr>
          <p:nvPr>
            <p:ph type="subTitle" idx="1"/>
          </p:nvPr>
        </p:nvSpPr>
        <p:spPr>
          <a:xfrm>
            <a:off x="69389" y="1962764"/>
            <a:ext cx="993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b="0"/>
              <a:t>HBOM &amp; SBOM Creation | Vulnerability Monitoring &amp; Vulnerability Management</a:t>
            </a:r>
            <a:endParaRPr/>
          </a:p>
        </p:txBody>
      </p:sp>
      <p:sp>
        <p:nvSpPr>
          <p:cNvPr id="62" name="Google Shape;62;p1"/>
          <p:cNvSpPr txBox="1"/>
          <p:nvPr/>
        </p:nvSpPr>
        <p:spPr>
          <a:xfrm>
            <a:off x="8224341" y="4729708"/>
            <a:ext cx="17764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ARIANNA is a product by</a:t>
            </a:r>
            <a:endParaRPr/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576" y="2237084"/>
            <a:ext cx="4711535" cy="353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6896" y="2801688"/>
            <a:ext cx="3456385" cy="1105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880566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r>
              <a:rPr lang="nl-NL" sz="2000" dirty="0"/>
              <a:t>CRA </a:t>
            </a:r>
            <a:r>
              <a:rPr lang="nl-NL" sz="2000" dirty="0" err="1"/>
              <a:t>requires</a:t>
            </a:r>
            <a:r>
              <a:rPr lang="nl-NL" sz="2000" dirty="0"/>
              <a:t> </a:t>
            </a:r>
            <a:r>
              <a:rPr lang="nl-NL" sz="2000" dirty="0" err="1"/>
              <a:t>continuous</a:t>
            </a:r>
            <a:r>
              <a:rPr lang="nl-NL" sz="2000" dirty="0"/>
              <a:t> </a:t>
            </a:r>
            <a:r>
              <a:rPr lang="nl-NL" sz="2000" dirty="0" err="1"/>
              <a:t>vulnerability</a:t>
            </a:r>
            <a:r>
              <a:rPr lang="nl-NL" sz="2000" dirty="0"/>
              <a:t> management </a:t>
            </a:r>
            <a:r>
              <a:rPr lang="nl-NL" sz="2000" dirty="0" err="1"/>
              <a:t>throughout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product </a:t>
            </a:r>
            <a:r>
              <a:rPr lang="nl-NL" sz="2000" dirty="0" err="1"/>
              <a:t>lifecycle</a:t>
            </a:r>
            <a:r>
              <a:rPr lang="nl-NL" sz="2000" dirty="0"/>
              <a:t>.</a:t>
            </a:r>
          </a:p>
          <a:p>
            <a:r>
              <a:rPr lang="nl-NL" sz="2000" dirty="0" err="1"/>
              <a:t>Manufacturers</a:t>
            </a:r>
            <a:r>
              <a:rPr lang="nl-NL" sz="2000" dirty="0"/>
              <a:t> must </a:t>
            </a:r>
            <a:r>
              <a:rPr lang="nl-NL" sz="2000" dirty="0" err="1"/>
              <a:t>maintain</a:t>
            </a:r>
            <a:r>
              <a:rPr lang="nl-NL" sz="2000" dirty="0"/>
              <a:t> </a:t>
            </a:r>
            <a:r>
              <a:rPr lang="nl-NL" sz="2000" dirty="0" err="1"/>
              <a:t>SBOMs</a:t>
            </a:r>
            <a:r>
              <a:rPr lang="nl-NL" sz="2000" dirty="0"/>
              <a:t>, monitor </a:t>
            </a:r>
            <a:r>
              <a:rPr lang="nl-NL" sz="2000" dirty="0" err="1"/>
              <a:t>vulnerabilities</a:t>
            </a:r>
            <a:r>
              <a:rPr lang="nl-NL" sz="2000" dirty="0"/>
              <a:t>, </a:t>
            </a:r>
            <a:r>
              <a:rPr lang="nl-NL" sz="2000" dirty="0" err="1"/>
              <a:t>assess</a:t>
            </a:r>
            <a:r>
              <a:rPr lang="nl-NL" sz="2000" dirty="0"/>
              <a:t> risk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address</a:t>
            </a:r>
            <a:r>
              <a:rPr lang="nl-NL" sz="2000" dirty="0"/>
              <a:t> </a:t>
            </a:r>
            <a:r>
              <a:rPr lang="nl-NL" sz="2000" dirty="0" err="1"/>
              <a:t>vulnerabilities</a:t>
            </a:r>
            <a:r>
              <a:rPr lang="nl-NL" sz="2000" dirty="0"/>
              <a:t>.</a:t>
            </a:r>
          </a:p>
          <a:p>
            <a:r>
              <a:rPr lang="nl-NL" sz="2000" dirty="0" err="1"/>
              <a:t>Many</a:t>
            </a:r>
            <a:r>
              <a:rPr lang="nl-NL" sz="2000" dirty="0"/>
              <a:t> </a:t>
            </a:r>
            <a:r>
              <a:rPr lang="nl-NL" sz="2000" dirty="0" err="1"/>
              <a:t>organizations</a:t>
            </a:r>
            <a:r>
              <a:rPr lang="nl-NL" sz="2000" dirty="0"/>
              <a:t> have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components</a:t>
            </a:r>
            <a:r>
              <a:rPr lang="nl-NL" sz="2000" dirty="0"/>
              <a:t> but </a:t>
            </a:r>
            <a:r>
              <a:rPr lang="nl-NL" sz="2000" dirty="0" err="1"/>
              <a:t>lack</a:t>
            </a:r>
            <a:r>
              <a:rPr lang="nl-NL" sz="2000" dirty="0"/>
              <a:t> </a:t>
            </a:r>
            <a:r>
              <a:rPr lang="nl-NL" sz="2000" dirty="0" err="1"/>
              <a:t>an</a:t>
            </a:r>
            <a:r>
              <a:rPr lang="nl-NL" sz="2000" dirty="0"/>
              <a:t> </a:t>
            </a:r>
            <a:r>
              <a:rPr lang="nl-NL" sz="2000" dirty="0" err="1"/>
              <a:t>operational</a:t>
            </a:r>
            <a:r>
              <a:rPr lang="nl-NL" sz="2000" dirty="0"/>
              <a:t> </a:t>
            </a:r>
            <a:r>
              <a:rPr lang="nl-NL" sz="2000" dirty="0" err="1"/>
              <a:t>process</a:t>
            </a:r>
            <a:r>
              <a:rPr lang="nl-NL" sz="2000" dirty="0"/>
              <a:t>.</a:t>
            </a:r>
          </a:p>
        </p:txBody>
      </p:sp>
      <p:sp>
        <p:nvSpPr>
          <p:cNvPr id="71" name="Google Shape;71;p2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Manufacturers</a:t>
            </a:r>
            <a:r>
              <a:rPr lang="nl-NL" dirty="0"/>
              <a:t> </a:t>
            </a:r>
            <a:r>
              <a:rPr lang="nl-NL" dirty="0" err="1"/>
              <a:t>Struggle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CRA</a:t>
            </a:r>
            <a:endParaRPr dirty="0"/>
          </a:p>
        </p:txBody>
      </p:sp>
      <p:sp>
        <p:nvSpPr>
          <p:cNvPr id="72" name="Google Shape;72;p2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3" name="Afbeelding 2" descr="Afbeelding met tekst, Lettertype, logo, Elektrisch blauw&#10;&#10;Door AI gegenereerde inhoud is mogelijk onjuist.">
            <a:extLst>
              <a:ext uri="{FF2B5EF4-FFF2-40B4-BE49-F238E27FC236}">
                <a16:creationId xmlns:a16="http://schemas.microsoft.com/office/drawing/2014/main" id="{F8D2307C-04BE-9AE3-719F-F01B6539E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045" y="3370492"/>
            <a:ext cx="3352847" cy="18775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0FB05392-3818-5E2C-D32A-0F771941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92292B43-2E71-5A4C-098E-EB2EC03CF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8400553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r>
              <a:rPr lang="nl-NL" sz="2000" dirty="0" err="1"/>
              <a:t>Connected</a:t>
            </a:r>
            <a:r>
              <a:rPr lang="nl-NL" sz="2000" dirty="0"/>
              <a:t> </a:t>
            </a:r>
            <a:r>
              <a:rPr lang="nl-NL" sz="2000" dirty="0" err="1"/>
              <a:t>products</a:t>
            </a:r>
            <a:r>
              <a:rPr lang="nl-NL" sz="2000" dirty="0"/>
              <a:t> combine hardware </a:t>
            </a:r>
            <a:r>
              <a:rPr lang="nl-NL" sz="2000" dirty="0" err="1"/>
              <a:t>and</a:t>
            </a:r>
            <a:r>
              <a:rPr lang="nl-NL" sz="2000" dirty="0"/>
              <a:t> software </a:t>
            </a:r>
            <a:r>
              <a:rPr lang="nl-NL" sz="2000" dirty="0" err="1"/>
              <a:t>with</a:t>
            </a:r>
            <a:r>
              <a:rPr lang="nl-NL" sz="2000" dirty="0"/>
              <a:t> long support </a:t>
            </a:r>
            <a:r>
              <a:rPr lang="nl-NL" sz="2000" dirty="0" err="1"/>
              <a:t>lifecycles</a:t>
            </a:r>
            <a:r>
              <a:rPr lang="nl-NL" sz="2000" dirty="0"/>
              <a:t>.</a:t>
            </a:r>
          </a:p>
          <a:p>
            <a:r>
              <a:rPr lang="nl-NL" sz="2000" dirty="0"/>
              <a:t>Manual </a:t>
            </a:r>
            <a:r>
              <a:rPr lang="nl-NL" sz="2000" dirty="0" err="1"/>
              <a:t>vulnerability</a:t>
            </a:r>
            <a:r>
              <a:rPr lang="nl-NL" sz="2000" dirty="0"/>
              <a:t> tracking does </a:t>
            </a:r>
            <a:r>
              <a:rPr lang="nl-NL" sz="2000" dirty="0" err="1"/>
              <a:t>not</a:t>
            </a:r>
            <a:r>
              <a:rPr lang="nl-NL" sz="2000" dirty="0"/>
              <a:t> </a:t>
            </a:r>
            <a:r>
              <a:rPr lang="nl-NL" sz="2000" dirty="0" err="1"/>
              <a:t>scale</a:t>
            </a:r>
            <a:r>
              <a:rPr lang="nl-NL" sz="2000" dirty="0"/>
              <a:t>.</a:t>
            </a:r>
          </a:p>
          <a:p>
            <a:r>
              <a:rPr lang="nl-NL" sz="2000" dirty="0"/>
              <a:t>ARIANNA </a:t>
            </a:r>
            <a:r>
              <a:rPr lang="nl-NL" sz="2000" dirty="0" err="1"/>
              <a:t>provides</a:t>
            </a:r>
            <a:r>
              <a:rPr lang="nl-NL" sz="2000" dirty="0"/>
              <a:t> HBOM + SBOM </a:t>
            </a:r>
            <a:r>
              <a:rPr lang="nl-NL" sz="2000" dirty="0" err="1"/>
              <a:t>visibility</a:t>
            </a:r>
            <a:r>
              <a:rPr lang="nl-NL" sz="2000" dirty="0"/>
              <a:t>, monitoring, </a:t>
            </a:r>
            <a:r>
              <a:rPr lang="nl-NL" sz="2000" dirty="0" err="1"/>
              <a:t>prioritization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reporting</a:t>
            </a:r>
            <a:r>
              <a:rPr lang="nl-NL" sz="2000" dirty="0"/>
              <a:t> in </a:t>
            </a:r>
            <a:r>
              <a:rPr lang="nl-NL" sz="2000" dirty="0" err="1"/>
              <a:t>one</a:t>
            </a:r>
            <a:r>
              <a:rPr lang="nl-NL" sz="2000" dirty="0"/>
              <a:t> platform.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3AE2A33D-0FFF-BF33-2B33-9D63A13046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 dirty="0"/>
              <a:t>Why ARIANNA exists</a:t>
            </a:r>
            <a:endParaRPr dirty="0"/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1142A1CD-37F2-2E59-1326-EA987ADA78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353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AB2249F2-3F90-765D-7DEB-8CA4C50D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29FF4BA-8CA4-4A3E-0CBD-AFFF4923F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8214746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r>
              <a:rPr lang="nl-NL" sz="2000" dirty="0"/>
              <a:t>A </a:t>
            </a:r>
            <a:r>
              <a:rPr lang="nl-NL" sz="2000" dirty="0" err="1"/>
              <a:t>typical</a:t>
            </a:r>
            <a:r>
              <a:rPr lang="nl-NL" sz="2000" dirty="0"/>
              <a:t> </a:t>
            </a:r>
            <a:r>
              <a:rPr lang="nl-NL" sz="2000" dirty="0" err="1"/>
              <a:t>connected</a:t>
            </a:r>
            <a:r>
              <a:rPr lang="nl-NL" sz="2000" dirty="0"/>
              <a:t> device </a:t>
            </a:r>
            <a:r>
              <a:rPr lang="nl-NL" sz="2000" dirty="0" err="1"/>
              <a:t>may</a:t>
            </a:r>
            <a:r>
              <a:rPr lang="nl-NL" sz="2000" dirty="0"/>
              <a:t> </a:t>
            </a:r>
            <a:r>
              <a:rPr lang="nl-NL" sz="2000" dirty="0" err="1"/>
              <a:t>contain</a:t>
            </a:r>
            <a:r>
              <a:rPr lang="nl-NL" sz="2000" dirty="0"/>
              <a:t> </a:t>
            </a:r>
            <a:r>
              <a:rPr lang="nl-NL" sz="2000" dirty="0" err="1"/>
              <a:t>thousands</a:t>
            </a:r>
            <a:r>
              <a:rPr lang="nl-NL" sz="2000" dirty="0"/>
              <a:t> of </a:t>
            </a:r>
            <a:r>
              <a:rPr lang="nl-NL" sz="2000" dirty="0" err="1"/>
              <a:t>known</a:t>
            </a:r>
            <a:r>
              <a:rPr lang="nl-NL" sz="2000" dirty="0"/>
              <a:t> </a:t>
            </a:r>
            <a:r>
              <a:rPr lang="nl-NL" sz="2000" dirty="0" err="1"/>
              <a:t>vulnerabilities</a:t>
            </a:r>
            <a:r>
              <a:rPr lang="nl-NL" sz="2000" dirty="0"/>
              <a:t>.</a:t>
            </a:r>
          </a:p>
          <a:p>
            <a:r>
              <a:rPr lang="nl-NL" sz="2000" dirty="0"/>
              <a:t>CVSS-</a:t>
            </a:r>
            <a:r>
              <a:rPr lang="nl-NL" sz="2000" dirty="0" err="1"/>
              <a:t>only</a:t>
            </a:r>
            <a:r>
              <a:rPr lang="nl-NL" sz="2000" dirty="0"/>
              <a:t> </a:t>
            </a:r>
            <a:r>
              <a:rPr lang="nl-NL" sz="2000" dirty="0" err="1"/>
              <a:t>prioritization</a:t>
            </a:r>
            <a:r>
              <a:rPr lang="nl-NL" sz="2000" dirty="0"/>
              <a:t> </a:t>
            </a:r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result</a:t>
            </a:r>
            <a:r>
              <a:rPr lang="nl-NL" sz="2000" dirty="0"/>
              <a:t> in </a:t>
            </a:r>
            <a:r>
              <a:rPr lang="nl-NL" sz="2000" dirty="0" err="1"/>
              <a:t>hundreds</a:t>
            </a:r>
            <a:r>
              <a:rPr lang="nl-NL" sz="2000" dirty="0"/>
              <a:t> of </a:t>
            </a:r>
            <a:r>
              <a:rPr lang="nl-NL" sz="2000" dirty="0" err="1"/>
              <a:t>vulnerabilities</a:t>
            </a:r>
            <a:r>
              <a:rPr lang="nl-NL" sz="2000" dirty="0"/>
              <a:t> </a:t>
            </a:r>
            <a:r>
              <a:rPr lang="nl-NL" sz="2000" dirty="0" err="1"/>
              <a:t>requiring</a:t>
            </a:r>
            <a:r>
              <a:rPr lang="nl-NL" sz="2000" dirty="0"/>
              <a:t> review.</a:t>
            </a:r>
          </a:p>
          <a:p>
            <a:r>
              <a:rPr lang="nl-NL" sz="2000" dirty="0"/>
              <a:t>ARIANNA </a:t>
            </a:r>
            <a:r>
              <a:rPr lang="nl-NL" sz="2000" dirty="0" err="1"/>
              <a:t>prioritizes</a:t>
            </a:r>
            <a:r>
              <a:rPr lang="nl-NL" sz="2000" dirty="0"/>
              <a:t> </a:t>
            </a:r>
            <a:r>
              <a:rPr lang="nl-NL" sz="2000" dirty="0" err="1"/>
              <a:t>based</a:t>
            </a:r>
            <a:r>
              <a:rPr lang="nl-NL" sz="2000" dirty="0"/>
              <a:t> on </a:t>
            </a:r>
            <a:r>
              <a:rPr lang="nl-NL" sz="2000" dirty="0" err="1"/>
              <a:t>exploitability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context, </a:t>
            </a:r>
            <a:r>
              <a:rPr lang="nl-NL" sz="2000" dirty="0" err="1"/>
              <a:t>reducing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focus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vulnerabilities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matter most.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1BD258A6-17C1-641A-975D-8F4879F4B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nl-NL" dirty="0" err="1"/>
              <a:t>From</a:t>
            </a:r>
            <a:r>
              <a:rPr lang="nl-NL" dirty="0"/>
              <a:t> 2,775 </a:t>
            </a:r>
            <a:r>
              <a:rPr lang="nl-NL" dirty="0" err="1"/>
              <a:t>Vulnerabilities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10 Actions</a:t>
            </a:r>
            <a:endParaRPr dirty="0"/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B848EDD9-9D97-8563-D959-242480BCA0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458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0F76E3FF-9C88-F4FB-EC43-BE4710E3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>
            <a:extLst>
              <a:ext uri="{FF2B5EF4-FFF2-40B4-BE49-F238E27FC236}">
                <a16:creationId xmlns:a16="http://schemas.microsoft.com/office/drawing/2014/main" id="{7026EF98-C2DD-2BC6-83FB-4F4051345F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5785" y="1820855"/>
            <a:ext cx="5224462" cy="391834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CDBA434-48A9-BB5E-1DF7-7E2DD974B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8214746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ARIANNA is a platform designed to help </a:t>
            </a:r>
            <a:r>
              <a:rPr lang="en-US" sz="2000">
                <a:solidFill>
                  <a:srgbClr val="41BAB7"/>
                </a:solidFill>
              </a:rPr>
              <a:t>Device Manufacturer </a:t>
            </a:r>
            <a:r>
              <a:rPr lang="en-US" sz="2000"/>
              <a:t>to implement an efficient </a:t>
            </a:r>
            <a:r>
              <a:rPr lang="en-US" sz="2000">
                <a:solidFill>
                  <a:srgbClr val="41BAB7"/>
                </a:solidFill>
              </a:rPr>
              <a:t>Vulnerability Management Process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Device Model Management (HBOM + SBOM)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Continuous Vulnerability Monitoring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Vulnerability Management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Reporting</a:t>
            </a:r>
            <a:endParaRPr/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F0CF8B1E-FAA5-5241-1C1A-30E89CB837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ARIANNA</a:t>
            </a:r>
            <a:endParaRPr/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ECB7CD20-DB45-DCBC-D85E-322D0AB91B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5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en-US" sz="2800"/>
              <a:t>1. Device Model creation</a:t>
            </a:r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to create HBOM &amp; SBOM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65924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000"/>
              <a:buChar char="●"/>
            </a:pPr>
            <a:r>
              <a:rPr lang="en-US" sz="2000"/>
              <a:t>Hardware Components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MCUs | MPUs | Memories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WiFi, BLE, Radio modules | Secure Elements | TPM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VMP is incomplete without the Hardware Model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HW Components manage Critical Assets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>
                <a:solidFill>
                  <a:schemeClr val="accent2"/>
                </a:solidFill>
              </a:rPr>
              <a:t>HW Components have vulnerabilities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HW Component are not exposed in the same way to attackers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>
                <a:solidFill>
                  <a:schemeClr val="accent2"/>
                </a:solidFill>
              </a:rPr>
              <a:t>HW Model helps exclude non-reachable software vulnerabilities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None/>
            </a:pPr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Smart Devices are not only Software</a:t>
            </a:r>
            <a:endParaRPr b="0"/>
          </a:p>
        </p:txBody>
      </p:sp>
      <p:sp>
        <p:nvSpPr>
          <p:cNvPr id="85" name="Google Shape;85;p4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WIFI MODULE</a:t>
            </a:r>
            <a:endParaRPr/>
          </a:p>
        </p:txBody>
      </p:sp>
      <p:cxnSp>
        <p:nvCxnSpPr>
          <p:cNvPr id="88" name="Google Shape;88;p4"/>
          <p:cNvCxnSpPr>
            <a:stCxn id="89" idx="2"/>
          </p:cNvCxnSpPr>
          <p:nvPr/>
        </p:nvCxnSpPr>
        <p:spPr>
          <a:xfrm flipH="1">
            <a:off x="8437491" y="2086996"/>
            <a:ext cx="23700" cy="1823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90" name="Google Shape;90;p4"/>
          <p:cNvCxnSpPr>
            <a:stCxn id="91" idx="2"/>
          </p:cNvCxnSpPr>
          <p:nvPr/>
        </p:nvCxnSpPr>
        <p:spPr>
          <a:xfrm flipH="1">
            <a:off x="8968339" y="3451570"/>
            <a:ext cx="20400" cy="341100"/>
          </a:xfrm>
          <a:prstGeom prst="straightConnector1">
            <a:avLst/>
          </a:prstGeom>
          <a:noFill/>
          <a:ln w="19050" cap="flat" cmpd="sng">
            <a:solidFill>
              <a:srgbClr val="FD9600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92" name="Google Shape;92;p4"/>
          <p:cNvCxnSpPr>
            <a:stCxn id="87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93" name="Google Shape;93;p4"/>
          <p:cNvSpPr/>
          <p:nvPr/>
        </p:nvSpPr>
        <p:spPr>
          <a:xfrm>
            <a:off x="8183753" y="2382381"/>
            <a:ext cx="1137311" cy="34851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22225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cxnSp>
        <p:nvCxnSpPr>
          <p:cNvPr id="94" name="Google Shape;94;p4"/>
          <p:cNvCxnSpPr/>
          <p:nvPr/>
        </p:nvCxnSpPr>
        <p:spPr>
          <a:xfrm>
            <a:off x="8752408" y="2730895"/>
            <a:ext cx="0" cy="1179275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89" name="Google Shape;89;p4"/>
          <p:cNvSpPr/>
          <p:nvPr/>
        </p:nvSpPr>
        <p:spPr>
          <a:xfrm>
            <a:off x="7816304" y="1738482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MAIN MPU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559876" y="3103056"/>
            <a:ext cx="85772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ap="flat" cmpd="sng">
            <a:solidFill>
              <a:srgbClr val="FD9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MCU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 fontScale="62500" lnSpcReduction="2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/>
              <a:t>ARIANNA provides support in the creation the </a:t>
            </a:r>
            <a:r>
              <a:rPr lang="en-US">
                <a:solidFill>
                  <a:schemeClr val="dk2"/>
                </a:solidFill>
              </a:rPr>
              <a:t>Device Model (HBOM + SBOM)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Device Model is used to identify vulnerabilities in the target device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HBOM: List of hardware components in the target device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Built according to validated hardware part numbers, </a:t>
            </a:r>
            <a:r>
              <a:rPr lang="en-US">
                <a:solidFill>
                  <a:schemeClr val="dk2"/>
                </a:solidFill>
              </a:rPr>
              <a:t>enriched with info in our internal DB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SBOM: List of software components in the target device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Built according to trusted information retrieved by </a:t>
            </a:r>
            <a:r>
              <a:rPr lang="en-US">
                <a:solidFill>
                  <a:srgbClr val="41BAB7"/>
                </a:solidFill>
              </a:rPr>
              <a:t>ARIANNA SCA Tools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/>
              <a:t>ARIANNA </a:t>
            </a:r>
            <a:r>
              <a:rPr lang="en-US">
                <a:solidFill>
                  <a:schemeClr val="dk2"/>
                </a:solidFill>
              </a:rPr>
              <a:t>Software Composition Analysis Tools 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Scripts (Python, Bash or PowerShell) to be executed in the development environment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SCA Tools output (CSV file) must be uploaded on ARIANNA (through Web UI or Rest APIs)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By elaborating the uploaded CSV, ARIANNA produces the final SBOM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/>
              <a:t>No need to disclose source code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/>
              <a:t>No reverse engineering of binaries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Unprecise SBOM: missing components, or components with wrong version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/>
              <a:t>No agents installed on target devices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Invasive approach, can complicate FW / SW maintenance (agents must be updated during device lifecycle)</a:t>
            </a:r>
            <a:endParaRPr/>
          </a:p>
          <a:p>
            <a:pPr marL="533400" lvl="1" indent="-17621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533400" lvl="1" indent="-17621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None/>
            </a:pPr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Device Model: HBOM &amp; SBOM</a:t>
            </a:r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6508446" y="5021142"/>
            <a:ext cx="324036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*SCA: Software Composition Analysis Tools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 lnSpcReduction="1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200"/>
              <a:buChar char="●"/>
            </a:pPr>
            <a:r>
              <a:rPr lang="en-US" sz="2200"/>
              <a:t>Multiple SCA Tools, each one dedicated to a specific environment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700"/>
              <a:buChar char="o"/>
            </a:pPr>
            <a:r>
              <a:rPr lang="en-US" sz="1700">
                <a:solidFill>
                  <a:srgbClr val="7F7F7F"/>
                </a:solidFill>
              </a:rPr>
              <a:t>OS analysis: Linux, Windows, Android …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700"/>
              <a:buChar char="o"/>
            </a:pPr>
            <a:r>
              <a:rPr lang="en-US" sz="1700">
                <a:solidFill>
                  <a:srgbClr val="7F7F7F"/>
                </a:solidFill>
              </a:rPr>
              <a:t>Application Layer analysis: .NET, python, PHP, Javascript ...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700"/>
              <a:buChar char="o"/>
            </a:pPr>
            <a:r>
              <a:rPr lang="en-US" sz="1700">
                <a:solidFill>
                  <a:srgbClr val="7F7F7F"/>
                </a:solidFill>
              </a:rPr>
              <a:t>MCU SDK analysis: Espressif ESP-IDF, STM Cube SDK, NXP MCUXpresso SDK 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700"/>
              <a:buChar char="o"/>
            </a:pPr>
            <a:r>
              <a:rPr lang="en-US" sz="1700">
                <a:solidFill>
                  <a:srgbClr val="7F7F7F"/>
                </a:solidFill>
              </a:rPr>
              <a:t>Cloud systems containers analysis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200"/>
              <a:buChar char="●"/>
            </a:pPr>
            <a:r>
              <a:rPr lang="en-US" sz="2200"/>
              <a:t>SCA Tools execution can be integrated in CI/CD pipelines 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700"/>
              <a:buChar char="o"/>
            </a:pPr>
            <a:r>
              <a:rPr lang="en-US" sz="1700"/>
              <a:t>Automatic execution after every SW / FW release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700"/>
              <a:buChar char="o"/>
            </a:pPr>
            <a:r>
              <a:rPr lang="en-US" sz="1700"/>
              <a:t>Using ARIANNA Rest API, is then possible: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To upload SCA Tools output (CSV files) on ARIANNA and update an existing device model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To trigger the creation of a new vulnerability report 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None/>
            </a:pP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None/>
            </a:pP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ARIANNA SCA Tools</a:t>
            </a:r>
            <a:endParaRPr/>
          </a:p>
        </p:txBody>
      </p:sp>
      <p:sp>
        <p:nvSpPr>
          <p:cNvPr id="109" name="Google Shape;109;p6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655856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800"/>
              <a:buChar char="●"/>
            </a:pPr>
            <a:r>
              <a:rPr lang="en-US" sz="1800"/>
              <a:t>User must identify HW building blocks inside the device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Each hardware building block is named </a:t>
            </a:r>
            <a:r>
              <a:rPr lang="en-US" sz="1400">
                <a:solidFill>
                  <a:srgbClr val="41BAB7"/>
                </a:solidFill>
              </a:rPr>
              <a:t>Processing Unit (PU)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000"/>
              <a:buChar char="o"/>
            </a:pPr>
            <a:r>
              <a:rPr lang="en-US" sz="1000"/>
              <a:t>PU examples: MCU, MPU, Secure Elements, Memories, WIFI/BLE Modules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For each PU, ARIANNA defines the </a:t>
            </a:r>
            <a:r>
              <a:rPr lang="en-US" sz="1400">
                <a:solidFill>
                  <a:schemeClr val="dk2"/>
                </a:solidFill>
              </a:rPr>
              <a:t>HBOM</a:t>
            </a:r>
            <a:r>
              <a:rPr lang="en-US" sz="1400"/>
              <a:t> according to the HW part number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Device Model creation: HBOM</a:t>
            </a:r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PU3|ESP32</a:t>
            </a:r>
            <a:endParaRPr/>
          </a:p>
        </p:txBody>
      </p:sp>
      <p:cxnSp>
        <p:nvCxnSpPr>
          <p:cNvPr id="121" name="Google Shape;121;p7"/>
          <p:cNvCxnSpPr>
            <a:stCxn id="122" idx="2"/>
          </p:cNvCxnSpPr>
          <p:nvPr/>
        </p:nvCxnSpPr>
        <p:spPr>
          <a:xfrm>
            <a:off x="8400929" y="2086996"/>
            <a:ext cx="0" cy="1854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123" name="Google Shape;123;p7"/>
          <p:cNvCxnSpPr>
            <a:stCxn id="124" idx="2"/>
          </p:cNvCxnSpPr>
          <p:nvPr/>
        </p:nvCxnSpPr>
        <p:spPr>
          <a:xfrm>
            <a:off x="8971666" y="3456339"/>
            <a:ext cx="0" cy="376800"/>
          </a:xfrm>
          <a:prstGeom prst="straightConnector1">
            <a:avLst/>
          </a:prstGeom>
          <a:noFill/>
          <a:ln w="19050" cap="flat" cmpd="sng">
            <a:solidFill>
              <a:srgbClr val="FD9600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125" name="Google Shape;125;p7"/>
          <p:cNvCxnSpPr>
            <a:stCxn id="120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26" name="Google Shape;126;p7"/>
          <p:cNvSpPr/>
          <p:nvPr/>
        </p:nvSpPr>
        <p:spPr>
          <a:xfrm>
            <a:off x="8183753" y="2382381"/>
            <a:ext cx="1137311" cy="34851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22225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PU4 | MEMORY</a:t>
            </a:r>
            <a:endParaRPr/>
          </a:p>
        </p:txBody>
      </p:sp>
      <p:cxnSp>
        <p:nvCxnSpPr>
          <p:cNvPr id="127" name="Google Shape;127;p7"/>
          <p:cNvCxnSpPr/>
          <p:nvPr/>
        </p:nvCxnSpPr>
        <p:spPr>
          <a:xfrm>
            <a:off x="8752408" y="2730895"/>
            <a:ext cx="0" cy="1179275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22" name="Google Shape;122;p7"/>
          <p:cNvSpPr/>
          <p:nvPr/>
        </p:nvSpPr>
        <p:spPr>
          <a:xfrm>
            <a:off x="7744296" y="1738482"/>
            <a:ext cx="1313266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PU1 | i.MX 93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327298" y="3107825"/>
            <a:ext cx="128873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ap="flat" cmpd="sng">
            <a:solidFill>
              <a:srgbClr val="FD9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PU2 | STM32F4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600"/>
              <a:buChar char="●"/>
            </a:pPr>
            <a:r>
              <a:rPr lang="en-US" sz="1600"/>
              <a:t>For each Processing Unit (PU), ARIANNA supports in the creation of the </a:t>
            </a:r>
            <a:r>
              <a:rPr lang="en-US" sz="1600">
                <a:solidFill>
                  <a:schemeClr val="dk2"/>
                </a:solidFill>
              </a:rPr>
              <a:t>SBOM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1600"/>
              <a:buChar char="●"/>
            </a:pPr>
            <a:r>
              <a:rPr lang="en-US" sz="1600"/>
              <a:t>PU SBOM can be the composition of multiple SBOMs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MPUs can have a SBOM for the OS + a SBOM for each customer application executed on top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MCUs can have a SBOM for the bootloader + a SBOM for the firmware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Components in the final SBOM are grouped accordingly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Each SBOM is created with the support of a dedicated ARIANNA SCA </a:t>
            </a:r>
            <a:r>
              <a:rPr lang="en-US" sz="1400"/>
              <a:t>Tool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None/>
            </a:pP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Device Model creation: SBOM</a:t>
            </a: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273354" y="4558172"/>
            <a:ext cx="2520280" cy="436076"/>
          </a:xfrm>
          <a:prstGeom prst="roundRect">
            <a:avLst>
              <a:gd name="adj" fmla="val 14373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PU1 | i.MX 93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430506" y="4558171"/>
            <a:ext cx="1436284" cy="436076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PU3 | ESP32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4135926" y="4560533"/>
            <a:ext cx="2952897" cy="436076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PU2 | STM32F4</a:t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7496303" y="3962766"/>
            <a:ext cx="1300417" cy="443903"/>
          </a:xfrm>
          <a:prstGeom prst="roundRect">
            <a:avLst>
              <a:gd name="adj" fmla="val 16667"/>
            </a:avLst>
          </a:prstGeom>
          <a:solidFill>
            <a:srgbClr val="DA92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Firmware SBOM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212304" y="3965127"/>
            <a:ext cx="1367382" cy="443904"/>
          </a:xfrm>
          <a:prstGeom prst="roundRect">
            <a:avLst>
              <a:gd name="adj" fmla="val 16667"/>
            </a:avLst>
          </a:prstGeom>
          <a:solidFill>
            <a:srgbClr val="E59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Bootloader SBOM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5656064" y="3965127"/>
            <a:ext cx="1367382" cy="443904"/>
          </a:xfrm>
          <a:prstGeom prst="roundRect">
            <a:avLst>
              <a:gd name="adj" fmla="val 16667"/>
            </a:avLst>
          </a:prstGeom>
          <a:solidFill>
            <a:srgbClr val="DA92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Firmware SBOM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335584" y="3937620"/>
            <a:ext cx="2386042" cy="469049"/>
          </a:xfrm>
          <a:prstGeom prst="roundRect">
            <a:avLst>
              <a:gd name="adj" fmla="val 16667"/>
            </a:avLst>
          </a:prstGeom>
          <a:solidFill>
            <a:srgbClr val="B7D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YOCTO SBOM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1335584" y="3334077"/>
            <a:ext cx="1159814" cy="550680"/>
          </a:xfrm>
          <a:prstGeom prst="roundRect">
            <a:avLst>
              <a:gd name="adj" fmla="val 16667"/>
            </a:avLst>
          </a:prstGeom>
          <a:solidFill>
            <a:srgbClr val="D3AC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Javascript Application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SBOM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2541224" y="3334077"/>
            <a:ext cx="1156003" cy="560326"/>
          </a:xfrm>
          <a:prstGeom prst="roundRect">
            <a:avLst>
              <a:gd name="adj" fmla="val 16667"/>
            </a:avLst>
          </a:prstGeom>
          <a:solidFill>
            <a:srgbClr val="F3B5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 Application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SBOM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273354" y="3268303"/>
            <a:ext cx="2520280" cy="1215695"/>
          </a:xfrm>
          <a:prstGeom prst="roundRect">
            <a:avLst>
              <a:gd name="adj" fmla="val 5755"/>
            </a:avLst>
          </a:prstGeom>
          <a:noFill/>
          <a:ln w="12700" cap="flat" cmpd="sng">
            <a:solidFill>
              <a:srgbClr val="9E9E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430506" y="3884756"/>
            <a:ext cx="1436284" cy="599242"/>
          </a:xfrm>
          <a:prstGeom prst="roundRect">
            <a:avLst>
              <a:gd name="adj" fmla="val 13148"/>
            </a:avLst>
          </a:prstGeom>
          <a:noFill/>
          <a:ln w="12700" cap="flat" cmpd="sng">
            <a:solidFill>
              <a:srgbClr val="9E9E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135925" y="3887118"/>
            <a:ext cx="2952897" cy="599242"/>
          </a:xfrm>
          <a:prstGeom prst="roundRect">
            <a:avLst>
              <a:gd name="adj" fmla="val 13148"/>
            </a:avLst>
          </a:prstGeom>
          <a:noFill/>
          <a:ln w="12700" cap="flat" cmpd="sng">
            <a:solidFill>
              <a:srgbClr val="9E9E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Device Model evolves during the device lifecycle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HBOM stays constant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SBOM must be updated every time a new FW / SW is released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When a new version of the Device Model is created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New Vulnerabilities could be notified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If a new component is added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If an old component is UPDATED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Old Vulnerabilities maintain the status or could be automatically closed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If the affected component is UPDATED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If the affected component is REMOVED</a:t>
            </a: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Device Model lifecycle &amp; VMP</a:t>
            </a:r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en-US" sz="2800"/>
              <a:t>2. Continuous Vulnerability Monitoring</a:t>
            </a:r>
            <a:endParaRPr/>
          </a:p>
        </p:txBody>
      </p:sp>
      <p:sp>
        <p:nvSpPr>
          <p:cNvPr id="159" name="Google Shape;159;p10"/>
          <p:cNvSpPr txBox="1"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known vulnerabilities are detected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800"/>
              <a:buChar char="●"/>
            </a:pPr>
            <a:r>
              <a:rPr lang="en-US" sz="1800"/>
              <a:t>ARIANNA </a:t>
            </a:r>
            <a:r>
              <a:rPr lang="en-US" sz="1800">
                <a:solidFill>
                  <a:schemeClr val="dk2"/>
                </a:solidFill>
              </a:rPr>
              <a:t>daily identifies new vulnerabilities </a:t>
            </a:r>
            <a:r>
              <a:rPr lang="en-US" sz="1800"/>
              <a:t>for every monitored device, using its Device Model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1800"/>
              <a:buChar char="●"/>
            </a:pPr>
            <a:r>
              <a:rPr lang="en-US" sz="1800"/>
              <a:t>ARIANNA relies on an </a:t>
            </a:r>
            <a:r>
              <a:rPr lang="en-US" sz="1800">
                <a:solidFill>
                  <a:schemeClr val="dk2"/>
                </a:solidFill>
              </a:rPr>
              <a:t>internal database </a:t>
            </a:r>
            <a:r>
              <a:rPr lang="en-US" sz="1800"/>
              <a:t>that maps hardware and software components to their associated vulnerabilities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Public Vulnerabilities Databases are daily monitored to ingest the latest vulnerability updates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NIST NVD, CVE.ORG, GitHub Security Advisories, European Vulnerability Database (EUVD)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For each known vulnerability, ARIANNA retrieves additional data to enable effective </a:t>
            </a:r>
            <a:r>
              <a:rPr lang="en-US" sz="1400">
                <a:solidFill>
                  <a:schemeClr val="dk2"/>
                </a:solidFill>
              </a:rPr>
              <a:t>prioritization algorithms </a:t>
            </a:r>
            <a:r>
              <a:rPr lang="en-US" sz="1400"/>
              <a:t>and to facilitate the risk evaluation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CISA Known Exploited Vulnerabilities (CISA KEV) | 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https://www.cisa.gov/known-exploited-vulnerabilities-catalog</a:t>
            </a:r>
            <a:r>
              <a:rPr lang="en-US" sz="1100"/>
              <a:t> </a:t>
            </a:r>
            <a:endParaRPr sz="1200"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Exploit availability &amp; Maturity level (EXPLOIT READY / EXPLOIT POC)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EPSS index |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https://www.first.org/epss/</a:t>
            </a:r>
            <a:endParaRPr sz="1100"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CWE information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None/>
            </a:pP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Continuous Vulnerability Monitoring</a:t>
            </a:r>
            <a:endParaRPr/>
          </a:p>
        </p:txBody>
      </p:sp>
      <p:sp>
        <p:nvSpPr>
          <p:cNvPr id="166" name="Google Shape;166;p11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en-US" sz="2800"/>
              <a:t>3. Vulnerability Management</a:t>
            </a:r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to manage identified vulnerabilities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>
            <a:spLocks noGrp="1"/>
          </p:cNvSpPr>
          <p:nvPr>
            <p:ph type="title"/>
          </p:nvPr>
        </p:nvSpPr>
        <p:spPr>
          <a:xfrm>
            <a:off x="280374" y="131950"/>
            <a:ext cx="10200226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Vulnerability Management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8" name="Google Shape;178;p13"/>
          <p:cNvCxnSpPr>
            <a:stCxn id="179" idx="6"/>
            <a:endCxn id="180" idx="2"/>
          </p:cNvCxnSpPr>
          <p:nvPr/>
        </p:nvCxnSpPr>
        <p:spPr>
          <a:xfrm>
            <a:off x="4693386" y="3145500"/>
            <a:ext cx="1811400" cy="60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81" name="Google Shape;181;p13"/>
          <p:cNvSpPr txBox="1"/>
          <p:nvPr/>
        </p:nvSpPr>
        <p:spPr>
          <a:xfrm>
            <a:off x="5855139" y="1742763"/>
            <a:ext cx="18394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ADDRESSING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8224587" y="1727582"/>
            <a:ext cx="21717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(DIS)CLOSURE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521352" y="2857500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31245" y="1763781"/>
            <a:ext cx="151899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IDENTIFICATION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3667301" y="1740167"/>
            <a:ext cx="151216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TRIAGE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3"/>
          <p:cNvCxnSpPr>
            <a:stCxn id="185" idx="2"/>
            <a:endCxn id="179" idx="0"/>
          </p:cNvCxnSpPr>
          <p:nvPr/>
        </p:nvCxnSpPr>
        <p:spPr>
          <a:xfrm>
            <a:off x="4423385" y="2386498"/>
            <a:ext cx="0" cy="4710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187" name="Google Shape;187;p13"/>
          <p:cNvCxnSpPr>
            <a:stCxn id="184" idx="2"/>
            <a:endCxn id="183" idx="0"/>
          </p:cNvCxnSpPr>
          <p:nvPr/>
        </p:nvCxnSpPr>
        <p:spPr>
          <a:xfrm>
            <a:off x="790741" y="2410112"/>
            <a:ext cx="600" cy="4473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188" name="Google Shape;188;p13"/>
          <p:cNvCxnSpPr>
            <a:stCxn id="182" idx="2"/>
            <a:endCxn id="189" idx="0"/>
          </p:cNvCxnSpPr>
          <p:nvPr/>
        </p:nvCxnSpPr>
        <p:spPr>
          <a:xfrm>
            <a:off x="9310440" y="2373913"/>
            <a:ext cx="0" cy="4911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190" name="Google Shape;190;p13"/>
          <p:cNvCxnSpPr>
            <a:stCxn id="181" idx="2"/>
            <a:endCxn id="180" idx="0"/>
          </p:cNvCxnSpPr>
          <p:nvPr/>
        </p:nvCxnSpPr>
        <p:spPr>
          <a:xfrm>
            <a:off x="6774848" y="2389094"/>
            <a:ext cx="0" cy="469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sp>
        <p:nvSpPr>
          <p:cNvPr id="179" name="Google Shape;179;p13"/>
          <p:cNvSpPr/>
          <p:nvPr/>
        </p:nvSpPr>
        <p:spPr>
          <a:xfrm>
            <a:off x="4153386" y="2857500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6504848" y="2858215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9040440" y="2864968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3"/>
          <p:cNvCxnSpPr>
            <a:stCxn id="179" idx="4"/>
            <a:endCxn id="189" idx="3"/>
          </p:cNvCxnSpPr>
          <p:nvPr/>
        </p:nvCxnSpPr>
        <p:spPr>
          <a:xfrm rot="-5400000">
            <a:off x="6733086" y="1047000"/>
            <a:ext cx="76800" cy="4696200"/>
          </a:xfrm>
          <a:prstGeom prst="bentConnector3">
            <a:avLst>
              <a:gd name="adj1" fmla="val -819349"/>
            </a:avLst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92" name="Google Shape;192;p13"/>
          <p:cNvCxnSpPr>
            <a:stCxn id="180" idx="6"/>
            <a:endCxn id="189" idx="2"/>
          </p:cNvCxnSpPr>
          <p:nvPr/>
        </p:nvCxnSpPr>
        <p:spPr>
          <a:xfrm>
            <a:off x="7044848" y="3146215"/>
            <a:ext cx="1995600" cy="690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93" name="Google Shape;193;p13"/>
          <p:cNvCxnSpPr>
            <a:stCxn id="183" idx="6"/>
            <a:endCxn id="179" idx="2"/>
          </p:cNvCxnSpPr>
          <p:nvPr/>
        </p:nvCxnSpPr>
        <p:spPr>
          <a:xfrm>
            <a:off x="1061352" y="3145500"/>
            <a:ext cx="3092100" cy="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94" name="Google Shape;194;p13"/>
          <p:cNvSpPr txBox="1"/>
          <p:nvPr/>
        </p:nvSpPr>
        <p:spPr>
          <a:xfrm>
            <a:off x="4453806" y="4100669"/>
            <a:ext cx="29436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NOT APPLICABLE | ACCEPTED</a:t>
            </a: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7083856" y="3192213"/>
            <a:ext cx="17022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FIXED</a:t>
            </a:r>
            <a:r>
              <a:rPr lang="en-US" sz="1200" b="0" i="1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MITIGATED</a:t>
            </a: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1039531" y="3188512"/>
            <a:ext cx="12328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ALL VULNs</a:t>
            </a: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280374" y="131950"/>
            <a:ext cx="10200226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Vulnerability Management with ARIANNA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14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6736184" y="4549666"/>
            <a:ext cx="1728192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DEADLINE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BASED ON POLICY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1049586" y="4534168"/>
            <a:ext cx="16946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VULNERABILITY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NOTIFICATION</a:t>
            </a:r>
            <a:endParaRPr sz="1400" b="0" i="0" u="none" strike="noStrike" cap="non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6" name="Google Shape;206;p14"/>
          <p:cNvCxnSpPr>
            <a:stCxn id="207" idx="6"/>
            <a:endCxn id="208" idx="2"/>
          </p:cNvCxnSpPr>
          <p:nvPr/>
        </p:nvCxnSpPr>
        <p:spPr>
          <a:xfrm>
            <a:off x="4095047" y="2608533"/>
            <a:ext cx="1375500" cy="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09" name="Google Shape;209;p14"/>
          <p:cNvSpPr txBox="1"/>
          <p:nvPr/>
        </p:nvSpPr>
        <p:spPr>
          <a:xfrm>
            <a:off x="4820926" y="1221800"/>
            <a:ext cx="18394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ADDRESSING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1630831" y="2320533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 txBox="1"/>
          <p:nvPr/>
        </p:nvSpPr>
        <p:spPr>
          <a:xfrm>
            <a:off x="1140724" y="1226814"/>
            <a:ext cx="151899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IDENTIFICATION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3068962" y="1233976"/>
            <a:ext cx="151216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TRIAGE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14"/>
          <p:cNvCxnSpPr>
            <a:stCxn id="212" idx="2"/>
          </p:cNvCxnSpPr>
          <p:nvPr/>
        </p:nvCxnSpPr>
        <p:spPr>
          <a:xfrm>
            <a:off x="3825046" y="1880307"/>
            <a:ext cx="0" cy="21018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214" name="Google Shape;214;p14"/>
          <p:cNvCxnSpPr>
            <a:stCxn id="211" idx="2"/>
            <a:endCxn id="210" idx="0"/>
          </p:cNvCxnSpPr>
          <p:nvPr/>
        </p:nvCxnSpPr>
        <p:spPr>
          <a:xfrm>
            <a:off x="1900220" y="1873145"/>
            <a:ext cx="600" cy="4473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215" name="Google Shape;215;p14"/>
          <p:cNvCxnSpPr>
            <a:endCxn id="216" idx="0"/>
          </p:cNvCxnSpPr>
          <p:nvPr/>
        </p:nvCxnSpPr>
        <p:spPr>
          <a:xfrm>
            <a:off x="7582248" y="1829433"/>
            <a:ext cx="0" cy="4911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217" name="Google Shape;217;p14"/>
          <p:cNvCxnSpPr>
            <a:stCxn id="209" idx="2"/>
          </p:cNvCxnSpPr>
          <p:nvPr/>
        </p:nvCxnSpPr>
        <p:spPr>
          <a:xfrm>
            <a:off x="5740635" y="1868131"/>
            <a:ext cx="8700" cy="2122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sp>
        <p:nvSpPr>
          <p:cNvPr id="207" name="Google Shape;207;p14"/>
          <p:cNvSpPr/>
          <p:nvPr/>
        </p:nvSpPr>
        <p:spPr>
          <a:xfrm>
            <a:off x="3555047" y="2320533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470635" y="2320680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7312248" y="2320533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4"/>
          <p:cNvCxnSpPr>
            <a:stCxn id="208" idx="6"/>
            <a:endCxn id="216" idx="2"/>
          </p:cNvCxnSpPr>
          <p:nvPr/>
        </p:nvCxnSpPr>
        <p:spPr>
          <a:xfrm>
            <a:off x="6010635" y="2608680"/>
            <a:ext cx="1301700" cy="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19" name="Google Shape;219;p14"/>
          <p:cNvCxnSpPr>
            <a:stCxn id="210" idx="6"/>
            <a:endCxn id="207" idx="2"/>
          </p:cNvCxnSpPr>
          <p:nvPr/>
        </p:nvCxnSpPr>
        <p:spPr>
          <a:xfrm>
            <a:off x="2170831" y="2608533"/>
            <a:ext cx="1384200" cy="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20" name="Google Shape;220;p14"/>
          <p:cNvSpPr txBox="1"/>
          <p:nvPr/>
        </p:nvSpPr>
        <p:spPr>
          <a:xfrm>
            <a:off x="6489692" y="1201316"/>
            <a:ext cx="21717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(DIS)CLOSURE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14"/>
          <p:cNvCxnSpPr/>
          <p:nvPr/>
        </p:nvCxnSpPr>
        <p:spPr>
          <a:xfrm>
            <a:off x="543496" y="3989825"/>
            <a:ext cx="9312460" cy="434"/>
          </a:xfrm>
          <a:prstGeom prst="straightConnector1">
            <a:avLst/>
          </a:prstGeom>
          <a:noFill/>
          <a:ln w="47625" cap="flat" cmpd="sng">
            <a:solidFill>
              <a:srgbClr val="DEDEDE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2" name="Google Shape;222;p14"/>
          <p:cNvCxnSpPr>
            <a:stCxn id="216" idx="4"/>
            <a:endCxn id="204" idx="0"/>
          </p:cNvCxnSpPr>
          <p:nvPr/>
        </p:nvCxnSpPr>
        <p:spPr>
          <a:xfrm>
            <a:off x="7582248" y="2896533"/>
            <a:ext cx="18000" cy="1653000"/>
          </a:xfrm>
          <a:prstGeom prst="straightConnector1">
            <a:avLst/>
          </a:prstGeom>
          <a:noFill/>
          <a:ln w="19050" cap="flat" cmpd="sng">
            <a:solidFill>
              <a:srgbClr val="616364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223" name="Google Shape;223;p14"/>
          <p:cNvCxnSpPr/>
          <p:nvPr/>
        </p:nvCxnSpPr>
        <p:spPr>
          <a:xfrm>
            <a:off x="1896934" y="3989825"/>
            <a:ext cx="1926163" cy="0"/>
          </a:xfrm>
          <a:prstGeom prst="straightConnector1">
            <a:avLst/>
          </a:prstGeom>
          <a:noFill/>
          <a:ln w="476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4" name="Google Shape;224;p14"/>
          <p:cNvSpPr txBox="1"/>
          <p:nvPr/>
        </p:nvSpPr>
        <p:spPr>
          <a:xfrm>
            <a:off x="2118757" y="3832871"/>
            <a:ext cx="1465530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Montserrat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UNMANAGED </a:t>
            </a:r>
            <a:endParaRPr sz="14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5" name="Google Shape;225;p14"/>
          <p:cNvCxnSpPr/>
          <p:nvPr/>
        </p:nvCxnSpPr>
        <p:spPr>
          <a:xfrm>
            <a:off x="3825046" y="3990259"/>
            <a:ext cx="1924216" cy="0"/>
          </a:xfrm>
          <a:prstGeom prst="straightConnector1">
            <a:avLst/>
          </a:prstGeom>
          <a:noFill/>
          <a:ln w="47625" cap="flat" cmpd="sng">
            <a:solidFill>
              <a:srgbClr val="E5902A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6" name="Google Shape;226;p14"/>
          <p:cNvSpPr txBox="1"/>
          <p:nvPr/>
        </p:nvSpPr>
        <p:spPr>
          <a:xfrm>
            <a:off x="4177649" y="3836369"/>
            <a:ext cx="1160723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902A"/>
              </a:buClr>
              <a:buSzPts val="1400"/>
              <a:buFont typeface="Montserrat"/>
              <a:buNone/>
            </a:pPr>
            <a:r>
              <a:rPr lang="en-US" sz="1400" b="0" i="0" u="none" strike="noStrike" cap="none">
                <a:solidFill>
                  <a:srgbClr val="E5902A"/>
                </a:solidFill>
                <a:latin typeface="Montserrat"/>
                <a:ea typeface="Montserrat"/>
                <a:cs typeface="Montserrat"/>
                <a:sym typeface="Montserrat"/>
              </a:rPr>
              <a:t>IN TRIAGE </a:t>
            </a:r>
            <a:endParaRPr sz="1400" b="0" i="0" u="none" strike="noStrike" cap="none">
              <a:solidFill>
                <a:srgbClr val="E590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7" name="Google Shape;227;p14"/>
          <p:cNvCxnSpPr/>
          <p:nvPr/>
        </p:nvCxnSpPr>
        <p:spPr>
          <a:xfrm>
            <a:off x="5749262" y="3990259"/>
            <a:ext cx="1861516" cy="0"/>
          </a:xfrm>
          <a:prstGeom prst="straightConnector1">
            <a:avLst/>
          </a:prstGeom>
          <a:noFill/>
          <a:ln w="4762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8" name="Google Shape;228;p14"/>
          <p:cNvSpPr txBox="1"/>
          <p:nvPr/>
        </p:nvSpPr>
        <p:spPr>
          <a:xfrm>
            <a:off x="5931734" y="3836370"/>
            <a:ext cx="1452522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Montserrat"/>
              <a:buNone/>
            </a:pPr>
            <a:r>
              <a:rPr lang="en-US" sz="1400" b="0" i="0" u="none" strike="noStrike" cap="non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IN PROGRESS </a:t>
            </a:r>
            <a:endParaRPr sz="1400" b="0" i="0" u="none" strike="noStrike" cap="none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9" name="Google Shape;229;p14"/>
          <p:cNvCxnSpPr/>
          <p:nvPr/>
        </p:nvCxnSpPr>
        <p:spPr>
          <a:xfrm rot="10800000" flipH="1">
            <a:off x="7610778" y="3982076"/>
            <a:ext cx="2245178" cy="3980"/>
          </a:xfrm>
          <a:prstGeom prst="straightConnector1">
            <a:avLst/>
          </a:prstGeom>
          <a:noFill/>
          <a:ln w="47625" cap="flat" cmpd="sng">
            <a:solidFill>
              <a:srgbClr val="92D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0" name="Google Shape;230;p14"/>
          <p:cNvSpPr txBox="1"/>
          <p:nvPr/>
        </p:nvSpPr>
        <p:spPr>
          <a:xfrm>
            <a:off x="8253074" y="3828187"/>
            <a:ext cx="975822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1400"/>
              <a:buFont typeface="Montserrat"/>
              <a:buNone/>
            </a:pPr>
            <a:r>
              <a:rPr lang="en-US" sz="1400" b="0" i="0" u="none" strike="noStrike" cap="none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CLOSED </a:t>
            </a:r>
            <a:endParaRPr sz="1400" b="0" i="0" u="none" strike="noStrike" cap="none">
              <a:solidFill>
                <a:srgbClr val="92D0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1" name="Google Shape;231;p14"/>
          <p:cNvCxnSpPr>
            <a:stCxn id="210" idx="4"/>
            <a:endCxn id="205" idx="0"/>
          </p:cNvCxnSpPr>
          <p:nvPr/>
        </p:nvCxnSpPr>
        <p:spPr>
          <a:xfrm flipH="1">
            <a:off x="1896931" y="2896533"/>
            <a:ext cx="3900" cy="1637700"/>
          </a:xfrm>
          <a:prstGeom prst="straightConnector1">
            <a:avLst/>
          </a:prstGeom>
          <a:noFill/>
          <a:ln w="19050" cap="flat" cmpd="sng">
            <a:solidFill>
              <a:srgbClr val="616364"/>
            </a:solidFill>
            <a:prstDash val="dash"/>
            <a:round/>
            <a:headEnd type="triangle" w="med" len="med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>
                <a:solidFill>
                  <a:schemeClr val="accent2"/>
                </a:solidFill>
              </a:rPr>
              <a:t>CVSS not sufficient for prioritization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CVSS useful to measure the potential risk</a:t>
            </a:r>
            <a:endParaRPr>
              <a:solidFill>
                <a:schemeClr val="accent2"/>
              </a:solidFill>
            </a:endParaRPr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>
                <a:solidFill>
                  <a:schemeClr val="dk2"/>
                </a:solidFill>
              </a:rPr>
              <a:t>Context matters more than Severity Score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A vulnerability in a component that is not exposed to the network is very different from the same vulnerability in an internet-facing device.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>
                <a:solidFill>
                  <a:schemeClr val="dk2"/>
                </a:solidFill>
              </a:rPr>
              <a:t>Exploitability matters more than quantity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Fixing 50 theoretical vulnerabilities does not improve security as much as fixing 5 vulnerabilities that can really be exploited.</a:t>
            </a:r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Severity alone is no longer enough</a:t>
            </a:r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ARIANNA provides a </a:t>
            </a:r>
            <a:r>
              <a:rPr lang="en-US">
                <a:solidFill>
                  <a:schemeClr val="dk2"/>
                </a:solidFill>
              </a:rPr>
              <a:t>configurable pre-triage engine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It splits identified vulnerabilities in two classes </a:t>
            </a:r>
            <a:endParaRPr/>
          </a:p>
          <a:p>
            <a:pPr marL="804863" lvl="2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>
                <a:solidFill>
                  <a:schemeClr val="dk2"/>
                </a:solidFill>
              </a:rPr>
              <a:t>High Priority: </a:t>
            </a:r>
            <a:r>
              <a:rPr lang="en-US"/>
              <a:t>immediate TRIAGE required</a:t>
            </a:r>
            <a:endParaRPr/>
          </a:p>
          <a:p>
            <a:pPr marL="804863" lvl="2" indent="-23336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>
                <a:solidFill>
                  <a:schemeClr val="dk2"/>
                </a:solidFill>
              </a:rPr>
              <a:t>Low Priority: </a:t>
            </a:r>
            <a:r>
              <a:rPr lang="en-US"/>
              <a:t>risk ACCEPTED (vulnerability management is postponed)</a:t>
            </a:r>
            <a:endParaRPr/>
          </a:p>
          <a:p>
            <a:pPr marL="533400" lvl="1" indent="-23336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Reduce triage effort by prioritizing vulnerability management activities</a:t>
            </a:r>
            <a:endParaRPr/>
          </a:p>
          <a:p>
            <a:pPr marL="533400" lvl="1" indent="-23336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No automatic actions are taken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44" name="Google Shape;244;p16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Configurable Pre-Triage engine</a:t>
            </a:r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>
                <a:solidFill>
                  <a:schemeClr val="dk2"/>
                </a:solidFill>
              </a:rPr>
              <a:t>Prioritize vulnerabilities based on RISK</a:t>
            </a:r>
            <a:endParaRPr>
              <a:solidFill>
                <a:schemeClr val="dk2"/>
              </a:solidFill>
            </a:endParaRPr>
          </a:p>
          <a:p>
            <a:pPr marL="533400" lvl="1" indent="-23336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Triage CRITICAL &amp; HIGH RISK vulnerabilities only</a:t>
            </a:r>
            <a:endParaRPr/>
          </a:p>
          <a:p>
            <a:pPr marL="533400" lvl="1" indent="-23336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User can define which level of RISK is considered high priority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>
                <a:solidFill>
                  <a:schemeClr val="dk2"/>
                </a:solidFill>
              </a:rPr>
              <a:t>Prioritize vulnerabilities based on EXPLOITABILITY</a:t>
            </a:r>
            <a:endParaRPr/>
          </a:p>
          <a:p>
            <a:pPr marL="533400" lvl="1" indent="-23336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Triage only vulnerabilities that can be EXPLOITED on the target device</a:t>
            </a:r>
            <a:endParaRPr/>
          </a:p>
          <a:p>
            <a:pPr marL="804863" lvl="2" indent="-23336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333"/>
              <a:buChar char="o"/>
            </a:pPr>
            <a:r>
              <a:rPr lang="en-US" sz="1333"/>
              <a:t>Vulnerabilities included in the ARIANNA KEV catalogue (Known Exploited Vulnerabilities)</a:t>
            </a:r>
            <a:endParaRPr/>
          </a:p>
          <a:p>
            <a:pPr marL="804863" lvl="2" indent="-23336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333"/>
              <a:buChar char="o"/>
            </a:pPr>
            <a:r>
              <a:rPr lang="en-US" sz="1333"/>
              <a:t>Vulnerabilities with high probability of attack in the next 30 days (EPSS index &gt; 10)</a:t>
            </a:r>
            <a:endParaRPr/>
          </a:p>
        </p:txBody>
      </p:sp>
      <p:sp>
        <p:nvSpPr>
          <p:cNvPr id="251" name="Google Shape;251;p17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Pre-Triage engine configuration</a:t>
            </a:r>
            <a:endParaRPr/>
          </a:p>
        </p:txBody>
      </p:sp>
      <p:sp>
        <p:nvSpPr>
          <p:cNvPr id="252" name="Google Shape;252;p17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" name="Google Shape;257;p18"/>
          <p:cNvCxnSpPr>
            <a:stCxn id="258" idx="1"/>
            <a:endCxn id="259" idx="7"/>
          </p:cNvCxnSpPr>
          <p:nvPr/>
        </p:nvCxnSpPr>
        <p:spPr>
          <a:xfrm rot="5400000">
            <a:off x="5823571" y="-346029"/>
            <a:ext cx="600" cy="6591300"/>
          </a:xfrm>
          <a:prstGeom prst="bentConnector3">
            <a:avLst>
              <a:gd name="adj1" fmla="val -51100669"/>
            </a:avLst>
          </a:prstGeom>
          <a:noFill/>
          <a:ln w="38100" cap="flat" cmpd="sng">
            <a:solidFill>
              <a:srgbClr val="3FBAB7"/>
            </a:solidFill>
            <a:prstDash val="dash"/>
            <a:miter lim="800000"/>
            <a:headEnd type="none" w="sm" len="sm"/>
            <a:tailEnd type="stealth" w="med" len="med"/>
          </a:ln>
        </p:spPr>
      </p:cxnSp>
      <p:sp>
        <p:nvSpPr>
          <p:cNvPr id="260" name="Google Shape;260;p18"/>
          <p:cNvSpPr txBox="1">
            <a:spLocks noGrp="1"/>
          </p:cNvSpPr>
          <p:nvPr>
            <p:ph type="title"/>
          </p:nvPr>
        </p:nvSpPr>
        <p:spPr>
          <a:xfrm>
            <a:off x="280374" y="131950"/>
            <a:ext cx="10200226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Vulnerability Management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1" name="Google Shape;261;p18"/>
          <p:cNvCxnSpPr>
            <a:stCxn id="262" idx="6"/>
            <a:endCxn id="263" idx="2"/>
          </p:cNvCxnSpPr>
          <p:nvPr/>
        </p:nvCxnSpPr>
        <p:spPr>
          <a:xfrm>
            <a:off x="4693386" y="3145500"/>
            <a:ext cx="1811400" cy="60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64" name="Google Shape;264;p18"/>
          <p:cNvSpPr txBox="1"/>
          <p:nvPr/>
        </p:nvSpPr>
        <p:spPr>
          <a:xfrm>
            <a:off x="5855139" y="1742763"/>
            <a:ext cx="18394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ADDRESSING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8224587" y="1727582"/>
            <a:ext cx="21717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(DIS)CLOSURE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521352" y="2857500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31245" y="1763781"/>
            <a:ext cx="151899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IDENTIFICATION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3667301" y="1740167"/>
            <a:ext cx="151216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TRIAGE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18"/>
          <p:cNvCxnSpPr>
            <a:stCxn id="268" idx="2"/>
            <a:endCxn id="262" idx="0"/>
          </p:cNvCxnSpPr>
          <p:nvPr/>
        </p:nvCxnSpPr>
        <p:spPr>
          <a:xfrm>
            <a:off x="4423385" y="2386498"/>
            <a:ext cx="0" cy="4710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270" name="Google Shape;270;p18"/>
          <p:cNvCxnSpPr>
            <a:stCxn id="267" idx="2"/>
            <a:endCxn id="266" idx="0"/>
          </p:cNvCxnSpPr>
          <p:nvPr/>
        </p:nvCxnSpPr>
        <p:spPr>
          <a:xfrm>
            <a:off x="790741" y="2410112"/>
            <a:ext cx="600" cy="4473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271" name="Google Shape;271;p18"/>
          <p:cNvCxnSpPr>
            <a:stCxn id="265" idx="2"/>
            <a:endCxn id="258" idx="0"/>
          </p:cNvCxnSpPr>
          <p:nvPr/>
        </p:nvCxnSpPr>
        <p:spPr>
          <a:xfrm>
            <a:off x="9310440" y="2373913"/>
            <a:ext cx="0" cy="4911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cxnSp>
        <p:nvCxnSpPr>
          <p:cNvPr id="272" name="Google Shape;272;p18"/>
          <p:cNvCxnSpPr>
            <a:stCxn id="264" idx="2"/>
            <a:endCxn id="263" idx="0"/>
          </p:cNvCxnSpPr>
          <p:nvPr/>
        </p:nvCxnSpPr>
        <p:spPr>
          <a:xfrm>
            <a:off x="6774848" y="2389094"/>
            <a:ext cx="0" cy="469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miter lim="800000"/>
            <a:headEnd type="oval" w="med" len="med"/>
            <a:tailEnd type="none" w="sm" len="sm"/>
          </a:ln>
        </p:spPr>
      </p:cxnSp>
      <p:sp>
        <p:nvSpPr>
          <p:cNvPr id="262" name="Google Shape;262;p18"/>
          <p:cNvSpPr/>
          <p:nvPr/>
        </p:nvSpPr>
        <p:spPr>
          <a:xfrm>
            <a:off x="4153386" y="2857500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6504848" y="2858215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9040440" y="2864968"/>
            <a:ext cx="540000" cy="576000"/>
          </a:xfrm>
          <a:prstGeom prst="ellipse">
            <a:avLst/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18"/>
          <p:cNvCxnSpPr>
            <a:stCxn id="262" idx="4"/>
            <a:endCxn id="258" idx="3"/>
          </p:cNvCxnSpPr>
          <p:nvPr/>
        </p:nvCxnSpPr>
        <p:spPr>
          <a:xfrm rot="-5400000">
            <a:off x="6733086" y="1047000"/>
            <a:ext cx="76800" cy="4696200"/>
          </a:xfrm>
          <a:prstGeom prst="bentConnector3">
            <a:avLst>
              <a:gd name="adj1" fmla="val -819349"/>
            </a:avLst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74" name="Google Shape;274;p18"/>
          <p:cNvCxnSpPr>
            <a:stCxn id="263" idx="6"/>
            <a:endCxn id="258" idx="2"/>
          </p:cNvCxnSpPr>
          <p:nvPr/>
        </p:nvCxnSpPr>
        <p:spPr>
          <a:xfrm>
            <a:off x="7044848" y="3146215"/>
            <a:ext cx="1995600" cy="690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75" name="Google Shape;275;p18"/>
          <p:cNvCxnSpPr>
            <a:stCxn id="266" idx="6"/>
            <a:endCxn id="259" idx="2"/>
          </p:cNvCxnSpPr>
          <p:nvPr/>
        </p:nvCxnSpPr>
        <p:spPr>
          <a:xfrm>
            <a:off x="1061352" y="3145500"/>
            <a:ext cx="1005900" cy="750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76" name="Google Shape;276;p18"/>
          <p:cNvSpPr txBox="1"/>
          <p:nvPr/>
        </p:nvSpPr>
        <p:spPr>
          <a:xfrm>
            <a:off x="4453806" y="4100669"/>
            <a:ext cx="29436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NOT APPLICABLE | ACCEPTED</a:t>
            </a: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7083856" y="3192213"/>
            <a:ext cx="17022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FIXED</a:t>
            </a:r>
            <a:r>
              <a:rPr lang="en-US" sz="1200" b="0" i="1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MITIGATED</a:t>
            </a: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2067369" y="2864968"/>
            <a:ext cx="540000" cy="576000"/>
          </a:xfrm>
          <a:prstGeom prst="ellipse">
            <a:avLst/>
          </a:prstGeom>
          <a:solidFill>
            <a:srgbClr val="41BAB7"/>
          </a:solidFill>
          <a:ln w="12700" cap="flat" cmpd="sng">
            <a:solidFill>
              <a:srgbClr val="41BAB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18"/>
          <p:cNvCxnSpPr>
            <a:stCxn id="259" idx="6"/>
            <a:endCxn id="262" idx="2"/>
          </p:cNvCxnSpPr>
          <p:nvPr/>
        </p:nvCxnSpPr>
        <p:spPr>
          <a:xfrm rot="10800000" flipH="1">
            <a:off x="2607369" y="3145468"/>
            <a:ext cx="1545900" cy="7500"/>
          </a:xfrm>
          <a:prstGeom prst="straightConnector1">
            <a:avLst/>
          </a:prstGeom>
          <a:noFill/>
          <a:ln w="38100" cap="flat" cmpd="sng">
            <a:solidFill>
              <a:srgbClr val="41BAB7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79" name="Google Shape;279;p18"/>
          <p:cNvCxnSpPr>
            <a:stCxn id="280" idx="2"/>
            <a:endCxn id="259" idx="0"/>
          </p:cNvCxnSpPr>
          <p:nvPr/>
        </p:nvCxnSpPr>
        <p:spPr>
          <a:xfrm>
            <a:off x="2337369" y="1658132"/>
            <a:ext cx="0" cy="1206900"/>
          </a:xfrm>
          <a:prstGeom prst="straightConnector1">
            <a:avLst/>
          </a:prstGeom>
          <a:noFill/>
          <a:ln w="19050" cap="flat" cmpd="sng">
            <a:solidFill>
              <a:srgbClr val="3FBAB7"/>
            </a:solidFill>
            <a:prstDash val="dot"/>
            <a:miter lim="800000"/>
            <a:headEnd type="oval" w="med" len="med"/>
            <a:tailEnd type="none" w="sm" len="sm"/>
          </a:ln>
        </p:spPr>
      </p:cxnSp>
      <p:sp>
        <p:nvSpPr>
          <p:cNvPr id="280" name="Google Shape;280;p18"/>
          <p:cNvSpPr txBox="1"/>
          <p:nvPr/>
        </p:nvSpPr>
        <p:spPr>
          <a:xfrm>
            <a:off x="1581285" y="1011801"/>
            <a:ext cx="151216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AB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BAB7"/>
                </a:solidFill>
                <a:latin typeface="Arial"/>
                <a:ea typeface="Arial"/>
                <a:cs typeface="Arial"/>
                <a:sym typeface="Arial"/>
              </a:rPr>
              <a:t>VULNERABILITY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AB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FBAB7"/>
                </a:solidFill>
                <a:latin typeface="Arial"/>
                <a:ea typeface="Arial"/>
                <a:cs typeface="Arial"/>
                <a:sym typeface="Arial"/>
              </a:rPr>
              <a:t>PRE-TRIAGE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B32F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18"/>
          <p:cNvCxnSpPr>
            <a:stCxn id="259" idx="4"/>
            <a:endCxn id="258" idx="4"/>
          </p:cNvCxnSpPr>
          <p:nvPr/>
        </p:nvCxnSpPr>
        <p:spPr>
          <a:xfrm rot="-5400000" flipH="1">
            <a:off x="5823669" y="-45332"/>
            <a:ext cx="600" cy="6973200"/>
          </a:xfrm>
          <a:prstGeom prst="bentConnector3">
            <a:avLst>
              <a:gd name="adj1" fmla="val 208949249"/>
            </a:avLst>
          </a:prstGeom>
          <a:noFill/>
          <a:ln w="38100" cap="flat" cmpd="sng">
            <a:solidFill>
              <a:srgbClr val="3FBAB7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82" name="Google Shape;282;p18"/>
          <p:cNvSpPr txBox="1"/>
          <p:nvPr/>
        </p:nvSpPr>
        <p:spPr>
          <a:xfrm>
            <a:off x="2685447" y="4814341"/>
            <a:ext cx="29436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 PRIORITY = ACCEPTED</a:t>
            </a:r>
            <a:endParaRPr sz="12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2621747" y="3188512"/>
            <a:ext cx="15316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 PRIORITY</a:t>
            </a:r>
            <a:endParaRPr sz="12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1039531" y="3188512"/>
            <a:ext cx="12328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ALL VULNs</a:t>
            </a:r>
            <a:endParaRPr sz="1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8"/>
          <p:cNvSpPr txBox="1"/>
          <p:nvPr/>
        </p:nvSpPr>
        <p:spPr>
          <a:xfrm>
            <a:off x="7844294" y="2346347"/>
            <a:ext cx="15316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RE-EVALUATE</a:t>
            </a:r>
            <a:endParaRPr sz="12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8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5334426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2775 identified vulnerabilities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Prioritization based on Severity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CVSS Score &gt; 7.0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>
                <a:solidFill>
                  <a:srgbClr val="C00000"/>
                </a:solidFill>
              </a:rPr>
              <a:t>27 Critical Severity (1%)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>
                <a:solidFill>
                  <a:srgbClr val="FF0000"/>
                </a:solidFill>
              </a:rPr>
              <a:t>807 High Severity (29.1%)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>
                <a:solidFill>
                  <a:srgbClr val="7F7F7F"/>
                </a:solidFill>
              </a:rPr>
              <a:t>834 vulnerabilities to be triaged ASAP</a:t>
            </a: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7F7F7F"/>
              </a:solidFill>
            </a:endParaRPr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FF0000"/>
              </a:solidFill>
            </a:endParaRPr>
          </a:p>
          <a:p>
            <a:pPr marL="269875" lvl="0" indent="-117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None/>
            </a:pPr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YOCTO Connected Device</a:t>
            </a:r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94" name="Google Shape;2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7751" y="1119334"/>
            <a:ext cx="37054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/>
          <p:nvPr/>
        </p:nvSpPr>
        <p:spPr>
          <a:xfrm>
            <a:off x="407983" y="1248001"/>
            <a:ext cx="18473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19"/>
          <p:cNvCxnSpPr>
            <a:endCxn id="296" idx="1"/>
          </p:cNvCxnSpPr>
          <p:nvPr/>
        </p:nvCxnSpPr>
        <p:spPr>
          <a:xfrm rot="-5400000" flipH="1">
            <a:off x="6434282" y="3663471"/>
            <a:ext cx="1251900" cy="216000"/>
          </a:xfrm>
          <a:prstGeom prst="bentConnector2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oval" w="med" len="med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0"/>
          <p:cNvPicPr preferRelativeResize="0"/>
          <p:nvPr/>
        </p:nvPicPr>
        <p:blipFill rotWithShape="1">
          <a:blip r:embed="rId3">
            <a:alphaModFix/>
          </a:blip>
          <a:srcRect t="9137"/>
          <a:stretch/>
        </p:blipFill>
        <p:spPr>
          <a:xfrm>
            <a:off x="5601178" y="1123284"/>
            <a:ext cx="3816424" cy="202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0"/>
          <p:cNvPicPr preferRelativeResize="0"/>
          <p:nvPr/>
        </p:nvPicPr>
        <p:blipFill rotWithShape="1">
          <a:blip r:embed="rId4">
            <a:alphaModFix/>
          </a:blip>
          <a:srcRect t="8239" b="6750"/>
          <a:stretch/>
        </p:blipFill>
        <p:spPr>
          <a:xfrm>
            <a:off x="5785576" y="3073524"/>
            <a:ext cx="3928739" cy="194711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0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562245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000"/>
              <a:buChar char="●"/>
            </a:pPr>
            <a:r>
              <a:rPr lang="en-US" sz="2000"/>
              <a:t>2775 identified vulnerabilities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305" name="Google Shape;305;p20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YOCTO Connected Device</a:t>
            </a:r>
            <a:endParaRPr/>
          </a:p>
        </p:txBody>
      </p:sp>
      <p:sp>
        <p:nvSpPr>
          <p:cNvPr id="306" name="Google Shape;306;p20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471013" y="1345332"/>
            <a:ext cx="562245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marR="0" lvl="0" indent="-206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000"/>
              <a:buFont typeface="Helvetica Neue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875" marR="0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000"/>
              <a:buFont typeface="Helvetica Neue"/>
              <a:buChar char="●"/>
            </a:pPr>
            <a:r>
              <a:rPr lang="en-US" sz="2000" b="0" i="0" u="none" strike="noStrike" cap="none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Prioritization based on Severity</a:t>
            </a:r>
            <a:endParaRPr/>
          </a:p>
          <a:p>
            <a:pPr marL="533400" marR="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CVSS Score &gt; 7.0 (Critical &amp; High)</a:t>
            </a:r>
            <a:endParaRPr/>
          </a:p>
          <a:p>
            <a:pPr marL="533400" marR="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834 vulnerabilities to triage ASAP (1% + 29.1%)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1050"/>
              <a:buFont typeface="Helvetica Neue"/>
              <a:buNone/>
            </a:pPr>
            <a:endParaRPr sz="1050" b="0" i="0" u="none" strike="noStrike" cap="non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875" marR="0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000"/>
              <a:buFont typeface="Helvetica Neue"/>
              <a:buChar char="●"/>
            </a:pPr>
            <a:r>
              <a:rPr lang="en-US" sz="2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Prioritization based on Exploitability</a:t>
            </a:r>
            <a:endParaRPr/>
          </a:p>
          <a:p>
            <a:pPr marL="533400" marR="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Proof of Exploitation or Weaponized exploit</a:t>
            </a:r>
            <a:endParaRPr/>
          </a:p>
          <a:p>
            <a:pPr marL="533400" marR="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Attack Vector reachable by an attacker</a:t>
            </a:r>
            <a:endParaRPr/>
          </a:p>
          <a:p>
            <a:pPr marL="533400" marR="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41BAB7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10 vulnerabilities to triage ASAP (0.4%)</a:t>
            </a:r>
            <a:endParaRPr sz="1600" b="1" i="0" u="none" strike="noStrike" cap="non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875" marR="0" lvl="0" indent="-117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000"/>
              <a:buChar char="●"/>
            </a:pPr>
            <a:r>
              <a:rPr lang="en-US" sz="2000"/>
              <a:t>ARIANNA KEV contains vulnerabilities with </a:t>
            </a:r>
            <a:r>
              <a:rPr lang="en-US" sz="2000">
                <a:solidFill>
                  <a:schemeClr val="dk2"/>
                </a:solidFill>
              </a:rPr>
              <a:t>evidence of exploitation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Vulnerabilities contained in the CISA KEV catalogue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Vulnerabilities  with proof of exploitation according to European Vulnerabilities Database (EUVD)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Vulnerabilities with a weaponized  or verified exploit detected by ARIANNA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000"/>
              <a:buChar char="●"/>
            </a:pPr>
            <a:r>
              <a:rPr lang="en-US" sz="2000">
                <a:solidFill>
                  <a:schemeClr val="accent3"/>
                </a:solidFill>
              </a:rPr>
              <a:t>Broader and faster coverage </a:t>
            </a:r>
            <a:r>
              <a:rPr lang="en-US" sz="2000"/>
              <a:t>than CISA KEV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 sz="1400"/>
              <a:t>Accelerate prioritization and remediation</a:t>
            </a:r>
            <a:endParaRPr/>
          </a:p>
          <a:p>
            <a:pPr marL="533400" lvl="1" indent="-1714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13" name="Google Shape;313;p21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ARIANNA KEV catalogue</a:t>
            </a:r>
            <a:endParaRPr/>
          </a:p>
        </p:txBody>
      </p:sp>
      <p:sp>
        <p:nvSpPr>
          <p:cNvPr id="314" name="Google Shape;314;p21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en-US" sz="2800"/>
              <a:t>4. Reporting</a:t>
            </a:r>
            <a:endParaRPr/>
          </a:p>
        </p:txBody>
      </p:sp>
      <p:sp>
        <p:nvSpPr>
          <p:cNvPr id="320" name="Google Shape;320;p22"/>
          <p:cNvSpPr txBox="1"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to export HBOM, SBOM and vulnerabilities report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SBOM (and HBOM) export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Standard formats (CycloneDX or SPDX)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NTIA Minimum Requirements satisfied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Possibility to exclude components from the exported SBOM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Vulnerability Report export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Report on-demand (PDF or VEX format)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Automatic monthly report (PDF format)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All actions taken on vulnerabilities are logged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/>
              <a:t>Notification date, Closure date, Status change dates</a:t>
            </a: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85750" lvl="1" indent="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Reports for customers &amp; regulatory bodies</a:t>
            </a:r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"/>
          <p:cNvSpPr txBox="1"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</a:pPr>
            <a:br>
              <a:rPr lang="en-US"/>
            </a:br>
            <a:r>
              <a:rPr lang="en-US" sz="2800"/>
              <a:t>5. Collaboration among teams</a:t>
            </a:r>
            <a:endParaRPr/>
          </a:p>
        </p:txBody>
      </p:sp>
      <p:sp>
        <p:nvSpPr>
          <p:cNvPr id="333" name="Google Shape;333;p24"/>
          <p:cNvSpPr txBox="1"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to share SBOM, and information on vulnerability management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ARIANNA Project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Every time a new device need to be monitored, a new Project must be created in ARIANNA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Only selected Users can access to a Project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ARIANNA Users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A User can be added to multiple projects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Same User can have different roles in each project: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>
                <a:solidFill>
                  <a:schemeClr val="dk2"/>
                </a:solidFill>
              </a:rPr>
              <a:t>OWNER</a:t>
            </a:r>
            <a:r>
              <a:rPr lang="en-US"/>
              <a:t>: configure project policies, add/remove users, check vulnerabilities and take actions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>
                <a:solidFill>
                  <a:schemeClr val="dk2"/>
                </a:solidFill>
              </a:rPr>
              <a:t>MEMBER</a:t>
            </a:r>
            <a:r>
              <a:rPr lang="en-US"/>
              <a:t>: check identified vulnerabilities and take actions 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>
                <a:solidFill>
                  <a:schemeClr val="dk2"/>
                </a:solidFill>
              </a:rPr>
              <a:t>OBSERVER</a:t>
            </a:r>
            <a:r>
              <a:rPr lang="en-US"/>
              <a:t>: check identified vulnerabilities and download reports, SBOM &amp; HBOM</a:t>
            </a: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39" name="Google Shape;339;p25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Projects &amp; User Roles</a:t>
            </a:r>
            <a:endParaRPr/>
          </a:p>
        </p:txBody>
      </p:sp>
      <p:sp>
        <p:nvSpPr>
          <p:cNvPr id="340" name="Google Shape;340;p25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Collaboration among teams in ARIANNA</a:t>
            </a:r>
            <a:endParaRPr/>
          </a:p>
        </p:txBody>
      </p:sp>
      <p:sp>
        <p:nvSpPr>
          <p:cNvPr id="346" name="Google Shape;346;p26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347" name="Google Shape;347;p26" descr="&lt;svg xmlns=&quot;http://www.w3.org/2000/svg&quot; height=&quot;48px&quot; viewBox=&quot;0 -960 960 960&quot; width=&quot;48px&quot; fill=&quot;#5f6368&quot;&gt;&lt;path d=&quot;M0-240v-53q0-38.57 41.5-62.78Q83-380 150.38-380q12.16 0 23.39.5t22.23 2.15q-8 17.35-12 35.17-4 17.81-4 37.18v65H0Zm240 0v-65q0-32 17.5-58.5T307-410q32-20 76.5-30t96.5-10q53 0 97.5 10t76.5 30q32 20 49 46.5t17 58.5v65H240Zm540 0v-65q0-19.86-3.5-37.43T765-377.27q11-1.73 22.17-2.23 11.17-.5 22.83-.5 67.5 0 108.75 23.77T960-293v53H780Zm-480-60h360v-6q0-37-50.5-60.5T480-390q-79 0-129.5 23.5T300-305v5ZM149.57-410q-28.57 0-49.07-20.56Q80-451.13 80-480q0-29 20.56-49.5Q121.13-550 150-550q29 0 49.5 20.5t20.5 49.93q0 28.57-20.5 49.07T149.57-410Zm660 0q-28.57 0-49.07-20.56Q740-451.13 740-480q0-29 20.56-49.5Q781.13-550 810-550q29 0 49.5 20.5t20.5 49.93q0 28.57-20.5 49.07T809.57-410ZM480-480q-50 0-85-35t-35-85q0-51 35-85.5t85-34.5q51 0 85.5 34.5T600-600q0 50-34.5 85T480-480Zm.35-60Q506-540 523-557.35t17-43Q540-626 522.85-643t-42.5-17q-25.35 0-42.85 17.15t-17.5 42.5q0 25.35 17.35 42.85t43 17.5ZM480-300Zm0-300Z&quot;/&gt;&lt;/svg&g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7147" y="1561356"/>
            <a:ext cx="1088503" cy="1088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6" descr="&lt;svg xmlns=&quot;http://www.w3.org/2000/svg&quot; height=&quot;48px&quot; viewBox=&quot;0 -960 960 960&quot; width=&quot;48px&quot; fill=&quot;#5f6368&quot;&gt;&lt;path d=&quot;M0-240v-53q0-38.57 41.5-62.78Q83-380 150.38-380q12.16 0 23.39.5t22.23 2.15q-8 17.35-12 35.17-4 17.81-4 37.18v65H0Zm240 0v-65q0-32 17.5-58.5T307-410q32-20 76.5-30t96.5-10q53 0 97.5 10t76.5 30q32 20 49 46.5t17 58.5v65H240Zm540 0v-65q0-19.86-3.5-37.43T765-377.27q11-1.73 22.17-2.23 11.17-.5 22.83-.5 67.5 0 108.75 23.77T960-293v53H780Zm-480-60h360v-6q0-37-50.5-60.5T480-390q-79 0-129.5 23.5T300-305v5ZM149.57-410q-28.57 0-49.07-20.56Q80-451.13 80-480q0-29 20.56-49.5Q121.13-550 150-550q29 0 49.5 20.5t20.5 49.93q0 28.57-20.5 49.07T149.57-410Zm660 0q-28.57 0-49.07-20.56Q740-451.13 740-480q0-29 20.56-49.5Q781.13-550 810-550q29 0 49.5 20.5t20.5 49.93q0 28.57-20.5 49.07T809.57-410ZM480-480q-50 0-85-35t-35-85q0-51 35-85.5t85-34.5q51 0 85.5 34.5T600-600q0 50-34.5 85T480-480Zm.35-60Q506-540 523-557.35t17-43Q540-626 522.85-643t-42.5-17q-25.35 0-42.85 17.15t-17.5 42.5q0 25.35 17.35 42.85t43 17.5ZM480-300Zm0-300Z&quot;/&gt;&lt;/svg&gt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1213" y="3354453"/>
            <a:ext cx="1088503" cy="108850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 txBox="1"/>
          <p:nvPr/>
        </p:nvSpPr>
        <p:spPr>
          <a:xfrm>
            <a:off x="4819156" y="2388249"/>
            <a:ext cx="1080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24B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88B24B"/>
                </a:solidFill>
                <a:latin typeface="Arial"/>
                <a:ea typeface="Arial"/>
                <a:cs typeface="Arial"/>
                <a:sym typeface="Arial"/>
              </a:rPr>
              <a:t>TEAM A</a:t>
            </a:r>
            <a:endParaRPr/>
          </a:p>
        </p:txBody>
      </p:sp>
      <p:sp>
        <p:nvSpPr>
          <p:cNvPr id="350" name="Google Shape;350;p26"/>
          <p:cNvSpPr/>
          <p:nvPr/>
        </p:nvSpPr>
        <p:spPr>
          <a:xfrm>
            <a:off x="4580819" y="1479363"/>
            <a:ext cx="2254199" cy="119869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B4AF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PROJECT A</a:t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4575944" y="3258607"/>
            <a:ext cx="2259074" cy="119279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B4AF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PROJECT B</a:t>
            </a: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6535390" y="1652549"/>
            <a:ext cx="864096" cy="72007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SBOM &amp; HBOM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4822440" y="4181346"/>
            <a:ext cx="1080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918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D9181"/>
                </a:solidFill>
                <a:latin typeface="Arial"/>
                <a:ea typeface="Arial"/>
                <a:cs typeface="Arial"/>
                <a:sym typeface="Arial"/>
              </a:rPr>
              <a:t>TEAM B</a:t>
            </a:r>
            <a:endParaRPr/>
          </a:p>
        </p:txBody>
      </p:sp>
      <p:sp>
        <p:nvSpPr>
          <p:cNvPr id="354" name="Google Shape;354;p26"/>
          <p:cNvSpPr/>
          <p:nvPr/>
        </p:nvSpPr>
        <p:spPr>
          <a:xfrm>
            <a:off x="6535390" y="3363189"/>
            <a:ext cx="864096" cy="720079"/>
          </a:xfrm>
          <a:prstGeom prst="roundRect">
            <a:avLst>
              <a:gd name="adj" fmla="val 16667"/>
            </a:avLst>
          </a:prstGeom>
          <a:solidFill>
            <a:srgbClr val="ED9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SBOM &amp; HBOM</a:t>
            </a:r>
            <a:endParaRPr/>
          </a:p>
        </p:txBody>
      </p:sp>
      <p:sp>
        <p:nvSpPr>
          <p:cNvPr id="355" name="Google Shape;355;p26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3857487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200"/>
              <a:buChar char="●"/>
            </a:pPr>
            <a:r>
              <a:rPr lang="en-US" sz="1200">
                <a:solidFill>
                  <a:srgbClr val="88B24B"/>
                </a:solidFill>
              </a:rPr>
              <a:t>TeamA</a:t>
            </a:r>
            <a:r>
              <a:rPr lang="en-US" sz="1200"/>
              <a:t> &amp; </a:t>
            </a:r>
            <a:r>
              <a:rPr lang="en-US" sz="1200">
                <a:solidFill>
                  <a:srgbClr val="ED9181"/>
                </a:solidFill>
              </a:rPr>
              <a:t>TeamB</a:t>
            </a:r>
            <a:r>
              <a:rPr lang="en-US" sz="1200"/>
              <a:t> work on 2 different projects, both monitored in ARIANNA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Each team take care of the vulnerability management of its own project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1200"/>
              <a:buChar char="●"/>
            </a:pPr>
            <a:r>
              <a:rPr lang="en-US" sz="1200">
                <a:solidFill>
                  <a:schemeClr val="dk2"/>
                </a:solidFill>
              </a:rPr>
              <a:t>TeamC</a:t>
            </a:r>
            <a:r>
              <a:rPr lang="en-US" sz="1200"/>
              <a:t> integrates ProjectA and ProjectB in a system, and open a new project in ARIANNA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1200"/>
              <a:buChar char="●"/>
            </a:pPr>
            <a:r>
              <a:rPr lang="en-US" sz="1200">
                <a:solidFill>
                  <a:schemeClr val="dk2"/>
                </a:solidFill>
              </a:rPr>
              <a:t>TeamC</a:t>
            </a:r>
            <a:r>
              <a:rPr lang="en-US" sz="1200"/>
              <a:t> would like to piggyback on vulnerability management of </a:t>
            </a:r>
            <a:r>
              <a:rPr lang="en-US" sz="1200">
                <a:solidFill>
                  <a:srgbClr val="88B24B"/>
                </a:solidFill>
              </a:rPr>
              <a:t>TeamA</a:t>
            </a:r>
            <a:r>
              <a:rPr lang="en-US" sz="1200"/>
              <a:t> &amp; </a:t>
            </a:r>
            <a:r>
              <a:rPr lang="en-US" sz="1200">
                <a:solidFill>
                  <a:srgbClr val="ED9181"/>
                </a:solidFill>
              </a:rPr>
              <a:t>TeamB</a:t>
            </a:r>
            <a:r>
              <a:rPr lang="en-US" sz="1200"/>
              <a:t> for the components coming from ProjectA and ProjectB respectively</a:t>
            </a:r>
            <a:endParaRPr/>
          </a:p>
          <a:p>
            <a:pPr marL="285750" lvl="1" indent="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000"/>
              <a:buNone/>
            </a:pPr>
            <a:endParaRPr sz="1000" i="1"/>
          </a:p>
          <a:p>
            <a:pPr marL="533400" lvl="1" indent="-1841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000"/>
              <a:buNone/>
            </a:pPr>
            <a:endParaRPr sz="1000"/>
          </a:p>
        </p:txBody>
      </p:sp>
      <p:sp>
        <p:nvSpPr>
          <p:cNvPr id="356" name="Google Shape;356;p26"/>
          <p:cNvSpPr/>
          <p:nvPr/>
        </p:nvSpPr>
        <p:spPr>
          <a:xfrm>
            <a:off x="6629462" y="1156063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VULNs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  <p:sp>
        <p:nvSpPr>
          <p:cNvPr id="357" name="Google Shape;357;p26"/>
          <p:cNvSpPr/>
          <p:nvPr/>
        </p:nvSpPr>
        <p:spPr>
          <a:xfrm>
            <a:off x="6619356" y="2857500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ED91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918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D9181"/>
                </a:solidFill>
                <a:latin typeface="Arial"/>
                <a:ea typeface="Arial"/>
                <a:cs typeface="Arial"/>
                <a:sym typeface="Arial"/>
              </a:rPr>
              <a:t>VULNs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918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D9181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Collaboration among teams in ARIANNA</a:t>
            </a:r>
            <a:endParaRPr/>
          </a:p>
        </p:txBody>
      </p:sp>
      <p:sp>
        <p:nvSpPr>
          <p:cNvPr id="363" name="Google Shape;363;p27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64" name="Google Shape;364;p27" descr="&lt;svg xmlns=&quot;http://www.w3.org/2000/svg&quot; height=&quot;48px&quot; viewBox=&quot;0 -960 960 960&quot; width=&quot;48px&quot; fill=&quot;#5f6368&quot;&gt;&lt;path d=&quot;M480-481q-66 0-108-42t-42-108q0-66 42-108t108-42q66 0 108 42t42 108q0 66-42 108t-108 42ZM160-160v-94q0-38 19-65t49-41q67-30 128.5-45T480-420q62 0 123 15.5t127.92 44.69q31.3 14.13 50.19 40.97Q800-292 800-254v94H160Zm60-60h520v-34q0-16-9.5-30.5T707-306q-64-31-117-42.5T480-360q-57 0-111 11.5T252-306q-14 7-23 21.5t-9 30.5v34Zm260-321q39 0 64.5-25.5T570-631q0-39-25.5-64.5T480-721q-39 0-64.5 25.5T390-631q0 39 25.5 64.5T480-541Zm0-90Zm0 411Z&quot;/&gt;&lt;/svg&g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2439" y="1725923"/>
            <a:ext cx="618195" cy="61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 descr="&lt;svg xmlns=&quot;http://www.w3.org/2000/svg&quot; height=&quot;48px&quot; viewBox=&quot;0 -960 960 960&quot; width=&quot;48px&quot; fill=&quot;#5f6368&quot;&gt;&lt;path d=&quot;M0-240v-53q0-38.57 41.5-62.78Q83-380 150.38-380q12.16 0 23.39.5t22.23 2.15q-8 17.35-12 35.17-4 17.81-4 37.18v65H0Zm240 0v-65q0-32 17.5-58.5T307-410q32-20 76.5-30t96.5-10q53 0 97.5 10t76.5 30q32 20 49 46.5t17 58.5v65H240Zm540 0v-65q0-19.86-3.5-37.43T765-377.27q11-1.73 22.17-2.23 11.17-.5 22.83-.5 67.5 0 108.75 23.77T960-293v53H780Zm-480-60h360v-6q0-37-50.5-60.5T480-390q-79 0-129.5 23.5T300-305v5ZM149.57-410q-28.57 0-49.07-20.56Q80-451.13 80-480q0-29 20.56-49.5Q121.13-550 150-550q29 0 49.5 20.5t20.5 49.93q0 28.57-20.5 49.07T149.57-410Zm660 0q-28.57 0-49.07-20.56Q740-451.13 740-480q0-29 20.56-49.5Q781.13-550 810-550q29 0 49.5 20.5t20.5 49.93q0 28.57-20.5 49.07T809.57-410ZM480-480q-50 0-85-35t-35-85q0-51 35-85.5t85-34.5q51 0 85.5 34.5T600-600q0 50-34.5 85T480-480Zm.35-60Q506-540 523-557.35t17-43Q540-626 522.85-643t-42.5-17q-25.35 0-42.85 17.15t-17.5 42.5q0 25.35 17.35 42.85t43 17.5ZM480-300Zm0-300Z&quot;/&gt;&lt;/svg&gt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18364" y="3034535"/>
            <a:ext cx="1088503" cy="108850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7"/>
          <p:cNvSpPr txBox="1"/>
          <p:nvPr/>
        </p:nvSpPr>
        <p:spPr>
          <a:xfrm>
            <a:off x="5636252" y="2240454"/>
            <a:ext cx="114093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TEAM C OBSERVER</a:t>
            </a:r>
            <a:endParaRPr/>
          </a:p>
        </p:txBody>
      </p:sp>
      <p:pic>
        <p:nvPicPr>
          <p:cNvPr id="367" name="Google Shape;367;p27" descr="&lt;svg xmlns=&quot;http://www.w3.org/2000/svg&quot; height=&quot;48px&quot; viewBox=&quot;0 -960 960 960&quot; width=&quot;48px&quot; fill=&quot;#5f6368&quot;&gt;&lt;path d=&quot;M480-481q-66 0-108-42t-42-108q0-66 42-108t108-42q66 0 108 42t42 108q0 66-42 108t-108 42ZM160-160v-94q0-38 19-65t49-41q67-30 128.5-45T480-420q62 0 123 15.5t127.92 44.69q31.3 14.13 50.19 40.97Q800-292 800-254v94H160Zm60-60h520v-34q0-16-9.5-30.5T707-306q-64-31-117-42.5T480-360q-57 0-111 11.5T252-306q-14 7-23 21.5t-9 30.5v34Zm260-321q39 0 64.5-25.5T570-631q0-39-25.5-64.5T480-721q-39 0-64.5 25.5T390-631q0 39 25.5 64.5T480-541Zm0-90Zm0 411Z&quot;/&gt;&lt;/svg&g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5354" y="3511863"/>
            <a:ext cx="618195" cy="618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7"/>
          <p:cNvSpPr txBox="1"/>
          <p:nvPr/>
        </p:nvSpPr>
        <p:spPr>
          <a:xfrm>
            <a:off x="5694087" y="4035245"/>
            <a:ext cx="114093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TEAM C as OBSERVER</a:t>
            </a:r>
            <a:endParaRPr/>
          </a:p>
        </p:txBody>
      </p:sp>
      <p:sp>
        <p:nvSpPr>
          <p:cNvPr id="369" name="Google Shape;369;p27"/>
          <p:cNvSpPr/>
          <p:nvPr/>
        </p:nvSpPr>
        <p:spPr>
          <a:xfrm>
            <a:off x="8342618" y="2929508"/>
            <a:ext cx="1633925" cy="1226998"/>
          </a:xfrm>
          <a:prstGeom prst="roundRect">
            <a:avLst>
              <a:gd name="adj" fmla="val 12790"/>
            </a:avLst>
          </a:prstGeom>
          <a:noFill/>
          <a:ln w="19050" cap="flat" cmpd="sng">
            <a:solidFill>
              <a:srgbClr val="B4AF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PROJECT C</a:t>
            </a:r>
            <a:endParaRPr/>
          </a:p>
        </p:txBody>
      </p:sp>
      <p:sp>
        <p:nvSpPr>
          <p:cNvPr id="370" name="Google Shape;370;p27"/>
          <p:cNvSpPr txBox="1"/>
          <p:nvPr/>
        </p:nvSpPr>
        <p:spPr>
          <a:xfrm>
            <a:off x="8744328" y="3861428"/>
            <a:ext cx="10801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TEAM C</a:t>
            </a: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7646826" y="2065412"/>
            <a:ext cx="977311" cy="1969832"/>
          </a:xfrm>
          <a:prstGeom prst="roundRect">
            <a:avLst>
              <a:gd name="adj" fmla="val 16667"/>
            </a:avLst>
          </a:prstGeom>
          <a:solidFill>
            <a:srgbClr val="8AD6D4"/>
          </a:solidFill>
          <a:ln w="190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27"/>
          <p:cNvCxnSpPr>
            <a:stCxn id="373" idx="2"/>
            <a:endCxn id="374" idx="1"/>
          </p:cNvCxnSpPr>
          <p:nvPr/>
        </p:nvCxnSpPr>
        <p:spPr>
          <a:xfrm rot="-5400000" flipH="1">
            <a:off x="7134238" y="2205828"/>
            <a:ext cx="412800" cy="746400"/>
          </a:xfrm>
          <a:prstGeom prst="curvedConnector2">
            <a:avLst/>
          </a:prstGeom>
          <a:noFill/>
          <a:ln w="47625" cap="flat" cmpd="sng">
            <a:solidFill>
              <a:srgbClr val="88B24B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5" name="Google Shape;375;p27"/>
          <p:cNvCxnSpPr>
            <a:stCxn id="376" idx="2"/>
            <a:endCxn id="377" idx="1"/>
          </p:cNvCxnSpPr>
          <p:nvPr/>
        </p:nvCxnSpPr>
        <p:spPr>
          <a:xfrm rot="-5400000">
            <a:off x="7087738" y="3457168"/>
            <a:ext cx="505800" cy="746400"/>
          </a:xfrm>
          <a:prstGeom prst="curvedConnector4">
            <a:avLst>
              <a:gd name="adj1" fmla="val -45196"/>
              <a:gd name="adj2" fmla="val 78946"/>
            </a:avLst>
          </a:prstGeom>
          <a:noFill/>
          <a:ln w="47625" cap="flat" cmpd="sng">
            <a:solidFill>
              <a:srgbClr val="ED918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8" name="Google Shape;378;p27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4052455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200"/>
              <a:buChar char="●"/>
            </a:pPr>
            <a:r>
              <a:rPr lang="en-US" sz="1200">
                <a:solidFill>
                  <a:schemeClr val="dk2"/>
                </a:solidFill>
              </a:rPr>
              <a:t>TeamC</a:t>
            </a:r>
            <a:r>
              <a:rPr lang="en-US" sz="1200"/>
              <a:t> requests to be OBSERVER of ProjectA and ProjectB</a:t>
            </a:r>
            <a:endParaRPr sz="1200"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1200"/>
              <a:buChar char="●"/>
            </a:pPr>
            <a:r>
              <a:rPr lang="en-US" sz="1200"/>
              <a:t>As observer, </a:t>
            </a:r>
            <a:r>
              <a:rPr lang="en-US" sz="1200">
                <a:solidFill>
                  <a:schemeClr val="dk2"/>
                </a:solidFill>
              </a:rPr>
              <a:t>TeamC</a:t>
            </a:r>
            <a:r>
              <a:rPr lang="en-US" sz="1200"/>
              <a:t> can: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Access to SBOM &amp; HBOM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Export relevant list of components and import the list of components in the newly created ProjectC</a:t>
            </a:r>
            <a:endParaRPr sz="1200"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Be notified when </a:t>
            </a:r>
            <a:r>
              <a:rPr lang="en-US" sz="1200">
                <a:solidFill>
                  <a:srgbClr val="88B24B"/>
                </a:solidFill>
              </a:rPr>
              <a:t>TeamA</a:t>
            </a:r>
            <a:r>
              <a:rPr lang="en-US" sz="1200"/>
              <a:t> &amp; </a:t>
            </a:r>
            <a:r>
              <a:rPr lang="en-US" sz="1200">
                <a:solidFill>
                  <a:srgbClr val="ED9181"/>
                </a:solidFill>
              </a:rPr>
              <a:t>TeamB</a:t>
            </a:r>
            <a:r>
              <a:rPr lang="en-US" sz="1200"/>
              <a:t> take actions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200"/>
              <a:buChar char="o"/>
            </a:pPr>
            <a:r>
              <a:rPr lang="en-US" sz="1200"/>
              <a:t>Check the vulnerabilities evaluation done by </a:t>
            </a:r>
            <a:r>
              <a:rPr lang="en-US" sz="1200">
                <a:solidFill>
                  <a:srgbClr val="88B24B"/>
                </a:solidFill>
              </a:rPr>
              <a:t>TeamA</a:t>
            </a:r>
            <a:r>
              <a:rPr lang="en-US" sz="1200"/>
              <a:t> &amp; </a:t>
            </a:r>
            <a:r>
              <a:rPr lang="en-US" sz="1200">
                <a:solidFill>
                  <a:srgbClr val="ED9181"/>
                </a:solidFill>
              </a:rPr>
              <a:t>TeamB</a:t>
            </a:r>
            <a:r>
              <a:rPr lang="en-US" sz="1200"/>
              <a:t> in their projects, and adopt them in ProjectC</a:t>
            </a:r>
            <a:endParaRPr sz="1200"/>
          </a:p>
          <a:p>
            <a:pPr marL="269875" lvl="0" indent="-1555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1800"/>
              <a:buNone/>
            </a:pPr>
            <a:endParaRPr sz="1800"/>
          </a:p>
          <a:p>
            <a:pPr marL="285750" lvl="1" indent="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000"/>
              <a:buNone/>
            </a:pPr>
            <a:endParaRPr sz="1000" i="1"/>
          </a:p>
          <a:p>
            <a:pPr marL="533400" lvl="1" indent="-1841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000"/>
              <a:buNone/>
            </a:pPr>
            <a:endParaRPr sz="1000"/>
          </a:p>
        </p:txBody>
      </p:sp>
      <p:sp>
        <p:nvSpPr>
          <p:cNvPr id="374" name="Google Shape;374;p27"/>
          <p:cNvSpPr/>
          <p:nvPr/>
        </p:nvSpPr>
        <p:spPr>
          <a:xfrm>
            <a:off x="7713905" y="2425452"/>
            <a:ext cx="864096" cy="72007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SBOM &amp; HBOM</a:t>
            </a: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7713905" y="3217540"/>
            <a:ext cx="864096" cy="720079"/>
          </a:xfrm>
          <a:prstGeom prst="roundRect">
            <a:avLst>
              <a:gd name="adj" fmla="val 16667"/>
            </a:avLst>
          </a:prstGeom>
          <a:solidFill>
            <a:srgbClr val="ED9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SBOM &amp; HBOM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7854268" y="1717685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VULNs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  <p:pic>
        <p:nvPicPr>
          <p:cNvPr id="380" name="Google Shape;380;p27" descr="&lt;svg xmlns=&quot;http://www.w3.org/2000/svg&quot; height=&quot;48px&quot; viewBox=&quot;0 -960 960 960&quot; width=&quot;48px&quot; fill=&quot;#5f6368&quot;&gt;&lt;path d=&quot;M0-240v-53q0-38.57 41.5-62.78Q83-380 150.38-380q12.16 0 23.39.5t22.23 2.15q-8 17.35-12 35.17-4 17.81-4 37.18v65H0Zm240 0v-65q0-32 17.5-58.5T307-410q32-20 76.5-30t96.5-10q53 0 97.5 10t76.5 30q32 20 49 46.5t17 58.5v65H240Zm540 0v-65q0-19.86-3.5-37.43T765-377.27q11-1.73 22.17-2.23 11.17-.5 22.83-.5 67.5 0 108.75 23.77T960-293v53H780Zm-480-60h360v-6q0-37-50.5-60.5T480-390q-79 0-129.5 23.5T300-305v5ZM149.57-410q-28.57 0-49.07-20.56Q80-451.13 80-480q0-29 20.56-49.5Q121.13-550 150-550q29 0 49.5 20.5t20.5 49.93q0 28.57-20.5 49.07T149.57-410Zm660 0q-28.57 0-49.07-20.56Q740-451.13 740-480q0-29 20.56-49.5Q781.13-550 810-550q29 0 49.5 20.5t20.5 49.93q0 28.57-20.5 49.07T809.57-410ZM480-480q-50 0-85-35t-35-85q0-51 35-85.5t85-34.5q51 0 85.5 34.5T600-600q0 50-34.5 85T480-480Zm.35-60Q506-540 523-557.35t17-43Q540-626 522.85-643t-42.5-17q-25.35 0-42.85 17.15t-17.5 42.5q0 25.35 17.35 42.85t43 17.5ZM480-300Zm0-300Z&quot;/&gt;&lt;/svg&gt;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7147" y="1561356"/>
            <a:ext cx="1088503" cy="1088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7" descr="&lt;svg xmlns=&quot;http://www.w3.org/2000/svg&quot; height=&quot;48px&quot; viewBox=&quot;0 -960 960 960&quot; width=&quot;48px&quot; fill=&quot;#5f6368&quot;&gt;&lt;path d=&quot;M0-240v-53q0-38.57 41.5-62.78Q83-380 150.38-380q12.16 0 23.39.5t22.23 2.15q-8 17.35-12 35.17-4 17.81-4 37.18v65H0Zm240 0v-65q0-32 17.5-58.5T307-410q32-20 76.5-30t96.5-10q53 0 97.5 10t76.5 30q32 20 49 46.5t17 58.5v65H240Zm540 0v-65q0-19.86-3.5-37.43T765-377.27q11-1.73 22.17-2.23 11.17-.5 22.83-.5 67.5 0 108.75 23.77T960-293v53H780Zm-480-60h360v-6q0-37-50.5-60.5T480-390q-79 0-129.5 23.5T300-305v5ZM149.57-410q-28.57 0-49.07-20.56Q80-451.13 80-480q0-29 20.56-49.5Q121.13-550 150-550q29 0 49.5 20.5t20.5 49.93q0 28.57-20.5 49.07T149.57-410Zm660 0q-28.57 0-49.07-20.56Q740-451.13 740-480q0-29 20.56-49.5Q781.13-550 810-550q29 0 49.5 20.5t20.5 49.93q0 28.57-20.5 49.07T809.57-410ZM480-480q-50 0-85-35t-35-85q0-51 35-85.5t85-34.5q51 0 85.5 34.5T600-600q0 50-34.5 85T480-480Zm.35-60Q506-540 523-557.35t17-43Q540-626 522.85-643t-42.5-17q-25.35 0-42.85 17.15t-17.5 42.5q0 25.35 17.35 42.85t43 17.5ZM480-300Zm0-300Z&quot;/&gt;&lt;/svg&gt;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71213" y="3354453"/>
            <a:ext cx="1088503" cy="108850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7"/>
          <p:cNvSpPr txBox="1"/>
          <p:nvPr/>
        </p:nvSpPr>
        <p:spPr>
          <a:xfrm>
            <a:off x="4819156" y="2388249"/>
            <a:ext cx="1080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24B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88B24B"/>
                </a:solidFill>
                <a:latin typeface="Arial"/>
                <a:ea typeface="Arial"/>
                <a:cs typeface="Arial"/>
                <a:sym typeface="Arial"/>
              </a:rPr>
              <a:t>TEAM A</a:t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4580819" y="1479363"/>
            <a:ext cx="2254199" cy="119869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B4AF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PROJECT A</a:t>
            </a: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4575944" y="3258607"/>
            <a:ext cx="2259074" cy="119279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B4AF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PROJECT B</a:t>
            </a:r>
            <a:endParaRPr/>
          </a:p>
        </p:txBody>
      </p:sp>
      <p:sp>
        <p:nvSpPr>
          <p:cNvPr id="373" name="Google Shape;373;p27"/>
          <p:cNvSpPr/>
          <p:nvPr/>
        </p:nvSpPr>
        <p:spPr>
          <a:xfrm>
            <a:off x="6535390" y="1652549"/>
            <a:ext cx="864096" cy="72007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SBOM &amp; HBOM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4822440" y="4181346"/>
            <a:ext cx="1080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918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D9181"/>
                </a:solidFill>
                <a:latin typeface="Arial"/>
                <a:ea typeface="Arial"/>
                <a:cs typeface="Arial"/>
                <a:sym typeface="Arial"/>
              </a:rPr>
              <a:t>TEAM B</a:t>
            </a: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6535390" y="3363189"/>
            <a:ext cx="864096" cy="720079"/>
          </a:xfrm>
          <a:prstGeom prst="roundRect">
            <a:avLst>
              <a:gd name="adj" fmla="val 16667"/>
            </a:avLst>
          </a:prstGeom>
          <a:solidFill>
            <a:srgbClr val="ED9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SBOM &amp; HBOM</a:t>
            </a: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6629462" y="1156063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VULNs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  <p:sp>
        <p:nvSpPr>
          <p:cNvPr id="387" name="Google Shape;387;p27"/>
          <p:cNvSpPr/>
          <p:nvPr/>
        </p:nvSpPr>
        <p:spPr>
          <a:xfrm>
            <a:off x="6619356" y="2857500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ED91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918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D9181"/>
                </a:solidFill>
                <a:latin typeface="Arial"/>
                <a:ea typeface="Arial"/>
                <a:cs typeface="Arial"/>
                <a:sym typeface="Arial"/>
              </a:rPr>
              <a:t>VULNs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918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D9181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ARIANNA Project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Every time a new device need to be monitored, a new Project must be created in ARIANNA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Only selected Users can access to a Project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ts val="2400"/>
              <a:buChar char="●"/>
            </a:pPr>
            <a:r>
              <a:rPr lang="en-US"/>
              <a:t>ARIANNA Users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A User can be added to multiple projects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Same User can have different roles in each project: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>
                <a:solidFill>
                  <a:schemeClr val="dk2"/>
                </a:solidFill>
              </a:rPr>
              <a:t>OWNER</a:t>
            </a:r>
            <a:r>
              <a:rPr lang="en-US"/>
              <a:t>: configure project policies, add/remove users, check vulnerabilities and take actions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>
                <a:solidFill>
                  <a:schemeClr val="dk2"/>
                </a:solidFill>
              </a:rPr>
              <a:t>MEMBER</a:t>
            </a:r>
            <a:r>
              <a:rPr lang="en-US"/>
              <a:t>: check identified vulnerabilities and take actions 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400"/>
              <a:buChar char="o"/>
            </a:pPr>
            <a:r>
              <a:rPr lang="en-US">
                <a:solidFill>
                  <a:schemeClr val="dk2"/>
                </a:solidFill>
              </a:rPr>
              <a:t>OBSERVER</a:t>
            </a:r>
            <a:r>
              <a:rPr lang="en-US"/>
              <a:t>: check identified vulnerabilities and download reports, SBOM &amp; HBOM</a:t>
            </a:r>
            <a:endParaRPr/>
          </a:p>
          <a:p>
            <a:pPr marL="533400" lvl="1" indent="-1333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93" name="Google Shape;393;p28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Projects &amp; User Roles</a:t>
            </a:r>
            <a:endParaRPr/>
          </a:p>
        </p:txBody>
      </p:sp>
      <p:sp>
        <p:nvSpPr>
          <p:cNvPr id="394" name="Google Shape;394;p28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 txBox="1"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</a:pPr>
            <a:br>
              <a:rPr lang="en-US"/>
            </a:br>
            <a:r>
              <a:rPr lang="en-US" sz="2800"/>
              <a:t>6. Demo</a:t>
            </a:r>
            <a:endParaRPr/>
          </a:p>
        </p:txBody>
      </p:sp>
      <p:sp>
        <p:nvSpPr>
          <p:cNvPr id="400" name="Google Shape;400;p29"/>
          <p:cNvSpPr txBox="1"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 txBox="1">
            <a:spLocks noGrp="1"/>
          </p:cNvSpPr>
          <p:nvPr>
            <p:ph type="body" idx="1"/>
          </p:nvPr>
        </p:nvSpPr>
        <p:spPr>
          <a:xfrm>
            <a:off x="465654" y="1123284"/>
            <a:ext cx="655856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rmAutofit fontScale="85000" lnSpcReduction="2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 sz="1400"/>
              <a:t>Connected Device with 3 Processing Units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100"/>
              <a:t>PU1: iMX93 MPU with YOCTO + Javascript application + Python application 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100"/>
              <a:t>PU2: STM32F4 MCU with bootloader firmware + application firmware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100"/>
              <a:t>PU3: ESP32 MCU with application firmware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 sz="1400"/>
              <a:t>Two device model provided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100"/>
              <a:t>1.0 - Initial model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100"/>
              <a:t>2.0 - Updated model (new ESP32 firmware)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 sz="1400"/>
              <a:t>Prioritization based on exploitability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ct val="100000"/>
              <a:buChar char="●"/>
            </a:pPr>
            <a:r>
              <a:rPr lang="en-US" sz="1400"/>
              <a:t>SUGGESTED ACTIONS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200"/>
              <a:t>Check the report of device model 1.0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200"/>
              <a:t>Check the report of device model 2.0 and see the differences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800"/>
              <a:t>New vulnerabilities identified</a:t>
            </a:r>
            <a:endParaRPr/>
          </a:p>
          <a:p>
            <a:pPr marL="804863" lvl="2" indent="-23336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800"/>
              <a:t>Some old vulnerability automatically closed due to ESP32 firmware update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200"/>
              <a:t>Check the High Priority vulnerabilities of device model 2.0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200"/>
              <a:t>Change the configuration of the Prioritization Engine and evaluate the effects in the report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200"/>
              <a:t>Change vulnerabilities status and evaluate the effects in the report</a:t>
            </a:r>
            <a:endParaRPr/>
          </a:p>
          <a:p>
            <a:pPr marL="533400" lvl="1" indent="-24765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Char char="o"/>
            </a:pPr>
            <a:r>
              <a:rPr lang="en-US" sz="1200"/>
              <a:t>Export the report</a:t>
            </a:r>
            <a:endParaRPr/>
          </a:p>
          <a:p>
            <a:pPr marL="533400" lvl="1" indent="-19367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None/>
            </a:pPr>
            <a:endParaRPr sz="1000"/>
          </a:p>
          <a:p>
            <a:pPr marL="269875" lvl="0" indent="-18351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BAB7"/>
              </a:buClr>
              <a:buSzPct val="1000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533400" lvl="1" indent="-15049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ct val="100000"/>
              <a:buNone/>
            </a:pPr>
            <a:endParaRPr/>
          </a:p>
        </p:txBody>
      </p:sp>
      <p:sp>
        <p:nvSpPr>
          <p:cNvPr id="406" name="Google Shape;406;p30"/>
          <p:cNvSpPr txBox="1"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</a:pPr>
            <a:r>
              <a:rPr lang="en-US"/>
              <a:t>Demo description</a:t>
            </a:r>
            <a:endParaRPr/>
          </a:p>
        </p:txBody>
      </p:sp>
      <p:sp>
        <p:nvSpPr>
          <p:cNvPr id="407" name="Google Shape;407;p30"/>
          <p:cNvSpPr txBox="1"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AB7"/>
              </a:buClr>
              <a:buSzPts val="1400"/>
              <a:buFont typeface="Montserrat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408" name="Google Shape;40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0"/>
          <p:cNvSpPr/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PU3|ESP32</a:t>
            </a:r>
            <a:endParaRPr/>
          </a:p>
        </p:txBody>
      </p:sp>
      <p:cxnSp>
        <p:nvCxnSpPr>
          <p:cNvPr id="410" name="Google Shape;410;p30"/>
          <p:cNvCxnSpPr>
            <a:stCxn id="411" idx="2"/>
          </p:cNvCxnSpPr>
          <p:nvPr/>
        </p:nvCxnSpPr>
        <p:spPr>
          <a:xfrm>
            <a:off x="8400929" y="2086996"/>
            <a:ext cx="0" cy="1854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412" name="Google Shape;412;p30"/>
          <p:cNvCxnSpPr>
            <a:stCxn id="413" idx="2"/>
          </p:cNvCxnSpPr>
          <p:nvPr/>
        </p:nvCxnSpPr>
        <p:spPr>
          <a:xfrm>
            <a:off x="8971666" y="3456339"/>
            <a:ext cx="0" cy="376800"/>
          </a:xfrm>
          <a:prstGeom prst="straightConnector1">
            <a:avLst/>
          </a:prstGeom>
          <a:noFill/>
          <a:ln w="19050" cap="flat" cmpd="sng">
            <a:solidFill>
              <a:srgbClr val="FD9600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414" name="Google Shape;414;p30"/>
          <p:cNvCxnSpPr>
            <a:stCxn id="409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411" name="Google Shape;411;p30"/>
          <p:cNvSpPr/>
          <p:nvPr/>
        </p:nvSpPr>
        <p:spPr>
          <a:xfrm>
            <a:off x="7744296" y="1738482"/>
            <a:ext cx="1313266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PU1 | i.MX 93</a:t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8327298" y="3107825"/>
            <a:ext cx="128873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ap="flat" cmpd="sng">
            <a:solidFill>
              <a:srgbClr val="FD9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PU2 | STM32F4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1"/>
          <p:cNvSpPr txBox="1">
            <a:spLocks noGrp="1"/>
          </p:cNvSpPr>
          <p:nvPr>
            <p:ph type="ctrTitle"/>
          </p:nvPr>
        </p:nvSpPr>
        <p:spPr>
          <a:xfrm>
            <a:off x="111448" y="2641476"/>
            <a:ext cx="993140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</a:pPr>
            <a:r>
              <a:rPr lang="en-US"/>
              <a:t>Thank You!</a:t>
            </a:r>
            <a:endParaRPr/>
          </a:p>
        </p:txBody>
      </p:sp>
      <p:pic>
        <p:nvPicPr>
          <p:cNvPr id="420" name="Google Shape;42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456" y="4873724"/>
            <a:ext cx="2133144" cy="6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2189</Words>
  <Application>Microsoft Macintosh PowerPoint</Application>
  <PresentationFormat>Aangepast</PresentationFormat>
  <Paragraphs>365</Paragraphs>
  <Slides>34</Slides>
  <Notes>34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34</vt:i4>
      </vt:variant>
    </vt:vector>
  </HeadingPairs>
  <TitlesOfParts>
    <vt:vector size="40" baseType="lpstr">
      <vt:lpstr>Arial</vt:lpstr>
      <vt:lpstr>Montserrat</vt:lpstr>
      <vt:lpstr>Helvetica Neue</vt:lpstr>
      <vt:lpstr>Calibri</vt:lpstr>
      <vt:lpstr>Courier New</vt:lpstr>
      <vt:lpstr>Tema4</vt:lpstr>
      <vt:lpstr>Get grip on product security with ARIANNA</vt:lpstr>
      <vt:lpstr>Why Manufacturers Struggle with CRA</vt:lpstr>
      <vt:lpstr>Why ARIANNA exists</vt:lpstr>
      <vt:lpstr>From 2,775 Vulnerabilities to 10 Actions</vt:lpstr>
      <vt:lpstr>ARIANNA</vt:lpstr>
      <vt:lpstr>1. Device Model creation</vt:lpstr>
      <vt:lpstr>Smart Devices are not only Software</vt:lpstr>
      <vt:lpstr>Device Model: HBOM &amp; SBOM</vt:lpstr>
      <vt:lpstr>ARIANNA SCA Tools</vt:lpstr>
      <vt:lpstr>Device Model creation: HBOM</vt:lpstr>
      <vt:lpstr>Device Model creation: SBOM</vt:lpstr>
      <vt:lpstr>Device Model lifecycle &amp; VMP</vt:lpstr>
      <vt:lpstr>2. Continuous Vulnerability Monitoring</vt:lpstr>
      <vt:lpstr>Continuous Vulnerability Monitoring</vt:lpstr>
      <vt:lpstr>3. Vulnerability Management</vt:lpstr>
      <vt:lpstr>Vulnerability Management Process</vt:lpstr>
      <vt:lpstr>Vulnerability Management with ARIANNA</vt:lpstr>
      <vt:lpstr>Severity alone is no longer enough</vt:lpstr>
      <vt:lpstr>Configurable Pre-Triage engine</vt:lpstr>
      <vt:lpstr>Pre-Triage engine configuration</vt:lpstr>
      <vt:lpstr>Vulnerability Management Process</vt:lpstr>
      <vt:lpstr>YOCTO Connected Device</vt:lpstr>
      <vt:lpstr>YOCTO Connected Device</vt:lpstr>
      <vt:lpstr>ARIANNA KEV catalogue</vt:lpstr>
      <vt:lpstr>4. Reporting</vt:lpstr>
      <vt:lpstr>Reports for customers &amp; regulatory bodies</vt:lpstr>
      <vt:lpstr> 5. Collaboration among teams</vt:lpstr>
      <vt:lpstr>Projects &amp; User Roles</vt:lpstr>
      <vt:lpstr>Collaboration among teams in ARIANNA</vt:lpstr>
      <vt:lpstr>Collaboration among teams in ARIANNA</vt:lpstr>
      <vt:lpstr>Projects &amp; User Roles</vt:lpstr>
      <vt:lpstr> 6. Demo</vt:lpstr>
      <vt:lpstr>Demo description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Jan Jager</cp:lastModifiedBy>
  <cp:revision>3</cp:revision>
  <dcterms:modified xsi:type="dcterms:W3CDTF">2026-06-23T13:00:23Z</dcterms:modified>
</cp:coreProperties>
</file>